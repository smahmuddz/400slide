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1"/>
  </p:notesMasterIdLst>
  <p:sldIdLst>
    <p:sldId id="296" r:id="rId2"/>
    <p:sldId id="288" r:id="rId3"/>
    <p:sldId id="259" r:id="rId4"/>
    <p:sldId id="275" r:id="rId5"/>
    <p:sldId id="298" r:id="rId6"/>
    <p:sldId id="262" r:id="rId7"/>
    <p:sldId id="297" r:id="rId8"/>
    <p:sldId id="261" r:id="rId9"/>
    <p:sldId id="263" r:id="rId10"/>
    <p:sldId id="264" r:id="rId11"/>
    <p:sldId id="270" r:id="rId12"/>
    <p:sldId id="272" r:id="rId13"/>
    <p:sldId id="301" r:id="rId14"/>
    <p:sldId id="302" r:id="rId15"/>
    <p:sldId id="316" r:id="rId16"/>
    <p:sldId id="273" r:id="rId17"/>
    <p:sldId id="317" r:id="rId18"/>
    <p:sldId id="307" r:id="rId19"/>
    <p:sldId id="308" r:id="rId20"/>
    <p:sldId id="309" r:id="rId21"/>
    <p:sldId id="310" r:id="rId22"/>
    <p:sldId id="311" r:id="rId23"/>
    <p:sldId id="312" r:id="rId24"/>
    <p:sldId id="313" r:id="rId25"/>
    <p:sldId id="314" r:id="rId26"/>
    <p:sldId id="305" r:id="rId27"/>
    <p:sldId id="306" r:id="rId28"/>
    <p:sldId id="279" r:id="rId29"/>
    <p:sldId id="278" r:id="rId30"/>
  </p:sldIdLst>
  <p:sldSz cx="9144000" cy="5143500" type="screen16x9"/>
  <p:notesSz cx="6858000" cy="9144000"/>
  <p:embeddedFontLst>
    <p:embeddedFont>
      <p:font typeface="Lexend Deca" charset="-78"/>
      <p:regular r:id="rId32"/>
    </p:embeddedFont>
    <p:embeddedFont>
      <p:font typeface="Calibri"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DA7ECE"/>
    <a:srgbClr val="E474D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61080B-BCD3-46B7-A0A2-29CFA014FBE4}" v="1" dt="2023-07-29T10:33:22.840"/>
    <p1510:client id="{A29509EF-58F1-4692-A4D8-BF2214EA1362}" v="556" dt="2023-07-29T10:32:40.068"/>
    <p1510:client id="{EE132D12-9CCF-4D48-9F80-E7AD15FBD600}" v="103" dt="2023-07-29T10:48:46.230"/>
  </p1510:revLst>
</p1510:revInfo>
</file>

<file path=ppt/tableStyles.xml><?xml version="1.0" encoding="utf-8"?>
<a:tblStyleLst xmlns:a="http://schemas.openxmlformats.org/drawingml/2006/main" def="{1A138BE6-E374-4A1A-BE6D-9E52B14417BE}">
  <a:tblStyle styleId="{1A138BE6-E374-4A1A-BE6D-9E52B14417B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0286F9A-8295-4760-8310-7838FB866F3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294" autoAdjust="0"/>
    <p:restoredTop sz="94660"/>
  </p:normalViewPr>
  <p:slideViewPr>
    <p:cSldViewPr snapToGrid="0">
      <p:cViewPr>
        <p:scale>
          <a:sx n="75" d="100"/>
          <a:sy n="75" d="100"/>
        </p:scale>
        <p:origin x="-1680" y="-638"/>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56"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 xmlns:p14="http://schemas.microsoft.com/office/powerpoint/2010/main" val="470506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bc98855ff3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bc98855ff3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826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5ed75ccf_0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5ed75ccf_0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 xmlns:p14="http://schemas.microsoft.com/office/powerpoint/2010/main" val="1201324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5ed75ccf_0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5ed75ccf_0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Quote">
  <p:cSld name="TITLE_1_1">
    <p:spTree>
      <p:nvGrpSpPr>
        <p:cNvPr id="1" name="Shape 16"/>
        <p:cNvGrpSpPr/>
        <p:nvPr/>
      </p:nvGrpSpPr>
      <p:grpSpPr>
        <a:xfrm>
          <a:off x="0" y="0"/>
          <a:ext cx="0" cy="0"/>
          <a:chOff x="0" y="0"/>
          <a:chExt cx="0" cy="0"/>
        </a:xfrm>
      </p:grpSpPr>
      <p:pic>
        <p:nvPicPr>
          <p:cNvPr id="17" name="Google Shape;17;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4"/>
          <p:cNvSpPr/>
          <p:nvPr/>
        </p:nvSpPr>
        <p:spPr>
          <a:xfrm>
            <a:off x="42525" y="42525"/>
            <a:ext cx="2000100" cy="2000100"/>
          </a:xfrm>
          <a:prstGeom prst="ellipse">
            <a:avLst/>
          </a:prstGeom>
          <a:gradFill>
            <a:gsLst>
              <a:gs pos="0">
                <a:srgbClr val="00FFFF">
                  <a:alpha val="54117"/>
                </a:srgbClr>
              </a:gs>
              <a:gs pos="73000">
                <a:srgbClr val="00FFFF">
                  <a:alpha val="0"/>
                </a:srgbClr>
              </a:gs>
              <a:gs pos="100000">
                <a:srgbClr val="00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body" idx="1"/>
          </p:nvPr>
        </p:nvSpPr>
        <p:spPr>
          <a:xfrm>
            <a:off x="1343850" y="866400"/>
            <a:ext cx="4185600" cy="3693600"/>
          </a:xfrm>
          <a:prstGeom prst="rect">
            <a:avLst/>
          </a:prstGeom>
        </p:spPr>
        <p:txBody>
          <a:bodyPr spcFirstLastPara="1" wrap="square" lIns="0" tIns="0" rIns="0" bIns="0" anchor="t" anchorCtr="0">
            <a:noAutofit/>
          </a:bodyPr>
          <a:lstStyle>
            <a:lvl1pPr marL="457200" lvl="0" indent="-419100" rtl="0">
              <a:spcBef>
                <a:spcPts val="600"/>
              </a:spcBef>
              <a:spcAft>
                <a:spcPts val="0"/>
              </a:spcAft>
              <a:buSzPts val="3000"/>
              <a:buFont typeface="Lexend Deca"/>
              <a:buChar char="⬡"/>
              <a:defRPr sz="3000">
                <a:latin typeface="Lexend Deca"/>
                <a:ea typeface="Lexend Deca"/>
                <a:cs typeface="Lexend Deca"/>
                <a:sym typeface="Lexend Deca"/>
              </a:defRPr>
            </a:lvl1pPr>
            <a:lvl2pPr marL="914400" lvl="1" indent="-419100" rtl="0">
              <a:spcBef>
                <a:spcPts val="0"/>
              </a:spcBef>
              <a:spcAft>
                <a:spcPts val="0"/>
              </a:spcAft>
              <a:buSzPts val="3000"/>
              <a:buFont typeface="Lexend Deca"/>
              <a:buChar char="∙"/>
              <a:defRPr sz="3000">
                <a:latin typeface="Lexend Deca"/>
                <a:ea typeface="Lexend Deca"/>
                <a:cs typeface="Lexend Deca"/>
                <a:sym typeface="Lexend Deca"/>
              </a:defRPr>
            </a:lvl2pPr>
            <a:lvl3pPr marL="1371600" lvl="2" indent="-419100" rtl="0">
              <a:spcBef>
                <a:spcPts val="0"/>
              </a:spcBef>
              <a:spcAft>
                <a:spcPts val="0"/>
              </a:spcAft>
              <a:buSzPts val="3000"/>
              <a:buFont typeface="Lexend Deca"/>
              <a:buChar char="∙"/>
              <a:defRPr sz="3000">
                <a:latin typeface="Lexend Deca"/>
                <a:ea typeface="Lexend Deca"/>
                <a:cs typeface="Lexend Deca"/>
                <a:sym typeface="Lexend Deca"/>
              </a:defRPr>
            </a:lvl3pPr>
            <a:lvl4pPr marL="1828800" lvl="3" indent="-419100" rtl="0">
              <a:spcBef>
                <a:spcPts val="0"/>
              </a:spcBef>
              <a:spcAft>
                <a:spcPts val="0"/>
              </a:spcAft>
              <a:buSzPts val="3000"/>
              <a:buFont typeface="Lexend Deca"/>
              <a:buChar char="●"/>
              <a:defRPr sz="3000">
                <a:latin typeface="Lexend Deca"/>
                <a:ea typeface="Lexend Deca"/>
                <a:cs typeface="Lexend Deca"/>
                <a:sym typeface="Lexend Deca"/>
              </a:defRPr>
            </a:lvl4pPr>
            <a:lvl5pPr marL="2286000" lvl="4" indent="-419100" rtl="0">
              <a:spcBef>
                <a:spcPts val="0"/>
              </a:spcBef>
              <a:spcAft>
                <a:spcPts val="0"/>
              </a:spcAft>
              <a:buSzPts val="3000"/>
              <a:buFont typeface="Lexend Deca"/>
              <a:buChar char="○"/>
              <a:defRPr sz="3000">
                <a:latin typeface="Lexend Deca"/>
                <a:ea typeface="Lexend Deca"/>
                <a:cs typeface="Lexend Deca"/>
                <a:sym typeface="Lexend Deca"/>
              </a:defRPr>
            </a:lvl5pPr>
            <a:lvl6pPr marL="2743200" lvl="5" indent="-419100" rtl="0">
              <a:spcBef>
                <a:spcPts val="0"/>
              </a:spcBef>
              <a:spcAft>
                <a:spcPts val="0"/>
              </a:spcAft>
              <a:buSzPts val="3000"/>
              <a:buFont typeface="Lexend Deca"/>
              <a:buChar char="■"/>
              <a:defRPr sz="3000">
                <a:latin typeface="Lexend Deca"/>
                <a:ea typeface="Lexend Deca"/>
                <a:cs typeface="Lexend Deca"/>
                <a:sym typeface="Lexend Deca"/>
              </a:defRPr>
            </a:lvl6pPr>
            <a:lvl7pPr marL="3200400" lvl="6" indent="-419100" rtl="0">
              <a:spcBef>
                <a:spcPts val="0"/>
              </a:spcBef>
              <a:spcAft>
                <a:spcPts val="0"/>
              </a:spcAft>
              <a:buSzPts val="3000"/>
              <a:buFont typeface="Lexend Deca"/>
              <a:buChar char="●"/>
              <a:defRPr sz="3000">
                <a:latin typeface="Lexend Deca"/>
                <a:ea typeface="Lexend Deca"/>
                <a:cs typeface="Lexend Deca"/>
                <a:sym typeface="Lexend Deca"/>
              </a:defRPr>
            </a:lvl7pPr>
            <a:lvl8pPr marL="3657600" lvl="7" indent="-419100" rtl="0">
              <a:spcBef>
                <a:spcPts val="0"/>
              </a:spcBef>
              <a:spcAft>
                <a:spcPts val="0"/>
              </a:spcAft>
              <a:buSzPts val="3000"/>
              <a:buFont typeface="Lexend Deca"/>
              <a:buChar char="○"/>
              <a:defRPr sz="3000">
                <a:latin typeface="Lexend Deca"/>
                <a:ea typeface="Lexend Deca"/>
                <a:cs typeface="Lexend Deca"/>
                <a:sym typeface="Lexend Deca"/>
              </a:defRPr>
            </a:lvl8pPr>
            <a:lvl9pPr marL="4114800" lvl="8" indent="-419100">
              <a:spcBef>
                <a:spcPts val="0"/>
              </a:spcBef>
              <a:spcAft>
                <a:spcPts val="0"/>
              </a:spcAft>
              <a:buSzPts val="3000"/>
              <a:buFont typeface="Lexend Deca"/>
              <a:buChar char="■"/>
              <a:defRPr sz="3000">
                <a:latin typeface="Lexend Deca"/>
                <a:ea typeface="Lexend Deca"/>
                <a:cs typeface="Lexend Deca"/>
                <a:sym typeface="Lexend Deca"/>
              </a:defRPr>
            </a:lvl9pPr>
          </a:lstStyle>
          <a:p>
            <a:endParaRPr/>
          </a:p>
        </p:txBody>
      </p:sp>
      <p:sp>
        <p:nvSpPr>
          <p:cNvPr id="20" name="Google Shape;20;p4"/>
          <p:cNvSpPr txBox="1"/>
          <p:nvPr/>
        </p:nvSpPr>
        <p:spPr>
          <a:xfrm>
            <a:off x="826414" y="656117"/>
            <a:ext cx="613800" cy="653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7200">
                <a:solidFill>
                  <a:schemeClr val="lt1"/>
                </a:solidFill>
                <a:latin typeface="Muli"/>
                <a:ea typeface="Muli"/>
                <a:cs typeface="Muli"/>
                <a:sym typeface="Muli"/>
              </a:rPr>
              <a:t>“</a:t>
            </a:r>
            <a:endParaRPr sz="7200">
              <a:solidFill>
                <a:schemeClr val="lt1"/>
              </a:solidFill>
              <a:latin typeface="Muli"/>
              <a:ea typeface="Muli"/>
              <a:cs typeface="Muli"/>
              <a:sym typeface="Muli"/>
            </a:endParaRPr>
          </a:p>
        </p:txBody>
      </p:sp>
      <p:sp>
        <p:nvSpPr>
          <p:cNvPr id="21" name="Google Shape;21;p4"/>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 1 column" type="tx">
  <p:cSld name="TITLE_AND_BODY">
    <p:spTree>
      <p:nvGrpSpPr>
        <p:cNvPr id="1" name="Shape 22"/>
        <p:cNvGrpSpPr/>
        <p:nvPr/>
      </p:nvGrpSpPr>
      <p:grpSpPr>
        <a:xfrm>
          <a:off x="0" y="0"/>
          <a:ext cx="0" cy="0"/>
          <a:chOff x="0" y="0"/>
          <a:chExt cx="0" cy="0"/>
        </a:xfrm>
      </p:grpSpPr>
      <p:pic>
        <p:nvPicPr>
          <p:cNvPr id="23" name="Google Shape;23;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 name="Google Shape;24;p5"/>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5" name="Google Shape;25;p5"/>
          <p:cNvSpPr txBox="1">
            <a:spLocks noGrp="1"/>
          </p:cNvSpPr>
          <p:nvPr>
            <p:ph type="body" idx="1"/>
          </p:nvPr>
        </p:nvSpPr>
        <p:spPr>
          <a:xfrm>
            <a:off x="580550" y="1352550"/>
            <a:ext cx="6014400" cy="3161700"/>
          </a:xfrm>
          <a:prstGeom prst="rect">
            <a:avLst/>
          </a:prstGeom>
        </p:spPr>
        <p:txBody>
          <a:bodyPr spcFirstLastPara="1" wrap="square" lIns="0" tIns="0" rIns="0" bIns="0" anchor="t" anchorCtr="0">
            <a:noAutofit/>
          </a:bodyPr>
          <a:lstStyle>
            <a:lvl1pPr marL="457200" lvl="0" indent="-381000">
              <a:spcBef>
                <a:spcPts val="600"/>
              </a:spcBef>
              <a:spcAft>
                <a:spcPts val="0"/>
              </a:spcAft>
              <a:buSzPts val="24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81000">
              <a:spcBef>
                <a:spcPts val="0"/>
              </a:spcBef>
              <a:spcAft>
                <a:spcPts val="0"/>
              </a:spcAft>
              <a:buSzPts val="2400"/>
              <a:buChar char="●"/>
              <a:defRPr/>
            </a:lvl4pPr>
            <a:lvl5pPr marL="2286000" lvl="4" indent="-381000">
              <a:spcBef>
                <a:spcPts val="0"/>
              </a:spcBef>
              <a:spcAft>
                <a:spcPts val="0"/>
              </a:spcAft>
              <a:buSzPts val="2400"/>
              <a:buChar char="○"/>
              <a:defRPr/>
            </a:lvl5pPr>
            <a:lvl6pPr marL="2743200" lvl="5" indent="-381000">
              <a:spcBef>
                <a:spcPts val="0"/>
              </a:spcBef>
              <a:spcAft>
                <a:spcPts val="0"/>
              </a:spcAft>
              <a:buSzPts val="2400"/>
              <a:buChar char="■"/>
              <a:defRPr/>
            </a:lvl6pPr>
            <a:lvl7pPr marL="3200400" lvl="6" indent="-381000">
              <a:spcBef>
                <a:spcPts val="0"/>
              </a:spcBef>
              <a:spcAft>
                <a:spcPts val="0"/>
              </a:spcAft>
              <a:buSzPts val="2400"/>
              <a:buChar char="●"/>
              <a:defRPr/>
            </a:lvl7pPr>
            <a:lvl8pPr marL="3657600" lvl="7" indent="-381000">
              <a:spcBef>
                <a:spcPts val="0"/>
              </a:spcBef>
              <a:spcAft>
                <a:spcPts val="0"/>
              </a:spcAft>
              <a:buSzPts val="2400"/>
              <a:buChar char="○"/>
              <a:defRPr/>
            </a:lvl8pPr>
            <a:lvl9pPr marL="4114800" lvl="8" indent="-381000">
              <a:spcBef>
                <a:spcPts val="0"/>
              </a:spcBef>
              <a:spcAft>
                <a:spcPts val="0"/>
              </a:spcAft>
              <a:buSzPts val="2400"/>
              <a:buChar char="■"/>
              <a:defRPr/>
            </a:lvl9pPr>
          </a:lstStyle>
          <a:p>
            <a:endParaRPr/>
          </a:p>
        </p:txBody>
      </p:sp>
      <p:sp>
        <p:nvSpPr>
          <p:cNvPr id="26" name="Google Shape;26;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 2 columns" type="twoColTx">
  <p:cSld name="TITLE_AND_TWO_COLUMNS">
    <p:spTree>
      <p:nvGrpSpPr>
        <p:cNvPr id="1" name="Shape 27"/>
        <p:cNvGrpSpPr/>
        <p:nvPr/>
      </p:nvGrpSpPr>
      <p:grpSpPr>
        <a:xfrm>
          <a:off x="0" y="0"/>
          <a:ext cx="0" cy="0"/>
          <a:chOff x="0" y="0"/>
          <a:chExt cx="0" cy="0"/>
        </a:xfrm>
      </p:grpSpPr>
      <p:pic>
        <p:nvPicPr>
          <p:cNvPr id="28" name="Google Shape;28;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 name="Google Shape;29;p6"/>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0" name="Google Shape;30;p6"/>
          <p:cNvSpPr txBox="1">
            <a:spLocks noGrp="1"/>
          </p:cNvSpPr>
          <p:nvPr>
            <p:ph type="body" idx="1"/>
          </p:nvPr>
        </p:nvSpPr>
        <p:spPr>
          <a:xfrm>
            <a:off x="580550"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1" name="Google Shape;31;p6"/>
          <p:cNvSpPr txBox="1">
            <a:spLocks noGrp="1"/>
          </p:cNvSpPr>
          <p:nvPr>
            <p:ph type="body" idx="2"/>
          </p:nvPr>
        </p:nvSpPr>
        <p:spPr>
          <a:xfrm>
            <a:off x="3753943" y="1352550"/>
            <a:ext cx="2841000" cy="3155100"/>
          </a:xfrm>
          <a:prstGeom prst="rect">
            <a:avLst/>
          </a:prstGeom>
        </p:spPr>
        <p:txBody>
          <a:bodyPr spcFirstLastPara="1" wrap="square" lIns="0" tIns="0" rIns="0" bIns="0" anchor="t" anchorCtr="0">
            <a:noAutofit/>
          </a:bodyPr>
          <a:lstStyle>
            <a:lvl1pPr marL="457200" lvl="0" indent="-355600">
              <a:spcBef>
                <a:spcPts val="600"/>
              </a:spcBef>
              <a:spcAft>
                <a:spcPts val="0"/>
              </a:spcAft>
              <a:buSzPts val="2000"/>
              <a:buChar char="⬡"/>
              <a:defRPr sz="2000"/>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endParaRPr/>
          </a:p>
        </p:txBody>
      </p:sp>
      <p:sp>
        <p:nvSpPr>
          <p:cNvPr id="32" name="Google Shape;32;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 3 columns">
  <p:cSld name="TITLE_AND_TWO_COLUMNS_1">
    <p:spTree>
      <p:nvGrpSpPr>
        <p:cNvPr id="1" name="Shape 33"/>
        <p:cNvGrpSpPr/>
        <p:nvPr/>
      </p:nvGrpSpPr>
      <p:grpSpPr>
        <a:xfrm>
          <a:off x="0" y="0"/>
          <a:ext cx="0" cy="0"/>
          <a:chOff x="0" y="0"/>
          <a:chExt cx="0" cy="0"/>
        </a:xfrm>
      </p:grpSpPr>
      <p:pic>
        <p:nvPicPr>
          <p:cNvPr id="34" name="Google Shape;34;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5" name="Google Shape;35;p7"/>
          <p:cNvSpPr txBox="1">
            <a:spLocks noGrp="1"/>
          </p:cNvSpPr>
          <p:nvPr>
            <p:ph type="title"/>
          </p:nvPr>
        </p:nvSpPr>
        <p:spPr>
          <a:xfrm>
            <a:off x="580550" y="205975"/>
            <a:ext cx="6405600" cy="857400"/>
          </a:xfrm>
          <a:prstGeom prst="rect">
            <a:avLst/>
          </a:prstGeom>
        </p:spPr>
        <p:txBody>
          <a:bodyPr spcFirstLastPara="1" wrap="square" lIns="0" tIns="0" rIns="0" bIns="0"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36" name="Google Shape;36;p7"/>
          <p:cNvSpPr txBox="1">
            <a:spLocks noGrp="1"/>
          </p:cNvSpPr>
          <p:nvPr>
            <p:ph type="body" idx="1"/>
          </p:nvPr>
        </p:nvSpPr>
        <p:spPr>
          <a:xfrm>
            <a:off x="580550"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7" name="Google Shape;37;p7"/>
          <p:cNvSpPr txBox="1">
            <a:spLocks noGrp="1"/>
          </p:cNvSpPr>
          <p:nvPr>
            <p:ph type="body" idx="2"/>
          </p:nvPr>
        </p:nvSpPr>
        <p:spPr>
          <a:xfrm>
            <a:off x="2780447"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8" name="Google Shape;38;p7"/>
          <p:cNvSpPr txBox="1">
            <a:spLocks noGrp="1"/>
          </p:cNvSpPr>
          <p:nvPr>
            <p:ph type="body" idx="3"/>
          </p:nvPr>
        </p:nvSpPr>
        <p:spPr>
          <a:xfrm>
            <a:off x="4980344" y="1352550"/>
            <a:ext cx="2005800" cy="3202200"/>
          </a:xfrm>
          <a:prstGeom prst="rect">
            <a:avLst/>
          </a:prstGeom>
        </p:spPr>
        <p:txBody>
          <a:bodyPr spcFirstLastPara="1" wrap="square" lIns="0" tIns="0" rIns="0" bIns="0"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39" name="Google Shape;39;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40"/>
        <p:cNvGrpSpPr/>
        <p:nvPr/>
      </p:nvGrpSpPr>
      <p:grpSpPr>
        <a:xfrm>
          <a:off x="0" y="0"/>
          <a:ext cx="0" cy="0"/>
          <a:chOff x="0" y="0"/>
          <a:chExt cx="0" cy="0"/>
        </a:xfrm>
      </p:grpSpPr>
      <p:pic>
        <p:nvPicPr>
          <p:cNvPr id="41" name="Google Shape;4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42" name="Google Shape;42;p8"/>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3" name="Google Shape;43;p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 Small circuit" type="blank">
  <p:cSld name="BLANK">
    <p:spTree>
      <p:nvGrpSpPr>
        <p:cNvPr id="1" name="Shape 48"/>
        <p:cNvGrpSpPr/>
        <p:nvPr/>
      </p:nvGrpSpPr>
      <p:grpSpPr>
        <a:xfrm>
          <a:off x="0" y="0"/>
          <a:ext cx="0" cy="0"/>
          <a:chOff x="0" y="0"/>
          <a:chExt cx="0" cy="0"/>
        </a:xfrm>
      </p:grpSpPr>
      <p:pic>
        <p:nvPicPr>
          <p:cNvPr id="49" name="Google Shape;49;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50" name="Google Shape;50;p1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 Big circuit">
  <p:cSld name="BLANK_1">
    <p:spTree>
      <p:nvGrpSpPr>
        <p:cNvPr id="1" name="Shape 51"/>
        <p:cNvGrpSpPr/>
        <p:nvPr/>
      </p:nvGrpSpPr>
      <p:grpSpPr>
        <a:xfrm>
          <a:off x="0" y="0"/>
          <a:ext cx="0" cy="0"/>
          <a:chOff x="0" y="0"/>
          <a:chExt cx="0" cy="0"/>
        </a:xfrm>
      </p:grpSpPr>
      <p:pic>
        <p:nvPicPr>
          <p:cNvPr id="52" name="Google Shape;52;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53" name="Google Shape;53;p1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p:cSld name="BLANK_1_1">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gradFill flip="none" rotWithShape="1">
          <a:gsLst>
            <a:gs pos="0">
              <a:srgbClr val="A458FF"/>
            </a:gs>
            <a:gs pos="22000">
              <a:srgbClr val="3544FF"/>
            </a:gs>
            <a:gs pos="100000">
              <a:srgbClr val="0A2F9E"/>
            </a:gs>
          </a:gsLst>
          <a:lin ang="8100019" scaled="0"/>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80550" y="205975"/>
            <a:ext cx="6014400" cy="8574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1pPr>
            <a:lvl2pPr lvl="1">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2pPr>
            <a:lvl3pPr lvl="2">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3pPr>
            <a:lvl4pPr lvl="3">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4pPr>
            <a:lvl5pPr lvl="4">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5pPr>
            <a:lvl6pPr lvl="5">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6pPr>
            <a:lvl7pPr lvl="6">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7pPr>
            <a:lvl8pPr lvl="7">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8pPr>
            <a:lvl9pPr lvl="8">
              <a:spcBef>
                <a:spcPts val="0"/>
              </a:spcBef>
              <a:spcAft>
                <a:spcPts val="0"/>
              </a:spcAft>
              <a:buClr>
                <a:schemeClr val="lt1"/>
              </a:buClr>
              <a:buSzPts val="3200"/>
              <a:buFont typeface="Lexend Deca"/>
              <a:buNone/>
              <a:defRPr sz="3200" b="1">
                <a:solidFill>
                  <a:schemeClr val="lt1"/>
                </a:solidFill>
                <a:latin typeface="Lexend Deca"/>
                <a:ea typeface="Lexend Deca"/>
                <a:cs typeface="Lexend Deca"/>
                <a:sym typeface="Lexend Deca"/>
              </a:defRPr>
            </a:lvl9pPr>
          </a:lstStyle>
          <a:p>
            <a:endParaRPr/>
          </a:p>
        </p:txBody>
      </p:sp>
      <p:sp>
        <p:nvSpPr>
          <p:cNvPr id="7" name="Google Shape;7;p1"/>
          <p:cNvSpPr txBox="1">
            <a:spLocks noGrp="1"/>
          </p:cNvSpPr>
          <p:nvPr>
            <p:ph type="body" idx="1"/>
          </p:nvPr>
        </p:nvSpPr>
        <p:spPr>
          <a:xfrm>
            <a:off x="580550" y="1352550"/>
            <a:ext cx="6014400" cy="31617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600"/>
              </a:spcBef>
              <a:spcAft>
                <a:spcPts val="0"/>
              </a:spcAft>
              <a:buClr>
                <a:schemeClr val="accent5"/>
              </a:buClr>
              <a:buSzPts val="1800"/>
              <a:buFont typeface="Muli"/>
              <a:buChar char="⬡"/>
              <a:defRPr sz="2400">
                <a:solidFill>
                  <a:schemeClr val="lt1"/>
                </a:solidFill>
                <a:latin typeface="Muli"/>
                <a:ea typeface="Muli"/>
                <a:cs typeface="Muli"/>
                <a:sym typeface="Muli"/>
              </a:defRPr>
            </a:lvl1pPr>
            <a:lvl2pPr marL="914400" lvl="1"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2pPr>
            <a:lvl3pPr marL="1371600" lvl="2" indent="-381000">
              <a:lnSpc>
                <a:spcPct val="115000"/>
              </a:lnSpc>
              <a:spcBef>
                <a:spcPts val="0"/>
              </a:spcBef>
              <a:spcAft>
                <a:spcPts val="0"/>
              </a:spcAft>
              <a:buClr>
                <a:schemeClr val="accent5"/>
              </a:buClr>
              <a:buSzPts val="2400"/>
              <a:buFont typeface="Muli"/>
              <a:buChar char="∙"/>
              <a:defRPr sz="2400">
                <a:solidFill>
                  <a:schemeClr val="lt1"/>
                </a:solidFill>
                <a:latin typeface="Muli"/>
                <a:ea typeface="Muli"/>
                <a:cs typeface="Muli"/>
                <a:sym typeface="Muli"/>
              </a:defRPr>
            </a:lvl3pPr>
            <a:lvl4pPr marL="1828800" lvl="3"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4pPr>
            <a:lvl5pPr marL="2286000" lvl="4"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5pPr>
            <a:lvl6pPr marL="2743200" lvl="5"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6pPr>
            <a:lvl7pPr marL="3200400" lvl="6"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7pPr>
            <a:lvl8pPr marL="3657600" lvl="7"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8pPr>
            <a:lvl9pPr marL="4114800" lvl="8" indent="-381000">
              <a:lnSpc>
                <a:spcPct val="115000"/>
              </a:lnSpc>
              <a:spcBef>
                <a:spcPts val="0"/>
              </a:spcBef>
              <a:spcAft>
                <a:spcPts val="0"/>
              </a:spcAft>
              <a:buClr>
                <a:schemeClr val="lt1"/>
              </a:buClr>
              <a:buSzPts val="2400"/>
              <a:buFont typeface="Muli"/>
              <a:buChar char="■"/>
              <a:defRPr sz="2400">
                <a:solidFill>
                  <a:schemeClr val="lt1"/>
                </a:solidFill>
                <a:latin typeface="Muli"/>
                <a:ea typeface="Muli"/>
                <a:cs typeface="Muli"/>
                <a:sym typeface="Muli"/>
              </a:defRPr>
            </a:lvl9pPr>
          </a:lstStyle>
          <a:p>
            <a:endParaRPr/>
          </a:p>
        </p:txBody>
      </p:sp>
      <p:sp>
        <p:nvSpPr>
          <p:cNvPr id="8" name="Google Shape;8;p1"/>
          <p:cNvSpPr txBox="1">
            <a:spLocks noGrp="1"/>
          </p:cNvSpPr>
          <p:nvPr>
            <p:ph type="sldNum" idx="12"/>
          </p:nvPr>
        </p:nvSpPr>
        <p:spPr>
          <a:xfrm>
            <a:off x="8480584" y="4749851"/>
            <a:ext cx="548700" cy="393600"/>
          </a:xfrm>
          <a:prstGeom prst="rect">
            <a:avLst/>
          </a:prstGeom>
          <a:noFill/>
          <a:ln>
            <a:noFill/>
          </a:ln>
        </p:spPr>
        <p:txBody>
          <a:bodyPr spcFirstLastPara="1" wrap="square" lIns="0" tIns="0" rIns="0" bIns="0" anchor="ctr" anchorCtr="0">
            <a:noAutofit/>
          </a:bodyPr>
          <a:lstStyle>
            <a:lvl1pPr lvl="0" algn="r">
              <a:buNone/>
              <a:defRPr sz="1300">
                <a:solidFill>
                  <a:schemeClr val="lt1"/>
                </a:solidFill>
                <a:latin typeface="Lexend Deca"/>
                <a:ea typeface="Lexend Deca"/>
                <a:cs typeface="Lexend Deca"/>
                <a:sym typeface="Lexend Deca"/>
              </a:defRPr>
            </a:lvl1pPr>
            <a:lvl2pPr lvl="1" algn="r">
              <a:buNone/>
              <a:defRPr sz="1300">
                <a:solidFill>
                  <a:schemeClr val="lt1"/>
                </a:solidFill>
                <a:latin typeface="Lexend Deca"/>
                <a:ea typeface="Lexend Deca"/>
                <a:cs typeface="Lexend Deca"/>
                <a:sym typeface="Lexend Deca"/>
              </a:defRPr>
            </a:lvl2pPr>
            <a:lvl3pPr lvl="2" algn="r">
              <a:buNone/>
              <a:defRPr sz="1300">
                <a:solidFill>
                  <a:schemeClr val="lt1"/>
                </a:solidFill>
                <a:latin typeface="Lexend Deca"/>
                <a:ea typeface="Lexend Deca"/>
                <a:cs typeface="Lexend Deca"/>
                <a:sym typeface="Lexend Deca"/>
              </a:defRPr>
            </a:lvl3pPr>
            <a:lvl4pPr lvl="3" algn="r">
              <a:buNone/>
              <a:defRPr sz="1300">
                <a:solidFill>
                  <a:schemeClr val="lt1"/>
                </a:solidFill>
                <a:latin typeface="Lexend Deca"/>
                <a:ea typeface="Lexend Deca"/>
                <a:cs typeface="Lexend Deca"/>
                <a:sym typeface="Lexend Deca"/>
              </a:defRPr>
            </a:lvl4pPr>
            <a:lvl5pPr lvl="4" algn="r">
              <a:buNone/>
              <a:defRPr sz="1300">
                <a:solidFill>
                  <a:schemeClr val="lt1"/>
                </a:solidFill>
                <a:latin typeface="Lexend Deca"/>
                <a:ea typeface="Lexend Deca"/>
                <a:cs typeface="Lexend Deca"/>
                <a:sym typeface="Lexend Deca"/>
              </a:defRPr>
            </a:lvl5pPr>
            <a:lvl6pPr lvl="5" algn="r">
              <a:buNone/>
              <a:defRPr sz="1300">
                <a:solidFill>
                  <a:schemeClr val="lt1"/>
                </a:solidFill>
                <a:latin typeface="Lexend Deca"/>
                <a:ea typeface="Lexend Deca"/>
                <a:cs typeface="Lexend Deca"/>
                <a:sym typeface="Lexend Deca"/>
              </a:defRPr>
            </a:lvl6pPr>
            <a:lvl7pPr lvl="6" algn="r">
              <a:buNone/>
              <a:defRPr sz="1300">
                <a:solidFill>
                  <a:schemeClr val="lt1"/>
                </a:solidFill>
                <a:latin typeface="Lexend Deca"/>
                <a:ea typeface="Lexend Deca"/>
                <a:cs typeface="Lexend Deca"/>
                <a:sym typeface="Lexend Deca"/>
              </a:defRPr>
            </a:lvl7pPr>
            <a:lvl8pPr lvl="7" algn="r">
              <a:buNone/>
              <a:defRPr sz="1300">
                <a:solidFill>
                  <a:schemeClr val="lt1"/>
                </a:solidFill>
                <a:latin typeface="Lexend Deca"/>
                <a:ea typeface="Lexend Deca"/>
                <a:cs typeface="Lexend Deca"/>
                <a:sym typeface="Lexend Deca"/>
              </a:defRPr>
            </a:lvl8pPr>
            <a:lvl9pPr lvl="8" algn="r">
              <a:buNone/>
              <a:defRPr sz="1300">
                <a:solidFill>
                  <a:schemeClr val="lt1"/>
                </a:solidFill>
                <a:latin typeface="Lexend Deca"/>
                <a:ea typeface="Lexend Deca"/>
                <a:cs typeface="Lexend Deca"/>
                <a:sym typeface="Lexend Deca"/>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 id="2147483658"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hyperlink" Target="https://sparked.vercel.app/"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 name="Google Shape;80;p15"/>
          <p:cNvSpPr txBox="1">
            <a:spLocks/>
          </p:cNvSpPr>
          <p:nvPr/>
        </p:nvSpPr>
        <p:spPr>
          <a:xfrm>
            <a:off x="1295400" y="1962150"/>
            <a:ext cx="4114800" cy="9285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US" sz="7200" dirty="0">
                <a:solidFill>
                  <a:schemeClr val="bg1"/>
                </a:solidFill>
              </a:rPr>
              <a:t>Sparked</a:t>
            </a:r>
          </a:p>
        </p:txBody>
      </p:sp>
      <p:sp>
        <p:nvSpPr>
          <p:cNvPr id="8" name="Google Shape;81;p15"/>
          <p:cNvSpPr txBox="1">
            <a:spLocks/>
          </p:cNvSpPr>
          <p:nvPr/>
        </p:nvSpPr>
        <p:spPr>
          <a:xfrm>
            <a:off x="1183200" y="2876550"/>
            <a:ext cx="4074600" cy="74985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600"/>
              </a:spcBef>
              <a:spcAft>
                <a:spcPts val="0"/>
              </a:spcAft>
              <a:buClr>
                <a:schemeClr val="accent5"/>
              </a:buClr>
              <a:buSzPts val="1800"/>
              <a:buFont typeface="Muli"/>
              <a:buChar char="⬡"/>
              <a:defRPr sz="2400" b="0" i="0" u="none" strike="noStrike" cap="none">
                <a:solidFill>
                  <a:schemeClr val="lt1"/>
                </a:solidFill>
                <a:latin typeface="Muli"/>
                <a:ea typeface="Muli"/>
                <a:cs typeface="Muli"/>
                <a:sym typeface="Muli"/>
              </a:defRPr>
            </a:lvl1pPr>
            <a:lvl2pPr marL="914400" marR="0" lvl="1" indent="-381000" algn="l" rtl="0">
              <a:lnSpc>
                <a:spcPct val="115000"/>
              </a:lnSpc>
              <a:spcBef>
                <a:spcPts val="0"/>
              </a:spcBef>
              <a:spcAft>
                <a:spcPts val="0"/>
              </a:spcAft>
              <a:buClr>
                <a:schemeClr val="accent5"/>
              </a:buClr>
              <a:buSzPts val="2400"/>
              <a:buFont typeface="Muli"/>
              <a:buChar char="∙"/>
              <a:defRPr sz="2400" b="0" i="0" u="none" strike="noStrike" cap="none">
                <a:solidFill>
                  <a:schemeClr val="lt1"/>
                </a:solidFill>
                <a:latin typeface="Muli"/>
                <a:ea typeface="Muli"/>
                <a:cs typeface="Muli"/>
                <a:sym typeface="Muli"/>
              </a:defRPr>
            </a:lvl2pPr>
            <a:lvl3pPr marL="1371600" marR="0" lvl="2" indent="-381000" algn="l" rtl="0">
              <a:lnSpc>
                <a:spcPct val="115000"/>
              </a:lnSpc>
              <a:spcBef>
                <a:spcPts val="0"/>
              </a:spcBef>
              <a:spcAft>
                <a:spcPts val="0"/>
              </a:spcAft>
              <a:buClr>
                <a:schemeClr val="accent5"/>
              </a:buClr>
              <a:buSzPts val="2400"/>
              <a:buFont typeface="Muli"/>
              <a:buChar char="∙"/>
              <a:defRPr sz="2400" b="0" i="0" u="none" strike="noStrike" cap="none">
                <a:solidFill>
                  <a:schemeClr val="lt1"/>
                </a:solidFill>
                <a:latin typeface="Muli"/>
                <a:ea typeface="Muli"/>
                <a:cs typeface="Muli"/>
                <a:sym typeface="Muli"/>
              </a:defRPr>
            </a:lvl3pPr>
            <a:lvl4pPr marL="1828800" marR="0" lvl="3" indent="-381000" algn="l" rtl="0">
              <a:lnSpc>
                <a:spcPct val="115000"/>
              </a:lnSpc>
              <a:spcBef>
                <a:spcPts val="0"/>
              </a:spcBef>
              <a:spcAft>
                <a:spcPts val="0"/>
              </a:spcAft>
              <a:buClr>
                <a:schemeClr val="lt1"/>
              </a:buClr>
              <a:buSzPts val="2400"/>
              <a:buFont typeface="Muli"/>
              <a:buChar char="●"/>
              <a:defRPr sz="2400" b="0" i="0" u="none" strike="noStrike" cap="none">
                <a:solidFill>
                  <a:schemeClr val="lt1"/>
                </a:solidFill>
                <a:latin typeface="Muli"/>
                <a:ea typeface="Muli"/>
                <a:cs typeface="Muli"/>
                <a:sym typeface="Muli"/>
              </a:defRPr>
            </a:lvl4pPr>
            <a:lvl5pPr marL="2286000" marR="0" lvl="4" indent="-381000" algn="l" rtl="0">
              <a:lnSpc>
                <a:spcPct val="115000"/>
              </a:lnSpc>
              <a:spcBef>
                <a:spcPts val="0"/>
              </a:spcBef>
              <a:spcAft>
                <a:spcPts val="0"/>
              </a:spcAft>
              <a:buClr>
                <a:schemeClr val="lt1"/>
              </a:buClr>
              <a:buSzPts val="2400"/>
              <a:buFont typeface="Muli"/>
              <a:buChar char="○"/>
              <a:defRPr sz="2400" b="0" i="0" u="none" strike="noStrike" cap="none">
                <a:solidFill>
                  <a:schemeClr val="lt1"/>
                </a:solidFill>
                <a:latin typeface="Muli"/>
                <a:ea typeface="Muli"/>
                <a:cs typeface="Muli"/>
                <a:sym typeface="Muli"/>
              </a:defRPr>
            </a:lvl5pPr>
            <a:lvl6pPr marL="2743200" marR="0" lvl="5" indent="-381000" algn="l" rtl="0">
              <a:lnSpc>
                <a:spcPct val="115000"/>
              </a:lnSpc>
              <a:spcBef>
                <a:spcPts val="0"/>
              </a:spcBef>
              <a:spcAft>
                <a:spcPts val="0"/>
              </a:spcAft>
              <a:buClr>
                <a:schemeClr val="lt1"/>
              </a:buClr>
              <a:buSzPts val="2400"/>
              <a:buFont typeface="Muli"/>
              <a:buChar char="■"/>
              <a:defRPr sz="2400" b="0" i="0" u="none" strike="noStrike" cap="none">
                <a:solidFill>
                  <a:schemeClr val="lt1"/>
                </a:solidFill>
                <a:latin typeface="Muli"/>
                <a:ea typeface="Muli"/>
                <a:cs typeface="Muli"/>
                <a:sym typeface="Muli"/>
              </a:defRPr>
            </a:lvl6pPr>
            <a:lvl7pPr marL="3200400" marR="0" lvl="6" indent="-381000" algn="l" rtl="0">
              <a:lnSpc>
                <a:spcPct val="115000"/>
              </a:lnSpc>
              <a:spcBef>
                <a:spcPts val="0"/>
              </a:spcBef>
              <a:spcAft>
                <a:spcPts val="0"/>
              </a:spcAft>
              <a:buClr>
                <a:schemeClr val="lt1"/>
              </a:buClr>
              <a:buSzPts val="2400"/>
              <a:buFont typeface="Muli"/>
              <a:buChar char="●"/>
              <a:defRPr sz="2400" b="0" i="0" u="none" strike="noStrike" cap="none">
                <a:solidFill>
                  <a:schemeClr val="lt1"/>
                </a:solidFill>
                <a:latin typeface="Muli"/>
                <a:ea typeface="Muli"/>
                <a:cs typeface="Muli"/>
                <a:sym typeface="Muli"/>
              </a:defRPr>
            </a:lvl7pPr>
            <a:lvl8pPr marL="3657600" marR="0" lvl="7" indent="-381000" algn="l" rtl="0">
              <a:lnSpc>
                <a:spcPct val="115000"/>
              </a:lnSpc>
              <a:spcBef>
                <a:spcPts val="0"/>
              </a:spcBef>
              <a:spcAft>
                <a:spcPts val="0"/>
              </a:spcAft>
              <a:buClr>
                <a:schemeClr val="lt1"/>
              </a:buClr>
              <a:buSzPts val="2400"/>
              <a:buFont typeface="Muli"/>
              <a:buChar char="○"/>
              <a:defRPr sz="2400" b="0" i="0" u="none" strike="noStrike" cap="none">
                <a:solidFill>
                  <a:schemeClr val="lt1"/>
                </a:solidFill>
                <a:latin typeface="Muli"/>
                <a:ea typeface="Muli"/>
                <a:cs typeface="Muli"/>
                <a:sym typeface="Muli"/>
              </a:defRPr>
            </a:lvl8pPr>
            <a:lvl9pPr marL="4114800" marR="0" lvl="8" indent="-381000" algn="l" rtl="0">
              <a:lnSpc>
                <a:spcPct val="115000"/>
              </a:lnSpc>
              <a:spcBef>
                <a:spcPts val="0"/>
              </a:spcBef>
              <a:spcAft>
                <a:spcPts val="0"/>
              </a:spcAft>
              <a:buClr>
                <a:schemeClr val="lt1"/>
              </a:buClr>
              <a:buSzPts val="2400"/>
              <a:buFont typeface="Muli"/>
              <a:buChar char="■"/>
              <a:defRPr sz="2400" b="0" i="0" u="none" strike="noStrike" cap="none">
                <a:solidFill>
                  <a:schemeClr val="lt1"/>
                </a:solidFill>
                <a:latin typeface="Muli"/>
                <a:ea typeface="Muli"/>
                <a:cs typeface="Muli"/>
                <a:sym typeface="Muli"/>
              </a:defRPr>
            </a:lvl9pPr>
          </a:lstStyle>
          <a:p>
            <a:pPr marL="0" indent="0" algn="ctr">
              <a:buFont typeface="Muli"/>
              <a:buNone/>
            </a:pPr>
            <a:r>
              <a:rPr lang="en-US" sz="1800" b="1" dirty="0">
                <a:solidFill>
                  <a:srgbClr val="E474DF"/>
                </a:solidFill>
              </a:rPr>
              <a:t>An interactive Circuit Learning app</a:t>
            </a:r>
          </a:p>
          <a:p>
            <a:pPr marL="0" indent="0" algn="ctr">
              <a:buFont typeface="Muli"/>
              <a:buNone/>
            </a:pPr>
            <a:r>
              <a:rPr lang="en-US" sz="1800" b="1" dirty="0">
                <a:solidFill>
                  <a:srgbClr val="E474DF"/>
                </a:solidFill>
              </a:rPr>
              <a:t>With Simulation</a:t>
            </a:r>
          </a:p>
        </p:txBody>
      </p:sp>
      <p:pic>
        <p:nvPicPr>
          <p:cNvPr id="11" name="Picture 2" descr="C:\Users\smahm\Desktop\favicon.pn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971800" y="971550"/>
            <a:ext cx="685800" cy="68580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9503113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564"/>
        <p:cNvGrpSpPr/>
        <p:nvPr/>
      </p:nvGrpSpPr>
      <p:grpSpPr>
        <a:xfrm>
          <a:off x="0" y="0"/>
          <a:ext cx="0" cy="0"/>
          <a:chOff x="0" y="0"/>
          <a:chExt cx="0" cy="0"/>
        </a:xfrm>
      </p:grpSpPr>
      <p:sp>
        <p:nvSpPr>
          <p:cNvPr id="565" name="Google Shape;565;p45"/>
          <p:cNvSpPr txBox="1">
            <a:spLocks noGrp="1"/>
          </p:cNvSpPr>
          <p:nvPr>
            <p:ph type="title"/>
          </p:nvPr>
        </p:nvSpPr>
        <p:spPr>
          <a:xfrm>
            <a:off x="189352" y="1072330"/>
            <a:ext cx="3366049" cy="519376"/>
          </a:xfrm>
          <a:prstGeom prst="rect">
            <a:avLst/>
          </a:prstGeom>
        </p:spPr>
        <p:txBody>
          <a:bodyPr spcFirstLastPara="1" wrap="square" lIns="0" tIns="0" rIns="0" bIns="0" anchor="b" anchorCtr="0">
            <a:noAutofit/>
          </a:bodyPr>
          <a:lstStyle/>
          <a:p>
            <a:r>
              <a:rPr lang="en" dirty="0">
                <a:solidFill>
                  <a:srgbClr val="DA7ECE"/>
                </a:solidFill>
              </a:rPr>
              <a:t>Group Members</a:t>
            </a:r>
            <a:endParaRPr lang="en-US" dirty="0">
              <a:solidFill>
                <a:srgbClr val="DA7ECE"/>
              </a:solidFill>
            </a:endParaRPr>
          </a:p>
        </p:txBody>
      </p:sp>
      <p:sp>
        <p:nvSpPr>
          <p:cNvPr id="566" name="Google Shape;566;p4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a:t>
            </a:fld>
            <a:endParaRPr/>
          </a:p>
        </p:txBody>
      </p:sp>
      <p:sp>
        <p:nvSpPr>
          <p:cNvPr id="568" name="Google Shape;568;p45"/>
          <p:cNvSpPr txBox="1"/>
          <p:nvPr/>
        </p:nvSpPr>
        <p:spPr>
          <a:xfrm>
            <a:off x="757500" y="1787705"/>
            <a:ext cx="2109121" cy="734100"/>
          </a:xfrm>
          <a:prstGeom prst="rect">
            <a:avLst/>
          </a:prstGeom>
          <a:noFill/>
          <a:ln>
            <a:noFill/>
          </a:ln>
        </p:spPr>
        <p:txBody>
          <a:bodyPr spcFirstLastPara="1" wrap="square" lIns="0" tIns="0" rIns="0" bIns="0" anchor="t" anchorCtr="0">
            <a:noAutofit/>
          </a:bodyPr>
          <a:lstStyle/>
          <a:p>
            <a:r>
              <a:rPr lang="en" b="1" dirty="0">
                <a:solidFill>
                  <a:schemeClr val="bg1"/>
                </a:solidFill>
                <a:latin typeface="Muli"/>
                <a:ea typeface="Muli"/>
                <a:cs typeface="Muli"/>
                <a:sym typeface="Muli"/>
              </a:rPr>
              <a:t>Sabbir Mahmud Afridi</a:t>
            </a:r>
            <a:r>
              <a:rPr lang="en" dirty="0">
                <a:latin typeface="Muli"/>
                <a:ea typeface="Muli"/>
                <a:cs typeface="Muli"/>
              </a:rPr>
              <a:t/>
            </a:r>
            <a:br>
              <a:rPr lang="en" dirty="0">
                <a:latin typeface="Muli"/>
                <a:ea typeface="Muli"/>
                <a:cs typeface="Muli"/>
              </a:rPr>
            </a:br>
            <a:r>
              <a:rPr lang="en" sz="1200" b="1" dirty="0" smtClean="0">
                <a:solidFill>
                  <a:schemeClr val="bg1"/>
                </a:solidFill>
                <a:latin typeface="Muli"/>
                <a:ea typeface="Muli"/>
                <a:cs typeface="Muli"/>
                <a:sym typeface="Muli"/>
              </a:rPr>
              <a:t>2019-3-60-112</a:t>
            </a:r>
            <a:endParaRPr b="1" dirty="0">
              <a:solidFill>
                <a:schemeClr val="bg1"/>
              </a:solidFill>
              <a:latin typeface="Muli"/>
              <a:ea typeface="Muli"/>
              <a:cs typeface="Muli"/>
              <a:sym typeface="Muli"/>
            </a:endParaRPr>
          </a:p>
        </p:txBody>
      </p:sp>
      <p:sp>
        <p:nvSpPr>
          <p:cNvPr id="12" name="Google Shape;568;p45"/>
          <p:cNvSpPr txBox="1"/>
          <p:nvPr/>
        </p:nvSpPr>
        <p:spPr>
          <a:xfrm>
            <a:off x="757499" y="2392437"/>
            <a:ext cx="2109121" cy="734100"/>
          </a:xfrm>
          <a:prstGeom prst="rect">
            <a:avLst/>
          </a:prstGeom>
          <a:noFill/>
          <a:ln>
            <a:noFill/>
          </a:ln>
        </p:spPr>
        <p:txBody>
          <a:bodyPr spcFirstLastPara="1" wrap="square" lIns="0" tIns="0" rIns="0" bIns="0" anchor="t" anchorCtr="0">
            <a:noAutofit/>
          </a:bodyPr>
          <a:lstStyle/>
          <a:p>
            <a:r>
              <a:rPr lang="en" b="1" dirty="0" smtClean="0">
                <a:solidFill>
                  <a:schemeClr val="bg1"/>
                </a:solidFill>
                <a:latin typeface="Muli"/>
                <a:ea typeface="Muli"/>
                <a:cs typeface="Muli"/>
                <a:sym typeface="Muli"/>
              </a:rPr>
              <a:t>Akmal Hossain</a:t>
            </a:r>
            <a:r>
              <a:rPr lang="en" dirty="0">
                <a:latin typeface="Muli"/>
                <a:ea typeface="Muli"/>
                <a:cs typeface="Muli"/>
              </a:rPr>
              <a:t/>
            </a:r>
            <a:br>
              <a:rPr lang="en" dirty="0">
                <a:latin typeface="Muli"/>
                <a:ea typeface="Muli"/>
                <a:cs typeface="Muli"/>
              </a:rPr>
            </a:br>
            <a:r>
              <a:rPr lang="en" sz="1200" b="1" dirty="0" smtClean="0">
                <a:solidFill>
                  <a:schemeClr val="bg1"/>
                </a:solidFill>
                <a:latin typeface="Muli"/>
                <a:ea typeface="Muli"/>
                <a:cs typeface="Muli"/>
                <a:sym typeface="Muli"/>
              </a:rPr>
              <a:t>2019-3-60-123</a:t>
            </a:r>
            <a:endParaRPr b="1" dirty="0">
              <a:solidFill>
                <a:schemeClr val="bg1"/>
              </a:solidFill>
              <a:latin typeface="Muli"/>
              <a:ea typeface="Muli"/>
              <a:cs typeface="Muli"/>
              <a:sym typeface="Muli"/>
            </a:endParaRPr>
          </a:p>
        </p:txBody>
      </p:sp>
      <p:sp>
        <p:nvSpPr>
          <p:cNvPr id="13" name="Google Shape;568;p45"/>
          <p:cNvSpPr txBox="1"/>
          <p:nvPr/>
        </p:nvSpPr>
        <p:spPr>
          <a:xfrm>
            <a:off x="757500" y="3563450"/>
            <a:ext cx="2109121" cy="734100"/>
          </a:xfrm>
          <a:prstGeom prst="rect">
            <a:avLst/>
          </a:prstGeom>
          <a:noFill/>
          <a:ln>
            <a:noFill/>
          </a:ln>
        </p:spPr>
        <p:txBody>
          <a:bodyPr spcFirstLastPara="1" wrap="square" lIns="0" tIns="0" rIns="0" bIns="0" anchor="t" anchorCtr="0">
            <a:noAutofit/>
          </a:bodyPr>
          <a:lstStyle/>
          <a:p>
            <a:r>
              <a:rPr lang="en-US" b="1" dirty="0" err="1" smtClean="0">
                <a:solidFill>
                  <a:schemeClr val="bg1"/>
                </a:solidFill>
                <a:latin typeface="Muli"/>
                <a:ea typeface="Muli"/>
                <a:cs typeface="Muli"/>
                <a:sym typeface="Muli"/>
              </a:rPr>
              <a:t>Md</a:t>
            </a:r>
            <a:r>
              <a:rPr lang="en-US" b="1" smtClean="0">
                <a:solidFill>
                  <a:schemeClr val="bg1"/>
                </a:solidFill>
                <a:latin typeface="Muli"/>
                <a:ea typeface="Muli"/>
                <a:cs typeface="Muli"/>
                <a:sym typeface="Muli"/>
              </a:rPr>
              <a:t> Mehdi</a:t>
            </a:r>
            <a:r>
              <a:rPr lang="en-US" b="1" dirty="0">
                <a:solidFill>
                  <a:schemeClr val="bg1"/>
                </a:solidFill>
                <a:latin typeface="Muli"/>
                <a:ea typeface="Muli"/>
                <a:cs typeface="Muli"/>
                <a:sym typeface="Muli"/>
              </a:rPr>
              <a:t> </a:t>
            </a:r>
            <a:r>
              <a:rPr lang="en-US" b="1" dirty="0" err="1">
                <a:solidFill>
                  <a:schemeClr val="bg1"/>
                </a:solidFill>
                <a:latin typeface="Muli"/>
                <a:ea typeface="Muli"/>
                <a:cs typeface="Muli"/>
                <a:sym typeface="Muli"/>
              </a:rPr>
              <a:t>Ahsan</a:t>
            </a:r>
            <a:r>
              <a:rPr lang="en-US" b="1" dirty="0">
                <a:solidFill>
                  <a:schemeClr val="bg1"/>
                </a:solidFill>
                <a:latin typeface="Muli"/>
                <a:ea typeface="Muli"/>
                <a:cs typeface="Muli"/>
                <a:sym typeface="Muli"/>
              </a:rPr>
              <a:t> </a:t>
            </a:r>
            <a:r>
              <a:rPr lang="en-US" b="1" dirty="0" err="1">
                <a:solidFill>
                  <a:schemeClr val="bg1"/>
                </a:solidFill>
                <a:latin typeface="Muli"/>
                <a:ea typeface="Muli"/>
                <a:cs typeface="Muli"/>
                <a:sym typeface="Muli"/>
              </a:rPr>
              <a:t>Rafsan</a:t>
            </a:r>
            <a:r>
              <a:rPr lang="en" sz="1800" dirty="0">
                <a:latin typeface="Muli"/>
                <a:ea typeface="Muli"/>
                <a:cs typeface="Muli"/>
              </a:rPr>
              <a:t/>
            </a:r>
            <a:br>
              <a:rPr lang="en" sz="1800" dirty="0">
                <a:latin typeface="Muli"/>
                <a:ea typeface="Muli"/>
                <a:cs typeface="Muli"/>
              </a:rPr>
            </a:br>
            <a:r>
              <a:rPr lang="en" sz="1200" b="1" dirty="0" smtClean="0">
                <a:solidFill>
                  <a:schemeClr val="bg1"/>
                </a:solidFill>
                <a:latin typeface="Muli"/>
                <a:ea typeface="Muli"/>
                <a:cs typeface="Muli"/>
                <a:sym typeface="Muli"/>
              </a:rPr>
              <a:t>2019-3-60-003</a:t>
            </a:r>
            <a:endParaRPr b="1" dirty="0">
              <a:solidFill>
                <a:schemeClr val="bg1"/>
              </a:solidFill>
              <a:latin typeface="Muli"/>
              <a:ea typeface="Muli"/>
              <a:cs typeface="Muli"/>
              <a:sym typeface="Muli"/>
            </a:endParaRPr>
          </a:p>
        </p:txBody>
      </p:sp>
      <p:sp>
        <p:nvSpPr>
          <p:cNvPr id="14" name="Google Shape;568;p45"/>
          <p:cNvSpPr txBox="1"/>
          <p:nvPr/>
        </p:nvSpPr>
        <p:spPr>
          <a:xfrm>
            <a:off x="757498" y="2909942"/>
            <a:ext cx="2830979" cy="734100"/>
          </a:xfrm>
          <a:prstGeom prst="rect">
            <a:avLst/>
          </a:prstGeom>
          <a:noFill/>
          <a:ln>
            <a:noFill/>
          </a:ln>
        </p:spPr>
        <p:txBody>
          <a:bodyPr spcFirstLastPara="1" wrap="square" lIns="0" tIns="0" rIns="0" bIns="0" anchor="t" anchorCtr="0">
            <a:noAutofit/>
          </a:bodyPr>
          <a:lstStyle/>
          <a:p>
            <a:r>
              <a:rPr lang="en-US" b="1" dirty="0" err="1" smtClean="0">
                <a:solidFill>
                  <a:schemeClr val="bg1"/>
                </a:solidFill>
                <a:latin typeface="Muli"/>
                <a:ea typeface="Muli"/>
                <a:cs typeface="Muli"/>
                <a:sym typeface="Muli"/>
              </a:rPr>
              <a:t>Samiha</a:t>
            </a:r>
            <a:r>
              <a:rPr lang="en-US" b="1" dirty="0" smtClean="0">
                <a:solidFill>
                  <a:schemeClr val="bg1"/>
                </a:solidFill>
                <a:latin typeface="Muli"/>
                <a:ea typeface="Muli"/>
                <a:cs typeface="Muli"/>
                <a:sym typeface="Muli"/>
              </a:rPr>
              <a:t> </a:t>
            </a:r>
            <a:r>
              <a:rPr lang="en-US" b="1" dirty="0" err="1" smtClean="0">
                <a:solidFill>
                  <a:schemeClr val="bg1"/>
                </a:solidFill>
                <a:latin typeface="Muli"/>
                <a:ea typeface="Muli"/>
                <a:cs typeface="Muli"/>
                <a:sym typeface="Muli"/>
              </a:rPr>
              <a:t>Karim</a:t>
            </a:r>
            <a:r>
              <a:rPr lang="en-US" b="1" dirty="0" smtClean="0">
                <a:solidFill>
                  <a:schemeClr val="bg1"/>
                </a:solidFill>
                <a:latin typeface="Muli"/>
                <a:ea typeface="Muli"/>
                <a:cs typeface="Muli"/>
                <a:sym typeface="Muli"/>
              </a:rPr>
              <a:t> </a:t>
            </a:r>
            <a:r>
              <a:rPr lang="en-US" b="1" dirty="0" err="1" smtClean="0">
                <a:solidFill>
                  <a:schemeClr val="bg1"/>
                </a:solidFill>
                <a:latin typeface="Muli"/>
                <a:ea typeface="Muli"/>
                <a:cs typeface="Muli"/>
                <a:sym typeface="Muli"/>
              </a:rPr>
              <a:t>Chowdhury</a:t>
            </a:r>
            <a:r>
              <a:rPr lang="en" sz="1800" dirty="0">
                <a:latin typeface="Muli"/>
                <a:ea typeface="Muli"/>
                <a:cs typeface="Muli"/>
              </a:rPr>
              <a:t/>
            </a:r>
            <a:br>
              <a:rPr lang="en" sz="1800" dirty="0">
                <a:latin typeface="Muli"/>
                <a:ea typeface="Muli"/>
                <a:cs typeface="Muli"/>
              </a:rPr>
            </a:br>
            <a:r>
              <a:rPr lang="en" sz="1200" b="1" dirty="0" smtClean="0">
                <a:solidFill>
                  <a:schemeClr val="bg1"/>
                </a:solidFill>
                <a:latin typeface="Muli"/>
                <a:ea typeface="Muli"/>
                <a:cs typeface="Muli"/>
                <a:sym typeface="Muli"/>
              </a:rPr>
              <a:t>2019-3-60-100</a:t>
            </a:r>
            <a:endParaRPr b="1" dirty="0">
              <a:solidFill>
                <a:schemeClr val="bg1"/>
              </a:solidFill>
              <a:latin typeface="Muli"/>
              <a:ea typeface="Muli"/>
              <a:cs typeface="Muli"/>
              <a:sym typeface="Muli"/>
            </a:endParaRPr>
          </a:p>
        </p:txBody>
      </p:sp>
      <p:sp>
        <p:nvSpPr>
          <p:cNvPr id="16" name="Google Shape;568;p45"/>
          <p:cNvSpPr txBox="1"/>
          <p:nvPr/>
        </p:nvSpPr>
        <p:spPr>
          <a:xfrm>
            <a:off x="4229100" y="2176605"/>
            <a:ext cx="4084747" cy="1480300"/>
          </a:xfrm>
          <a:prstGeom prst="rect">
            <a:avLst/>
          </a:prstGeom>
          <a:noFill/>
          <a:ln>
            <a:noFill/>
          </a:ln>
        </p:spPr>
        <p:txBody>
          <a:bodyPr spcFirstLastPara="1" wrap="square" lIns="0" tIns="0" rIns="0" bIns="0" anchor="t" anchorCtr="0">
            <a:noAutofit/>
          </a:bodyPr>
          <a:lstStyle/>
          <a:p>
            <a:pPr algn="ctr"/>
            <a:r>
              <a:rPr lang="en-US" sz="2000" b="1" dirty="0">
                <a:solidFill>
                  <a:schemeClr val="bg1"/>
                </a:solidFill>
                <a:latin typeface="Muli"/>
                <a:ea typeface="Muli"/>
                <a:cs typeface="Muli"/>
                <a:sym typeface="Muli"/>
              </a:rPr>
              <a:t>Dr. Mohammad Salah </a:t>
            </a:r>
            <a:r>
              <a:rPr lang="en-US" sz="2000" b="1" dirty="0" err="1">
                <a:solidFill>
                  <a:schemeClr val="bg1"/>
                </a:solidFill>
                <a:latin typeface="Muli"/>
                <a:ea typeface="Muli"/>
                <a:cs typeface="Muli"/>
                <a:sym typeface="Muli"/>
              </a:rPr>
              <a:t>Uddin</a:t>
            </a:r>
            <a:r>
              <a:rPr lang="en" sz="2800" dirty="0">
                <a:latin typeface="Muli"/>
                <a:ea typeface="Muli"/>
                <a:cs typeface="Muli"/>
              </a:rPr>
              <a:t/>
            </a:r>
            <a:br>
              <a:rPr lang="en" sz="2800" dirty="0">
                <a:latin typeface="Muli"/>
                <a:ea typeface="Muli"/>
                <a:cs typeface="Muli"/>
              </a:rPr>
            </a:br>
            <a:r>
              <a:rPr lang="en-US" sz="1800" b="1" dirty="0">
                <a:solidFill>
                  <a:schemeClr val="bg1"/>
                </a:solidFill>
                <a:latin typeface="Muli"/>
                <a:ea typeface="Muli"/>
                <a:cs typeface="Muli"/>
                <a:sym typeface="Muli"/>
              </a:rPr>
              <a:t>Associate Professor</a:t>
            </a:r>
          </a:p>
          <a:p>
            <a:pPr algn="ctr"/>
            <a:r>
              <a:rPr lang="en-US" b="1" dirty="0">
                <a:solidFill>
                  <a:schemeClr val="bg1"/>
                </a:solidFill>
                <a:latin typeface="Muli"/>
                <a:ea typeface="Muli"/>
                <a:cs typeface="Muli"/>
                <a:sym typeface="Muli"/>
              </a:rPr>
              <a:t>Department of Computer Science &amp; </a:t>
            </a:r>
            <a:r>
              <a:rPr lang="en-US" b="1" dirty="0" smtClean="0">
                <a:solidFill>
                  <a:schemeClr val="bg1"/>
                </a:solidFill>
                <a:latin typeface="Muli"/>
                <a:ea typeface="Muli"/>
                <a:cs typeface="Muli"/>
                <a:sym typeface="Muli"/>
              </a:rPr>
              <a:t>Engineering</a:t>
            </a:r>
          </a:p>
          <a:p>
            <a:pPr algn="ctr"/>
            <a:r>
              <a:rPr lang="en-US" sz="1800" b="1" dirty="0" smtClean="0">
                <a:solidFill>
                  <a:schemeClr val="bg1"/>
                </a:solidFill>
                <a:latin typeface="Muli"/>
                <a:ea typeface="Muli"/>
                <a:cs typeface="Muli"/>
                <a:sym typeface="Muli"/>
              </a:rPr>
              <a:t>East West University, Dhaka</a:t>
            </a:r>
            <a:endParaRPr sz="2000" b="1" dirty="0">
              <a:solidFill>
                <a:schemeClr val="bg1"/>
              </a:solidFill>
              <a:latin typeface="Muli"/>
              <a:ea typeface="Muli"/>
              <a:cs typeface="Muli"/>
              <a:sym typeface="Muli"/>
            </a:endParaRPr>
          </a:p>
        </p:txBody>
      </p:sp>
      <p:sp>
        <p:nvSpPr>
          <p:cNvPr id="2" name="Rectangle 1"/>
          <p:cNvSpPr/>
          <p:nvPr/>
        </p:nvSpPr>
        <p:spPr>
          <a:xfrm>
            <a:off x="4686744" y="1072330"/>
            <a:ext cx="3169457" cy="584775"/>
          </a:xfrm>
          <a:prstGeom prst="rect">
            <a:avLst/>
          </a:prstGeom>
        </p:spPr>
        <p:txBody>
          <a:bodyPr wrap="none">
            <a:spAutoFit/>
          </a:bodyPr>
          <a:lstStyle/>
          <a:p>
            <a:r>
              <a:rPr lang="en" sz="3200" b="1" dirty="0" smtClean="0">
                <a:solidFill>
                  <a:srgbClr val="DA7ECE"/>
                </a:solidFill>
              </a:rPr>
              <a:t>Our Supervisor</a:t>
            </a:r>
            <a:endParaRPr lang="en-US" sz="3200" b="1" dirty="0">
              <a:solidFill>
                <a:srgbClr val="DA7ECE"/>
              </a:solidFill>
            </a:endParaRPr>
          </a:p>
        </p:txBody>
      </p:sp>
      <p:pic>
        <p:nvPicPr>
          <p:cNvPr id="19" name="Picture 18" descr="C:\Users\smahm\Desktop\favicon.png">
            <a:extLst>
              <a:ext uri="{FF2B5EF4-FFF2-40B4-BE49-F238E27FC236}">
                <a16:creationId xmlns="" xmlns:a16="http://schemas.microsoft.com/office/drawing/2014/main" id="{5B522688-D412-DEEF-121D-564E9A5923D2}"/>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20" name="Google Shape;71;p14">
            <a:extLst>
              <a:ext uri="{FF2B5EF4-FFF2-40B4-BE49-F238E27FC236}">
                <a16:creationId xmlns="" xmlns:a16="http://schemas.microsoft.com/office/drawing/2014/main" id="{A142C6BB-36D8-904F-4FC6-701CCD440625}"/>
              </a:ext>
            </a:extLst>
          </p:cNvPr>
          <p:cNvSpPr txBox="1">
            <a:spLocks/>
          </p:cNvSpPr>
          <p:nvPr/>
        </p:nvSpPr>
        <p:spPr>
          <a:xfrm>
            <a:off x="548201" y="-408657"/>
            <a:ext cx="601440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
        <p:nvSpPr>
          <p:cNvPr id="3" name="Rectangle 2"/>
          <p:cNvSpPr/>
          <p:nvPr/>
        </p:nvSpPr>
        <p:spPr>
          <a:xfrm>
            <a:off x="200563" y="1697080"/>
            <a:ext cx="415875" cy="523220"/>
          </a:xfrm>
          <a:prstGeom prst="rect">
            <a:avLst/>
          </a:prstGeom>
          <a:noFill/>
          <a:ln>
            <a:noFill/>
          </a:ln>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1</a:t>
            </a:r>
            <a:endParaRPr lang="en-US"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18" name="Rectangle 17"/>
          <p:cNvSpPr/>
          <p:nvPr/>
        </p:nvSpPr>
        <p:spPr>
          <a:xfrm>
            <a:off x="213263" y="2306680"/>
            <a:ext cx="415875" cy="523220"/>
          </a:xfrm>
          <a:prstGeom prst="rect">
            <a:avLst/>
          </a:prstGeom>
          <a:noFill/>
          <a:ln>
            <a:noFill/>
          </a:ln>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2</a:t>
            </a:r>
            <a:endParaRPr lang="en-US"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21" name="Rectangle 20"/>
          <p:cNvSpPr/>
          <p:nvPr/>
        </p:nvSpPr>
        <p:spPr>
          <a:xfrm>
            <a:off x="251363" y="2840080"/>
            <a:ext cx="415875" cy="523220"/>
          </a:xfrm>
          <a:prstGeom prst="rect">
            <a:avLst/>
          </a:prstGeom>
          <a:noFill/>
          <a:ln>
            <a:noFill/>
          </a:ln>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3</a:t>
            </a:r>
            <a:endParaRPr lang="en-US"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
        <p:nvSpPr>
          <p:cNvPr id="22" name="Rectangle 21"/>
          <p:cNvSpPr/>
          <p:nvPr/>
        </p:nvSpPr>
        <p:spPr>
          <a:xfrm>
            <a:off x="264063" y="3475080"/>
            <a:ext cx="415875" cy="523220"/>
          </a:xfrm>
          <a:prstGeom prst="rect">
            <a:avLst/>
          </a:prstGeom>
          <a:noFill/>
          <a:ln>
            <a:noFill/>
          </a:ln>
        </p:spPr>
        <p:txBody>
          <a:bodyPr wrap="square" lIns="91440" tIns="45720" rIns="91440" bIns="45720">
            <a:spAutoFit/>
            <a:scene3d>
              <a:camera prst="orthographicFront"/>
              <a:lightRig rig="glow" dir="tl">
                <a:rot lat="0" lon="0" rev="5400000"/>
              </a:lightRig>
            </a:scene3d>
            <a:sp3d contourW="12700">
              <a:bevelT w="25400" h="25400"/>
              <a:contourClr>
                <a:schemeClr val="accent6">
                  <a:shade val="73000"/>
                </a:schemeClr>
              </a:contourClr>
            </a:sp3d>
          </a:bodyPr>
          <a:lstStyle/>
          <a:p>
            <a:pPr algn="ctr"/>
            <a:r>
              <a:rPr lang="en-US" sz="2800" b="1" dirty="0" smtClean="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4</a:t>
            </a:r>
            <a:endParaRPr lang="en-US"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body" idx="1"/>
          </p:nvPr>
        </p:nvSpPr>
        <p:spPr>
          <a:xfrm>
            <a:off x="880180" y="1286938"/>
            <a:ext cx="4185600" cy="3693600"/>
          </a:xfrm>
          <a:prstGeom prst="rect">
            <a:avLst/>
          </a:prstGeom>
        </p:spPr>
        <p:txBody>
          <a:bodyPr spcFirstLastPara="1" wrap="square" lIns="0" tIns="0" rIns="0" bIns="0" anchor="t" anchorCtr="0">
            <a:noAutofit/>
          </a:bodyPr>
          <a:lstStyle/>
          <a:p>
            <a:pPr marL="0" indent="0">
              <a:lnSpc>
                <a:spcPct val="114999"/>
              </a:lnSpc>
              <a:buNone/>
            </a:pPr>
            <a:r>
              <a:rPr lang="en">
                <a:solidFill>
                  <a:srgbClr val="FFFFFF"/>
                </a:solidFill>
              </a:rPr>
              <a:t>"Visualization and simulation bring education to life."</a:t>
            </a:r>
          </a:p>
          <a:p>
            <a:pPr marL="171450" indent="-171450" algn="ctr">
              <a:lnSpc>
                <a:spcPct val="114999"/>
              </a:lnSpc>
              <a:buFont typeface="Calibri"/>
              <a:buChar char="-"/>
            </a:pPr>
            <a:r>
              <a:rPr lang="en" sz="1200">
                <a:solidFill>
                  <a:srgbClr val="D1D5DB"/>
                </a:solidFill>
              </a:rPr>
              <a:t>Neil deGrasse Tyson (Astrophysicist)</a:t>
            </a:r>
            <a:endParaRPr lang="en" sz="1200"/>
          </a:p>
        </p:txBody>
      </p:sp>
      <p:sp>
        <p:nvSpPr>
          <p:cNvPr id="89" name="Google Shape;89;p1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pic>
        <p:nvPicPr>
          <p:cNvPr id="3" name="Picture 2" descr="C:\Users\smahm\Desktop\favicon.png">
            <a:extLst>
              <a:ext uri="{FF2B5EF4-FFF2-40B4-BE49-F238E27FC236}">
                <a16:creationId xmlns="" xmlns:a16="http://schemas.microsoft.com/office/drawing/2014/main" id="{5B522688-D412-DEEF-121D-564E9A5923D2}"/>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5" name="Google Shape;71;p14">
            <a:extLst>
              <a:ext uri="{FF2B5EF4-FFF2-40B4-BE49-F238E27FC236}">
                <a16:creationId xmlns="" xmlns:a16="http://schemas.microsoft.com/office/drawing/2014/main" id="{A142C6BB-36D8-904F-4FC6-701CCD440625}"/>
              </a:ext>
            </a:extLst>
          </p:cNvPr>
          <p:cNvSpPr txBox="1">
            <a:spLocks/>
          </p:cNvSpPr>
          <p:nvPr/>
        </p:nvSpPr>
        <p:spPr>
          <a:xfrm>
            <a:off x="548201" y="-408657"/>
            <a:ext cx="6014400" cy="857400"/>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2" name="Google Shape;332;p3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pic>
        <p:nvPicPr>
          <p:cNvPr id="7" name="Picture 6"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9"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
        <p:nvSpPr>
          <p:cNvPr id="11" name="Google Shape;94;p17">
            <a:extLst>
              <a:ext uri="{FF2B5EF4-FFF2-40B4-BE49-F238E27FC236}">
                <a16:creationId xmlns="" xmlns:a16="http://schemas.microsoft.com/office/drawing/2014/main" id="{3BE106F4-126F-D036-307A-D7C66A986826}"/>
              </a:ext>
            </a:extLst>
          </p:cNvPr>
          <p:cNvSpPr txBox="1">
            <a:spLocks/>
          </p:cNvSpPr>
          <p:nvPr/>
        </p:nvSpPr>
        <p:spPr>
          <a:xfrm>
            <a:off x="545621" y="753776"/>
            <a:ext cx="4468776" cy="534385"/>
          </a:xfrm>
          <a:prstGeom prst="rect">
            <a:avLst/>
          </a:prstGeom>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400" b="1">
                <a:solidFill>
                  <a:schemeClr val="bg1"/>
                </a:solidFill>
                <a:latin typeface="Lexend Deca"/>
              </a:rPr>
              <a:t>Research Questions</a:t>
            </a:r>
            <a:endParaRPr lang="en-US" sz="3400" b="1">
              <a:solidFill>
                <a:schemeClr val="bg1"/>
              </a:solidFill>
              <a:latin typeface="Lexend Deca"/>
            </a:endParaRPr>
          </a:p>
        </p:txBody>
      </p:sp>
      <p:sp>
        <p:nvSpPr>
          <p:cNvPr id="12" name="TextBox 11">
            <a:extLst>
              <a:ext uri="{FF2B5EF4-FFF2-40B4-BE49-F238E27FC236}">
                <a16:creationId xmlns="" xmlns:a16="http://schemas.microsoft.com/office/drawing/2014/main" id="{F03B4EF0-5467-4610-0A11-3323DCAC09C8}"/>
              </a:ext>
            </a:extLst>
          </p:cNvPr>
          <p:cNvSpPr txBox="1"/>
          <p:nvPr/>
        </p:nvSpPr>
        <p:spPr>
          <a:xfrm>
            <a:off x="454527" y="1363859"/>
            <a:ext cx="5416356"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v"/>
            </a:pPr>
            <a:r>
              <a:rPr lang="en-US" b="1" dirty="0" smtClean="0">
                <a:solidFill>
                  <a:schemeClr val="bg1"/>
                </a:solidFill>
                <a:latin typeface="Lexend Deca"/>
                <a:cs typeface="Times New Roman"/>
              </a:rPr>
              <a:t>Is the interactive circuit learning app effective in improving student engagement and understanding of circuit theory concepts?</a:t>
            </a:r>
          </a:p>
          <a:p>
            <a:pPr marL="342900" indent="-342900" algn="just"/>
            <a:endParaRPr lang="en-US" b="1" dirty="0" smtClean="0">
              <a:solidFill>
                <a:schemeClr val="bg1"/>
              </a:solidFill>
              <a:latin typeface="Lexend Deca"/>
              <a:cs typeface="Times New Roman"/>
            </a:endParaRPr>
          </a:p>
          <a:p>
            <a:pPr marL="342900" indent="-342900" algn="just">
              <a:buFont typeface="Wingdings"/>
              <a:buChar char="v"/>
            </a:pPr>
            <a:r>
              <a:rPr lang="en-US" b="1" dirty="0" smtClean="0">
                <a:solidFill>
                  <a:schemeClr val="bg1"/>
                </a:solidFill>
                <a:latin typeface="Lexend Deca"/>
                <a:cs typeface="Times New Roman"/>
              </a:rPr>
              <a:t>How do 3D model simulations in the app contribute to the visualization and comprehension of abstract circuit principles?</a:t>
            </a:r>
          </a:p>
          <a:p>
            <a:pPr marL="342900" indent="-342900" algn="just">
              <a:buFont typeface="Wingdings"/>
              <a:buChar char="v"/>
            </a:pPr>
            <a:endParaRPr lang="en-US" b="1" dirty="0" smtClean="0">
              <a:solidFill>
                <a:schemeClr val="bg1"/>
              </a:solidFill>
              <a:latin typeface="Lexend Deca"/>
              <a:cs typeface="Times New Roman"/>
            </a:endParaRPr>
          </a:p>
          <a:p>
            <a:pPr marL="342900" indent="-342900" algn="just">
              <a:buFont typeface="Wingdings"/>
              <a:buChar char="v"/>
            </a:pPr>
            <a:r>
              <a:rPr lang="en-US" b="1" dirty="0" smtClean="0">
                <a:solidFill>
                  <a:schemeClr val="bg1"/>
                </a:solidFill>
                <a:latin typeface="Lexend Deca"/>
                <a:cs typeface="Times New Roman"/>
              </a:rPr>
              <a:t>What is the usability of the app, and how does its user interface affect the learning experience?</a:t>
            </a:r>
          </a:p>
          <a:p>
            <a:pPr marL="342900" indent="-342900" algn="just">
              <a:buFont typeface="Wingdings"/>
              <a:buChar char="v"/>
            </a:pPr>
            <a:endParaRPr lang="en-US" b="1" dirty="0" smtClean="0">
              <a:solidFill>
                <a:schemeClr val="bg1"/>
              </a:solidFill>
              <a:latin typeface="Lexend Deca"/>
              <a:cs typeface="Times New Roman"/>
            </a:endParaRPr>
          </a:p>
          <a:p>
            <a:pPr marL="342900" indent="-342900" algn="just">
              <a:buFont typeface="Wingdings"/>
              <a:buChar char="v"/>
            </a:pPr>
            <a:r>
              <a:rPr lang="en-US" b="1" dirty="0" smtClean="0">
                <a:solidFill>
                  <a:schemeClr val="bg1"/>
                </a:solidFill>
                <a:latin typeface="Lexend Deca"/>
                <a:cs typeface="Times New Roman"/>
              </a:rPr>
              <a:t>How do teachers perceive the app's potential as a supplementary tool for circuit theory education?</a:t>
            </a:r>
          </a:p>
          <a:p>
            <a:pPr marL="342900" indent="-342900" algn="just">
              <a:buFont typeface="Wingdings"/>
              <a:buChar char="v"/>
            </a:pPr>
            <a:endParaRPr lang="en-US" b="1" dirty="0" smtClean="0">
              <a:solidFill>
                <a:schemeClr val="bg1"/>
              </a:solidFill>
              <a:latin typeface="Lexend Deca"/>
              <a:cs typeface="Times New Roman"/>
            </a:endParaRPr>
          </a:p>
          <a:p>
            <a:pPr marL="342900" indent="-342900" algn="just">
              <a:buFont typeface="Wingdings"/>
              <a:buChar char="v"/>
            </a:pPr>
            <a:r>
              <a:rPr lang="en-US" b="1" dirty="0" smtClean="0">
                <a:solidFill>
                  <a:schemeClr val="bg1"/>
                </a:solidFill>
                <a:latin typeface="Lexend Deca"/>
                <a:cs typeface="Times New Roman"/>
              </a:rPr>
              <a:t>What are the areas for improvement in the app's content and functionality based on user feedback?</a:t>
            </a:r>
          </a:p>
          <a:p>
            <a:pPr marL="457200" indent="-457200" algn="l"/>
            <a:endParaRPr lang="en-US" sz="2800" b="1" dirty="0">
              <a:solidFill>
                <a:schemeClr val="bg1"/>
              </a:solidFill>
              <a:latin typeface="Lexend Dec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2" name="Google Shape;332;p3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pic>
        <p:nvPicPr>
          <p:cNvPr id="7" name="Picture 6"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9"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
        <p:nvSpPr>
          <p:cNvPr id="11" name="Google Shape;94;p17">
            <a:extLst>
              <a:ext uri="{FF2B5EF4-FFF2-40B4-BE49-F238E27FC236}">
                <a16:creationId xmlns="" xmlns:a16="http://schemas.microsoft.com/office/drawing/2014/main" id="{3BE106F4-126F-D036-307A-D7C66A986826}"/>
              </a:ext>
            </a:extLst>
          </p:cNvPr>
          <p:cNvSpPr txBox="1">
            <a:spLocks/>
          </p:cNvSpPr>
          <p:nvPr/>
        </p:nvSpPr>
        <p:spPr>
          <a:xfrm>
            <a:off x="545621" y="753776"/>
            <a:ext cx="4468776" cy="534385"/>
          </a:xfrm>
          <a:prstGeom prst="rect">
            <a:avLst/>
          </a:prstGeom>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3400" b="1">
                <a:solidFill>
                  <a:schemeClr val="bg1"/>
                </a:solidFill>
                <a:latin typeface="Lexend Deca"/>
              </a:rPr>
              <a:t>Objectives</a:t>
            </a:r>
            <a:endParaRPr lang="en-US" sz="3400" b="1">
              <a:solidFill>
                <a:schemeClr val="bg1"/>
              </a:solidFill>
              <a:latin typeface="Lexend Deca"/>
            </a:endParaRPr>
          </a:p>
        </p:txBody>
      </p:sp>
      <p:sp>
        <p:nvSpPr>
          <p:cNvPr id="12" name="TextBox 11">
            <a:extLst>
              <a:ext uri="{FF2B5EF4-FFF2-40B4-BE49-F238E27FC236}">
                <a16:creationId xmlns="" xmlns:a16="http://schemas.microsoft.com/office/drawing/2014/main" id="{F03B4EF0-5467-4610-0A11-3323DCAC09C8}"/>
              </a:ext>
            </a:extLst>
          </p:cNvPr>
          <p:cNvSpPr txBox="1"/>
          <p:nvPr/>
        </p:nvSpPr>
        <p:spPr>
          <a:xfrm>
            <a:off x="454527" y="1450315"/>
            <a:ext cx="5416356"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buFont typeface="Wingdings"/>
              <a:buChar char="v"/>
            </a:pPr>
            <a:r>
              <a:rPr lang="en-US" sz="1200" b="1" dirty="0" smtClean="0">
                <a:solidFill>
                  <a:schemeClr val="bg1"/>
                </a:solidFill>
                <a:latin typeface="Lexend Deca"/>
                <a:cs typeface="Times New Roman"/>
              </a:rPr>
              <a:t>To evaluate the app's impact on student engagement and understanding of circuit theory concepts.</a:t>
            </a:r>
          </a:p>
          <a:p>
            <a:pPr marL="342900" indent="-342900" algn="just"/>
            <a:endParaRPr lang="en-US" sz="1200" b="1" dirty="0" smtClean="0">
              <a:solidFill>
                <a:schemeClr val="bg1"/>
              </a:solidFill>
              <a:latin typeface="Lexend Deca"/>
              <a:cs typeface="Times New Roman"/>
            </a:endParaRPr>
          </a:p>
          <a:p>
            <a:pPr marL="342900" indent="-342900" algn="just">
              <a:buFont typeface="Wingdings"/>
              <a:buChar char="v"/>
            </a:pPr>
            <a:r>
              <a:rPr lang="en-US" sz="1200" b="1" dirty="0" smtClean="0">
                <a:solidFill>
                  <a:schemeClr val="bg1"/>
                </a:solidFill>
                <a:latin typeface="Lexend Deca"/>
                <a:cs typeface="Times New Roman"/>
              </a:rPr>
              <a:t>To investigate the influence of 3D model simulations on students' visualization and comprehension of circuit principles within the app.</a:t>
            </a:r>
          </a:p>
          <a:p>
            <a:pPr marL="342900" indent="-342900" algn="just"/>
            <a:endParaRPr lang="en-US" sz="1200" b="1" dirty="0" smtClean="0">
              <a:solidFill>
                <a:schemeClr val="bg1"/>
              </a:solidFill>
              <a:latin typeface="Lexend Deca"/>
              <a:cs typeface="Times New Roman"/>
            </a:endParaRPr>
          </a:p>
          <a:p>
            <a:pPr marL="342900" indent="-342900" algn="just">
              <a:buFont typeface="Wingdings"/>
              <a:buChar char="v"/>
            </a:pPr>
            <a:r>
              <a:rPr lang="en-US" sz="1200" b="1" dirty="0" smtClean="0">
                <a:solidFill>
                  <a:schemeClr val="bg1"/>
                </a:solidFill>
                <a:latin typeface="Lexend Deca"/>
                <a:cs typeface="Times New Roman"/>
              </a:rPr>
              <a:t>To assess the usability of the 'Sparked' app and understand how its user interface affects the learning experience.</a:t>
            </a:r>
          </a:p>
          <a:p>
            <a:pPr marL="342900" indent="-342900" algn="just"/>
            <a:endParaRPr lang="en-US" sz="1200" b="1" dirty="0" smtClean="0">
              <a:solidFill>
                <a:schemeClr val="bg1"/>
              </a:solidFill>
              <a:latin typeface="Lexend Deca"/>
              <a:cs typeface="Times New Roman"/>
            </a:endParaRPr>
          </a:p>
          <a:p>
            <a:pPr marL="342900" indent="-342900" algn="just">
              <a:buFont typeface="Wingdings"/>
              <a:buChar char="v"/>
            </a:pPr>
            <a:r>
              <a:rPr lang="en-US" sz="1200" b="1" dirty="0" smtClean="0">
                <a:solidFill>
                  <a:schemeClr val="bg1"/>
                </a:solidFill>
                <a:latin typeface="Lexend Deca"/>
                <a:cs typeface="Times New Roman"/>
              </a:rPr>
              <a:t>To gather insights into teachers' perceptions of the app's potential as a supplementary teaching tool for circuit theory.</a:t>
            </a:r>
          </a:p>
          <a:p>
            <a:pPr marL="342900" indent="-342900" algn="just"/>
            <a:endParaRPr lang="en-US" sz="1200" b="1" dirty="0" smtClean="0">
              <a:solidFill>
                <a:schemeClr val="bg1"/>
              </a:solidFill>
              <a:latin typeface="Lexend Deca"/>
              <a:cs typeface="Times New Roman"/>
            </a:endParaRPr>
          </a:p>
          <a:p>
            <a:pPr marL="342900" indent="-342900" algn="just">
              <a:buFont typeface="Wingdings"/>
              <a:buChar char="v"/>
            </a:pPr>
            <a:r>
              <a:rPr lang="en-US" sz="1200" b="1" dirty="0" smtClean="0">
                <a:solidFill>
                  <a:schemeClr val="bg1"/>
                </a:solidFill>
                <a:latin typeface="Lexend Deca"/>
                <a:cs typeface="Times New Roman"/>
              </a:rPr>
              <a:t>To identify areas for improvement in the app's content and functionality based on user feedback and recommendations.</a:t>
            </a:r>
          </a:p>
          <a:p>
            <a:pPr marL="342900" indent="-342900" algn="just"/>
            <a:endParaRPr lang="en-US" sz="1200" b="1" dirty="0">
              <a:solidFill>
                <a:schemeClr val="bg1"/>
              </a:solidFill>
              <a:latin typeface="Lexend Deca"/>
              <a:cs typeface="Times New Roman"/>
            </a:endParaRPr>
          </a:p>
        </p:txBody>
      </p:sp>
    </p:spTree>
    <p:extLst>
      <p:ext uri="{BB962C8B-B14F-4D97-AF65-F5344CB8AC3E}">
        <p14:creationId xmlns="" xmlns:p14="http://schemas.microsoft.com/office/powerpoint/2010/main" val="9801338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pic>
        <p:nvPicPr>
          <p:cNvPr id="110" name="Google Shape;110;p19"/>
          <p:cNvPicPr preferRelativeResize="0"/>
          <p:nvPr/>
        </p:nvPicPr>
        <p:blipFill>
          <a:blip r:embed="rId3">
            <a:alphaModFix/>
          </a:blip>
          <a:stretch>
            <a:fillRect/>
          </a:stretch>
        </p:blipFill>
        <p:spPr>
          <a:xfrm>
            <a:off x="5210416" y="2211062"/>
            <a:ext cx="2017495" cy="1209250"/>
          </a:xfrm>
          <a:prstGeom prst="rect">
            <a:avLst/>
          </a:prstGeom>
          <a:noFill/>
          <a:ln>
            <a:noFill/>
          </a:ln>
        </p:spPr>
      </p:pic>
      <p:sp>
        <p:nvSpPr>
          <p:cNvPr id="111" name="Google Shape;111;p19"/>
          <p:cNvSpPr txBox="1">
            <a:spLocks noGrp="1"/>
          </p:cNvSpPr>
          <p:nvPr>
            <p:ph type="ctrTitle" idx="4294967295"/>
          </p:nvPr>
        </p:nvSpPr>
        <p:spPr>
          <a:xfrm>
            <a:off x="664234" y="1647382"/>
            <a:ext cx="3386615" cy="654289"/>
          </a:xfrm>
          <a:prstGeom prst="rect">
            <a:avLst/>
          </a:prstGeom>
        </p:spPr>
        <p:txBody>
          <a:bodyPr spcFirstLastPara="1" wrap="square" lIns="0" tIns="0" rIns="0" bIns="0" anchor="t" anchorCtr="0">
            <a:noAutofit/>
          </a:bodyPr>
          <a:lstStyle/>
          <a:p>
            <a:pPr marL="0" lvl="0" indent="0" algn="l">
              <a:spcBef>
                <a:spcPts val="0"/>
              </a:spcBef>
              <a:spcAft>
                <a:spcPts val="0"/>
              </a:spcAft>
              <a:buNone/>
            </a:pPr>
            <a:r>
              <a:rPr lang="en" sz="4000"/>
              <a:t>Methodology</a:t>
            </a:r>
            <a:endParaRPr lang="en-US" sz="1800"/>
          </a:p>
        </p:txBody>
      </p:sp>
      <p:sp>
        <p:nvSpPr>
          <p:cNvPr id="112" name="Google Shape;112;p19"/>
          <p:cNvSpPr txBox="1">
            <a:spLocks noGrp="1"/>
          </p:cNvSpPr>
          <p:nvPr>
            <p:ph type="subTitle" idx="4294967295"/>
          </p:nvPr>
        </p:nvSpPr>
        <p:spPr>
          <a:xfrm>
            <a:off x="707366" y="2301671"/>
            <a:ext cx="3332700" cy="1097400"/>
          </a:xfrm>
          <a:prstGeom prst="rect">
            <a:avLst/>
          </a:prstGeom>
        </p:spPr>
        <p:txBody>
          <a:bodyPr spcFirstLastPara="1" wrap="square" lIns="0" tIns="0" rIns="0" bIns="0" anchor="t" anchorCtr="0">
            <a:noAutofit/>
          </a:bodyPr>
          <a:lstStyle/>
          <a:p>
            <a:pPr marL="342900">
              <a:lnSpc>
                <a:spcPct val="114999"/>
              </a:lnSpc>
              <a:buAutoNum type="romanLcPeriod"/>
            </a:pPr>
            <a:r>
              <a:rPr lang="en" sz="1800"/>
              <a:t>User Interface Design.</a:t>
            </a:r>
          </a:p>
          <a:p>
            <a:pPr marL="342900">
              <a:lnSpc>
                <a:spcPct val="114999"/>
              </a:lnSpc>
              <a:buAutoNum type="romanLcPeriod"/>
            </a:pPr>
            <a:r>
              <a:rPr lang="en" sz="1800"/>
              <a:t>3D Models Design.</a:t>
            </a:r>
          </a:p>
          <a:p>
            <a:pPr marL="342900">
              <a:lnSpc>
                <a:spcPct val="114999"/>
              </a:lnSpc>
              <a:buAutoNum type="romanLcPeriod"/>
            </a:pPr>
            <a:r>
              <a:rPr lang="en" sz="1800"/>
              <a:t>Application Development.</a:t>
            </a:r>
          </a:p>
        </p:txBody>
      </p:sp>
      <p:sp>
        <p:nvSpPr>
          <p:cNvPr id="113" name="Google Shape;113;p1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pic>
        <p:nvPicPr>
          <p:cNvPr id="114" name="Google Shape;114;p19"/>
          <p:cNvPicPr preferRelativeResize="0"/>
          <p:nvPr/>
        </p:nvPicPr>
        <p:blipFill>
          <a:blip r:embed="rId4">
            <a:alphaModFix/>
          </a:blip>
          <a:stretch>
            <a:fillRect/>
          </a:stretch>
        </p:blipFill>
        <p:spPr>
          <a:xfrm>
            <a:off x="4386955" y="1434470"/>
            <a:ext cx="481900" cy="555275"/>
          </a:xfrm>
          <a:prstGeom prst="rect">
            <a:avLst/>
          </a:prstGeom>
          <a:noFill/>
          <a:ln>
            <a:noFill/>
          </a:ln>
        </p:spPr>
      </p:pic>
      <p:pic>
        <p:nvPicPr>
          <p:cNvPr id="115" name="Google Shape;115;p19"/>
          <p:cNvPicPr preferRelativeResize="0"/>
          <p:nvPr/>
        </p:nvPicPr>
        <p:blipFill>
          <a:blip r:embed="rId5">
            <a:alphaModFix/>
          </a:blip>
          <a:stretch>
            <a:fillRect/>
          </a:stretch>
        </p:blipFill>
        <p:spPr>
          <a:xfrm>
            <a:off x="4569684" y="1556163"/>
            <a:ext cx="481900" cy="555275"/>
          </a:xfrm>
          <a:prstGeom prst="rect">
            <a:avLst/>
          </a:prstGeom>
          <a:noFill/>
          <a:ln>
            <a:noFill/>
          </a:ln>
        </p:spPr>
      </p:pic>
      <p:pic>
        <p:nvPicPr>
          <p:cNvPr id="116" name="Google Shape;116;p19"/>
          <p:cNvPicPr preferRelativeResize="0"/>
          <p:nvPr/>
        </p:nvPicPr>
        <p:blipFill>
          <a:blip r:embed="rId6">
            <a:alphaModFix/>
          </a:blip>
          <a:stretch>
            <a:fillRect/>
          </a:stretch>
        </p:blipFill>
        <p:spPr>
          <a:xfrm>
            <a:off x="5654025" y="2170138"/>
            <a:ext cx="1111472" cy="961913"/>
          </a:xfrm>
          <a:prstGeom prst="rect">
            <a:avLst/>
          </a:prstGeom>
          <a:noFill/>
          <a:ln>
            <a:noFill/>
          </a:ln>
        </p:spPr>
      </p:pic>
      <p:pic>
        <p:nvPicPr>
          <p:cNvPr id="117" name="Google Shape;117;p19"/>
          <p:cNvPicPr preferRelativeResize="0"/>
          <p:nvPr/>
        </p:nvPicPr>
        <p:blipFill>
          <a:blip r:embed="rId6">
            <a:alphaModFix/>
          </a:blip>
          <a:stretch>
            <a:fillRect/>
          </a:stretch>
        </p:blipFill>
        <p:spPr>
          <a:xfrm>
            <a:off x="5654025" y="1777572"/>
            <a:ext cx="1111472" cy="961913"/>
          </a:xfrm>
          <a:prstGeom prst="rect">
            <a:avLst/>
          </a:prstGeom>
          <a:noFill/>
          <a:ln>
            <a:noFill/>
          </a:ln>
        </p:spPr>
      </p:pic>
      <p:pic>
        <p:nvPicPr>
          <p:cNvPr id="119" name="Google Shape;119;p19"/>
          <p:cNvPicPr preferRelativeResize="0"/>
          <p:nvPr/>
        </p:nvPicPr>
        <p:blipFill>
          <a:blip r:embed="rId7">
            <a:alphaModFix/>
          </a:blip>
          <a:stretch>
            <a:fillRect/>
          </a:stretch>
        </p:blipFill>
        <p:spPr>
          <a:xfrm>
            <a:off x="7380302" y="1666762"/>
            <a:ext cx="848475" cy="555275"/>
          </a:xfrm>
          <a:prstGeom prst="rect">
            <a:avLst/>
          </a:prstGeom>
          <a:noFill/>
          <a:ln>
            <a:noFill/>
          </a:ln>
        </p:spPr>
      </p:pic>
      <p:cxnSp>
        <p:nvCxnSpPr>
          <p:cNvPr id="120" name="Google Shape;120;p19"/>
          <p:cNvCxnSpPr/>
          <p:nvPr/>
        </p:nvCxnSpPr>
        <p:spPr>
          <a:xfrm>
            <a:off x="6958825" y="3257288"/>
            <a:ext cx="664200" cy="383400"/>
          </a:xfrm>
          <a:prstGeom prst="straightConnector1">
            <a:avLst/>
          </a:prstGeom>
          <a:noFill/>
          <a:ln w="19050" cap="rnd" cmpd="sng">
            <a:solidFill>
              <a:schemeClr val="accent3"/>
            </a:solidFill>
            <a:prstDash val="dash"/>
            <a:round/>
            <a:headEnd type="none" w="med" len="med"/>
            <a:tailEnd type="none" w="med" len="med"/>
          </a:ln>
        </p:spPr>
      </p:cxnSp>
      <p:cxnSp>
        <p:nvCxnSpPr>
          <p:cNvPr id="121" name="Google Shape;121;p19"/>
          <p:cNvCxnSpPr/>
          <p:nvPr/>
        </p:nvCxnSpPr>
        <p:spPr>
          <a:xfrm>
            <a:off x="4910575" y="2035238"/>
            <a:ext cx="559800" cy="323100"/>
          </a:xfrm>
          <a:prstGeom prst="straightConnector1">
            <a:avLst/>
          </a:prstGeom>
          <a:noFill/>
          <a:ln w="19050" cap="rnd" cmpd="sng">
            <a:solidFill>
              <a:schemeClr val="accent6"/>
            </a:solidFill>
            <a:prstDash val="dash"/>
            <a:round/>
            <a:headEnd type="none" w="med" len="med"/>
            <a:tailEnd type="none" w="med" len="med"/>
          </a:ln>
        </p:spPr>
      </p:cxnSp>
      <p:pic>
        <p:nvPicPr>
          <p:cNvPr id="122" name="Google Shape;122;p19"/>
          <p:cNvPicPr preferRelativeResize="0"/>
          <p:nvPr/>
        </p:nvPicPr>
        <p:blipFill>
          <a:blip r:embed="rId8">
            <a:alphaModFix/>
          </a:blip>
          <a:stretch>
            <a:fillRect/>
          </a:stretch>
        </p:blipFill>
        <p:spPr>
          <a:xfrm>
            <a:off x="7703038" y="1370716"/>
            <a:ext cx="190716" cy="555275"/>
          </a:xfrm>
          <a:prstGeom prst="rect">
            <a:avLst/>
          </a:prstGeom>
          <a:noFill/>
          <a:ln>
            <a:noFill/>
          </a:ln>
        </p:spPr>
      </p:pic>
      <p:cxnSp>
        <p:nvCxnSpPr>
          <p:cNvPr id="123" name="Google Shape;123;p19"/>
          <p:cNvCxnSpPr/>
          <p:nvPr/>
        </p:nvCxnSpPr>
        <p:spPr>
          <a:xfrm flipH="1">
            <a:off x="4637575" y="3181088"/>
            <a:ext cx="936600" cy="540900"/>
          </a:xfrm>
          <a:prstGeom prst="straightConnector1">
            <a:avLst/>
          </a:prstGeom>
          <a:noFill/>
          <a:ln w="19050" cap="rnd" cmpd="sng">
            <a:solidFill>
              <a:schemeClr val="accent3"/>
            </a:solidFill>
            <a:prstDash val="dash"/>
            <a:round/>
            <a:headEnd type="none" w="med" len="med"/>
            <a:tailEnd type="none" w="med" len="med"/>
          </a:ln>
        </p:spPr>
      </p:cxnSp>
      <p:cxnSp>
        <p:nvCxnSpPr>
          <p:cNvPr id="124" name="Google Shape;124;p19"/>
          <p:cNvCxnSpPr/>
          <p:nvPr/>
        </p:nvCxnSpPr>
        <p:spPr>
          <a:xfrm flipH="1">
            <a:off x="6910225" y="2111438"/>
            <a:ext cx="559800" cy="323100"/>
          </a:xfrm>
          <a:prstGeom prst="straightConnector1">
            <a:avLst/>
          </a:prstGeom>
          <a:noFill/>
          <a:ln w="19050" cap="rnd" cmpd="sng">
            <a:solidFill>
              <a:schemeClr val="accent1"/>
            </a:solidFill>
            <a:prstDash val="dash"/>
            <a:round/>
            <a:headEnd type="none" w="med" len="med"/>
            <a:tailEnd type="none" w="med" len="med"/>
          </a:ln>
        </p:spPr>
      </p:cxnSp>
      <p:pic>
        <p:nvPicPr>
          <p:cNvPr id="125" name="Google Shape;125;p19"/>
          <p:cNvPicPr preferRelativeResize="0"/>
          <p:nvPr/>
        </p:nvPicPr>
        <p:blipFill>
          <a:blip r:embed="rId9">
            <a:alphaModFix/>
          </a:blip>
          <a:stretch>
            <a:fillRect/>
          </a:stretch>
        </p:blipFill>
        <p:spPr>
          <a:xfrm>
            <a:off x="4422863" y="2732996"/>
            <a:ext cx="1019495" cy="1122001"/>
          </a:xfrm>
          <a:prstGeom prst="rect">
            <a:avLst/>
          </a:prstGeom>
          <a:noFill/>
          <a:ln>
            <a:noFill/>
          </a:ln>
        </p:spPr>
      </p:pic>
      <p:pic>
        <p:nvPicPr>
          <p:cNvPr id="126" name="Google Shape;126;p19"/>
          <p:cNvPicPr preferRelativeResize="0"/>
          <p:nvPr/>
        </p:nvPicPr>
        <p:blipFill>
          <a:blip r:embed="rId10">
            <a:alphaModFix/>
          </a:blip>
          <a:stretch>
            <a:fillRect/>
          </a:stretch>
        </p:blipFill>
        <p:spPr>
          <a:xfrm>
            <a:off x="7660716" y="3287994"/>
            <a:ext cx="430025" cy="599150"/>
          </a:xfrm>
          <a:prstGeom prst="rect">
            <a:avLst/>
          </a:prstGeom>
          <a:noFill/>
          <a:ln>
            <a:noFill/>
          </a:ln>
        </p:spPr>
      </p:pic>
      <p:pic>
        <p:nvPicPr>
          <p:cNvPr id="127" name="Google Shape;127;p19"/>
          <p:cNvPicPr preferRelativeResize="0"/>
          <p:nvPr/>
        </p:nvPicPr>
        <p:blipFill>
          <a:blip r:embed="rId11">
            <a:alphaModFix/>
          </a:blip>
          <a:stretch>
            <a:fillRect/>
          </a:stretch>
        </p:blipFill>
        <p:spPr>
          <a:xfrm>
            <a:off x="8034133" y="3448355"/>
            <a:ext cx="430025" cy="599150"/>
          </a:xfrm>
          <a:prstGeom prst="rect">
            <a:avLst/>
          </a:prstGeom>
          <a:noFill/>
          <a:ln>
            <a:noFill/>
          </a:ln>
        </p:spPr>
      </p:pic>
      <p:pic>
        <p:nvPicPr>
          <p:cNvPr id="3" name="Picture 2" descr="C:\Users\smahm\Desktop\favicon.png">
            <a:extLst>
              <a:ext uri="{FF2B5EF4-FFF2-40B4-BE49-F238E27FC236}">
                <a16:creationId xmlns="" xmlns:a16="http://schemas.microsoft.com/office/drawing/2014/main" id="{76871469-7EC0-65AF-24C6-DF569E8EFAC4}"/>
              </a:ext>
            </a:extLst>
          </p:cNvPr>
          <p:cNvPicPr>
            <a:picLocks noChangeAspect="1" noChangeArrowheads="1"/>
          </p:cNvPicPr>
          <p:nvPr/>
        </p:nvPicPr>
        <p:blipFill>
          <a:blip r:embed="rId12">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5" name="Google Shape;71;p14">
            <a:extLst>
              <a:ext uri="{FF2B5EF4-FFF2-40B4-BE49-F238E27FC236}">
                <a16:creationId xmlns="" xmlns:a16="http://schemas.microsoft.com/office/drawing/2014/main" id="{9FDB148C-8A10-EC5C-08FB-3473FB8165C0}"/>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pic>
        <p:nvPicPr>
          <p:cNvPr id="19" name="Picture 19" descr="A screenshot of a computer&#10;&#10;Description automatically generated">
            <a:extLst>
              <a:ext uri="{FF2B5EF4-FFF2-40B4-BE49-F238E27FC236}">
                <a16:creationId xmlns="" xmlns:a16="http://schemas.microsoft.com/office/drawing/2014/main" id="{990FB826-FCC2-A8C1-F2A0-A54860B5BD07}"/>
              </a:ext>
            </a:extLst>
          </p:cNvPr>
          <p:cNvPicPr>
            <a:picLocks noChangeAspect="1"/>
          </p:cNvPicPr>
          <p:nvPr/>
        </p:nvPicPr>
        <p:blipFill rotWithShape="1">
          <a:blip r:embed="rId3"/>
          <a:srcRect t="12531" r="592" b="262"/>
          <a:stretch/>
        </p:blipFill>
        <p:spPr>
          <a:xfrm>
            <a:off x="3470343" y="707021"/>
            <a:ext cx="1804385" cy="3588415"/>
          </a:xfrm>
          <a:prstGeom prst="rect">
            <a:avLst/>
          </a:prstGeom>
        </p:spPr>
      </p:pic>
      <p:sp>
        <p:nvSpPr>
          <p:cNvPr id="331" name="Google Shape;331;p32"/>
          <p:cNvSpPr txBox="1">
            <a:spLocks noGrp="1"/>
          </p:cNvSpPr>
          <p:nvPr>
            <p:ph type="body" idx="4294967295"/>
          </p:nvPr>
        </p:nvSpPr>
        <p:spPr>
          <a:xfrm>
            <a:off x="-1733" y="1720423"/>
            <a:ext cx="3281728" cy="1724321"/>
          </a:xfrm>
          <a:prstGeom prst="rect">
            <a:avLst/>
          </a:prstGeom>
        </p:spPr>
        <p:txBody>
          <a:bodyPr spcFirstLastPara="1" wrap="square" lIns="0" tIns="0" rIns="0" bIns="0" anchor="ctr" anchorCtr="0">
            <a:noAutofit/>
          </a:bodyPr>
          <a:lstStyle/>
          <a:p>
            <a:pPr marL="0" indent="0" algn="ctr">
              <a:buNone/>
            </a:pPr>
            <a:r>
              <a:rPr lang="en" sz="3200" b="1">
                <a:latin typeface="Lexend Deca"/>
                <a:ea typeface="Lexend Deca"/>
                <a:cs typeface="Lexend Deca"/>
              </a:rPr>
              <a:t>User Interface</a:t>
            </a:r>
            <a:endParaRPr lang="en-US"/>
          </a:p>
          <a:p>
            <a:pPr marL="0" indent="0" algn="ctr">
              <a:lnSpc>
                <a:spcPct val="114999"/>
              </a:lnSpc>
              <a:buNone/>
            </a:pPr>
            <a:r>
              <a:rPr lang="en" sz="3200" b="1">
                <a:latin typeface="Lexend Deca"/>
                <a:cs typeface="Lexend Deca"/>
              </a:rPr>
              <a:t>Design</a:t>
            </a:r>
          </a:p>
        </p:txBody>
      </p:sp>
      <p:sp>
        <p:nvSpPr>
          <p:cNvPr id="332" name="Google Shape;332;p32"/>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grpSp>
        <p:nvGrpSpPr>
          <p:cNvPr id="333" name="Google Shape;333;p32"/>
          <p:cNvGrpSpPr/>
          <p:nvPr/>
        </p:nvGrpSpPr>
        <p:grpSpPr>
          <a:xfrm>
            <a:off x="3440378" y="427487"/>
            <a:ext cx="1860754" cy="4029736"/>
            <a:chOff x="2488168" y="210090"/>
            <a:chExt cx="2525675" cy="5238751"/>
          </a:xfrm>
        </p:grpSpPr>
        <p:sp>
          <p:nvSpPr>
            <p:cNvPr id="334" name="Google Shape;334;p32"/>
            <p:cNvSpPr/>
            <p:nvPr/>
          </p:nvSpPr>
          <p:spPr>
            <a:xfrm>
              <a:off x="2488168" y="210090"/>
              <a:ext cx="2525675" cy="5238751"/>
            </a:xfrm>
            <a:custGeom>
              <a:avLst/>
              <a:gdLst/>
              <a:ahLst/>
              <a:cxnLst/>
              <a:rect l="l" t="t" r="r" b="b"/>
              <a:pathLst>
                <a:path w="101027" h="209550" extrusionOk="0">
                  <a:moveTo>
                    <a:pt x="98629" y="18886"/>
                  </a:moveTo>
                  <a:lnTo>
                    <a:pt x="98629" y="190364"/>
                  </a:lnTo>
                  <a:lnTo>
                    <a:pt x="2398" y="190364"/>
                  </a:lnTo>
                  <a:lnTo>
                    <a:pt x="2398" y="18886"/>
                  </a:lnTo>
                  <a:close/>
                  <a:moveTo>
                    <a:pt x="10343" y="0"/>
                  </a:moveTo>
                  <a:lnTo>
                    <a:pt x="9293" y="75"/>
                  </a:lnTo>
                  <a:lnTo>
                    <a:pt x="8244" y="225"/>
                  </a:lnTo>
                  <a:lnTo>
                    <a:pt x="7270" y="450"/>
                  </a:lnTo>
                  <a:lnTo>
                    <a:pt x="6295" y="824"/>
                  </a:lnTo>
                  <a:lnTo>
                    <a:pt x="5396" y="1274"/>
                  </a:lnTo>
                  <a:lnTo>
                    <a:pt x="4572" y="1799"/>
                  </a:lnTo>
                  <a:lnTo>
                    <a:pt x="3747" y="2398"/>
                  </a:lnTo>
                  <a:lnTo>
                    <a:pt x="2998" y="3073"/>
                  </a:lnTo>
                  <a:lnTo>
                    <a:pt x="2323" y="3747"/>
                  </a:lnTo>
                  <a:lnTo>
                    <a:pt x="1724" y="4572"/>
                  </a:lnTo>
                  <a:lnTo>
                    <a:pt x="1199" y="5396"/>
                  </a:lnTo>
                  <a:lnTo>
                    <a:pt x="824" y="6370"/>
                  </a:lnTo>
                  <a:lnTo>
                    <a:pt x="450" y="7270"/>
                  </a:lnTo>
                  <a:lnTo>
                    <a:pt x="225" y="8319"/>
                  </a:lnTo>
                  <a:lnTo>
                    <a:pt x="0" y="9293"/>
                  </a:lnTo>
                  <a:lnTo>
                    <a:pt x="0" y="10343"/>
                  </a:lnTo>
                  <a:lnTo>
                    <a:pt x="0" y="199207"/>
                  </a:lnTo>
                  <a:lnTo>
                    <a:pt x="0" y="200257"/>
                  </a:lnTo>
                  <a:lnTo>
                    <a:pt x="225" y="201231"/>
                  </a:lnTo>
                  <a:lnTo>
                    <a:pt x="450" y="202280"/>
                  </a:lnTo>
                  <a:lnTo>
                    <a:pt x="824" y="203180"/>
                  </a:lnTo>
                  <a:lnTo>
                    <a:pt x="1199" y="204154"/>
                  </a:lnTo>
                  <a:lnTo>
                    <a:pt x="1724" y="204978"/>
                  </a:lnTo>
                  <a:lnTo>
                    <a:pt x="2323" y="205803"/>
                  </a:lnTo>
                  <a:lnTo>
                    <a:pt x="2998" y="206477"/>
                  </a:lnTo>
                  <a:lnTo>
                    <a:pt x="3747" y="207152"/>
                  </a:lnTo>
                  <a:lnTo>
                    <a:pt x="4572" y="207751"/>
                  </a:lnTo>
                  <a:lnTo>
                    <a:pt x="5396" y="208276"/>
                  </a:lnTo>
                  <a:lnTo>
                    <a:pt x="6295" y="208726"/>
                  </a:lnTo>
                  <a:lnTo>
                    <a:pt x="7270" y="209100"/>
                  </a:lnTo>
                  <a:lnTo>
                    <a:pt x="8244" y="209325"/>
                  </a:lnTo>
                  <a:lnTo>
                    <a:pt x="9293" y="209475"/>
                  </a:lnTo>
                  <a:lnTo>
                    <a:pt x="10343" y="209550"/>
                  </a:lnTo>
                  <a:lnTo>
                    <a:pt x="90610" y="209550"/>
                  </a:lnTo>
                  <a:lnTo>
                    <a:pt x="91659" y="209475"/>
                  </a:lnTo>
                  <a:lnTo>
                    <a:pt x="92708" y="209325"/>
                  </a:lnTo>
                  <a:lnTo>
                    <a:pt x="93682" y="209100"/>
                  </a:lnTo>
                  <a:lnTo>
                    <a:pt x="94657" y="208726"/>
                  </a:lnTo>
                  <a:lnTo>
                    <a:pt x="95556" y="208276"/>
                  </a:lnTo>
                  <a:lnTo>
                    <a:pt x="96455" y="207751"/>
                  </a:lnTo>
                  <a:lnTo>
                    <a:pt x="97205" y="207152"/>
                  </a:lnTo>
                  <a:lnTo>
                    <a:pt x="97954" y="206477"/>
                  </a:lnTo>
                  <a:lnTo>
                    <a:pt x="98629" y="205803"/>
                  </a:lnTo>
                  <a:lnTo>
                    <a:pt x="99228" y="204978"/>
                  </a:lnTo>
                  <a:lnTo>
                    <a:pt x="99753" y="204154"/>
                  </a:lnTo>
                  <a:lnTo>
                    <a:pt x="100203" y="203180"/>
                  </a:lnTo>
                  <a:lnTo>
                    <a:pt x="100577" y="202280"/>
                  </a:lnTo>
                  <a:lnTo>
                    <a:pt x="100802" y="201231"/>
                  </a:lnTo>
                  <a:lnTo>
                    <a:pt x="100952" y="200257"/>
                  </a:lnTo>
                  <a:lnTo>
                    <a:pt x="101027" y="199207"/>
                  </a:lnTo>
                  <a:lnTo>
                    <a:pt x="101027" y="10343"/>
                  </a:lnTo>
                  <a:lnTo>
                    <a:pt x="100952" y="9293"/>
                  </a:lnTo>
                  <a:lnTo>
                    <a:pt x="100802" y="8319"/>
                  </a:lnTo>
                  <a:lnTo>
                    <a:pt x="100577" y="7270"/>
                  </a:lnTo>
                  <a:lnTo>
                    <a:pt x="100203" y="6370"/>
                  </a:lnTo>
                  <a:lnTo>
                    <a:pt x="99753" y="5396"/>
                  </a:lnTo>
                  <a:lnTo>
                    <a:pt x="99228" y="4572"/>
                  </a:lnTo>
                  <a:lnTo>
                    <a:pt x="98629" y="3747"/>
                  </a:lnTo>
                  <a:lnTo>
                    <a:pt x="97954" y="3073"/>
                  </a:lnTo>
                  <a:lnTo>
                    <a:pt x="97205" y="2398"/>
                  </a:lnTo>
                  <a:lnTo>
                    <a:pt x="96455" y="1799"/>
                  </a:lnTo>
                  <a:lnTo>
                    <a:pt x="95556" y="1274"/>
                  </a:lnTo>
                  <a:lnTo>
                    <a:pt x="94657" y="824"/>
                  </a:lnTo>
                  <a:lnTo>
                    <a:pt x="93682" y="450"/>
                  </a:lnTo>
                  <a:lnTo>
                    <a:pt x="92708" y="225"/>
                  </a:lnTo>
                  <a:lnTo>
                    <a:pt x="91659" y="75"/>
                  </a:lnTo>
                  <a:lnTo>
                    <a:pt x="90610" y="0"/>
                  </a:lnTo>
                  <a:close/>
                </a:path>
              </a:pathLst>
            </a:custGeom>
            <a:gradFill>
              <a:gsLst>
                <a:gs pos="0">
                  <a:schemeClr val="accent1"/>
                </a:gs>
                <a:gs pos="100000">
                  <a:schemeClr val="dk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2"/>
            <p:cNvSpPr/>
            <p:nvPr/>
          </p:nvSpPr>
          <p:spPr>
            <a:xfrm>
              <a:off x="3557025" y="5147100"/>
              <a:ext cx="504050" cy="179900"/>
            </a:xfrm>
            <a:custGeom>
              <a:avLst/>
              <a:gdLst/>
              <a:ahLst/>
              <a:cxnLst/>
              <a:rect l="l" t="t" r="r" b="b"/>
              <a:pathLst>
                <a:path w="20162" h="7196" extrusionOk="0">
                  <a:moveTo>
                    <a:pt x="3598" y="0"/>
                  </a:moveTo>
                  <a:lnTo>
                    <a:pt x="2849" y="75"/>
                  </a:lnTo>
                  <a:lnTo>
                    <a:pt x="2174" y="300"/>
                  </a:lnTo>
                  <a:lnTo>
                    <a:pt x="1575" y="600"/>
                  </a:lnTo>
                  <a:lnTo>
                    <a:pt x="1050" y="1050"/>
                  </a:lnTo>
                  <a:lnTo>
                    <a:pt x="600" y="1574"/>
                  </a:lnTo>
                  <a:lnTo>
                    <a:pt x="301" y="2174"/>
                  </a:lnTo>
                  <a:lnTo>
                    <a:pt x="76" y="2848"/>
                  </a:lnTo>
                  <a:lnTo>
                    <a:pt x="1" y="3598"/>
                  </a:lnTo>
                  <a:lnTo>
                    <a:pt x="76" y="4347"/>
                  </a:lnTo>
                  <a:lnTo>
                    <a:pt x="301" y="5022"/>
                  </a:lnTo>
                  <a:lnTo>
                    <a:pt x="600" y="5621"/>
                  </a:lnTo>
                  <a:lnTo>
                    <a:pt x="1050" y="6146"/>
                  </a:lnTo>
                  <a:lnTo>
                    <a:pt x="1575" y="6596"/>
                  </a:lnTo>
                  <a:lnTo>
                    <a:pt x="2174" y="6896"/>
                  </a:lnTo>
                  <a:lnTo>
                    <a:pt x="2849" y="7120"/>
                  </a:lnTo>
                  <a:lnTo>
                    <a:pt x="3598" y="7195"/>
                  </a:lnTo>
                  <a:lnTo>
                    <a:pt x="16639" y="7195"/>
                  </a:lnTo>
                  <a:lnTo>
                    <a:pt x="17313" y="7120"/>
                  </a:lnTo>
                  <a:lnTo>
                    <a:pt x="17988" y="6896"/>
                  </a:lnTo>
                  <a:lnTo>
                    <a:pt x="18587" y="6596"/>
                  </a:lnTo>
                  <a:lnTo>
                    <a:pt x="19112" y="6146"/>
                  </a:lnTo>
                  <a:lnTo>
                    <a:pt x="19562" y="5621"/>
                  </a:lnTo>
                  <a:lnTo>
                    <a:pt x="19861" y="5022"/>
                  </a:lnTo>
                  <a:lnTo>
                    <a:pt x="20086" y="4347"/>
                  </a:lnTo>
                  <a:lnTo>
                    <a:pt x="20161" y="3598"/>
                  </a:lnTo>
                  <a:lnTo>
                    <a:pt x="20086" y="2848"/>
                  </a:lnTo>
                  <a:lnTo>
                    <a:pt x="19861" y="2174"/>
                  </a:lnTo>
                  <a:lnTo>
                    <a:pt x="19562" y="1574"/>
                  </a:lnTo>
                  <a:lnTo>
                    <a:pt x="19112" y="1050"/>
                  </a:lnTo>
                  <a:lnTo>
                    <a:pt x="18587" y="600"/>
                  </a:lnTo>
                  <a:lnTo>
                    <a:pt x="17988" y="300"/>
                  </a:lnTo>
                  <a:lnTo>
                    <a:pt x="17313" y="75"/>
                  </a:lnTo>
                  <a:lnTo>
                    <a:pt x="166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2"/>
            <p:cNvSpPr/>
            <p:nvPr/>
          </p:nvSpPr>
          <p:spPr>
            <a:xfrm>
              <a:off x="3008050" y="423600"/>
              <a:ext cx="99325" cy="99325"/>
            </a:xfrm>
            <a:custGeom>
              <a:avLst/>
              <a:gdLst/>
              <a:ahLst/>
              <a:cxnLst/>
              <a:rect l="l" t="t" r="r" b="b"/>
              <a:pathLst>
                <a:path w="3973" h="3973" extrusionOk="0">
                  <a:moveTo>
                    <a:pt x="2024" y="1"/>
                  </a:moveTo>
                  <a:lnTo>
                    <a:pt x="1575" y="76"/>
                  </a:lnTo>
                  <a:lnTo>
                    <a:pt x="1200" y="151"/>
                  </a:lnTo>
                  <a:lnTo>
                    <a:pt x="900" y="375"/>
                  </a:lnTo>
                  <a:lnTo>
                    <a:pt x="600" y="600"/>
                  </a:lnTo>
                  <a:lnTo>
                    <a:pt x="375" y="900"/>
                  </a:lnTo>
                  <a:lnTo>
                    <a:pt x="151" y="1200"/>
                  </a:lnTo>
                  <a:lnTo>
                    <a:pt x="76" y="1575"/>
                  </a:lnTo>
                  <a:lnTo>
                    <a:pt x="1" y="2024"/>
                  </a:lnTo>
                  <a:lnTo>
                    <a:pt x="76" y="2399"/>
                  </a:lnTo>
                  <a:lnTo>
                    <a:pt x="151" y="2774"/>
                  </a:lnTo>
                  <a:lnTo>
                    <a:pt x="375" y="3073"/>
                  </a:lnTo>
                  <a:lnTo>
                    <a:pt x="600" y="3373"/>
                  </a:lnTo>
                  <a:lnTo>
                    <a:pt x="900" y="3673"/>
                  </a:lnTo>
                  <a:lnTo>
                    <a:pt x="1200" y="3823"/>
                  </a:lnTo>
                  <a:lnTo>
                    <a:pt x="1575" y="3973"/>
                  </a:lnTo>
                  <a:lnTo>
                    <a:pt x="2399" y="3973"/>
                  </a:lnTo>
                  <a:lnTo>
                    <a:pt x="2774"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4" y="151"/>
                  </a:lnTo>
                  <a:lnTo>
                    <a:pt x="2399" y="76"/>
                  </a:lnTo>
                  <a:lnTo>
                    <a:pt x="20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2"/>
            <p:cNvSpPr/>
            <p:nvPr/>
          </p:nvSpPr>
          <p:spPr>
            <a:xfrm>
              <a:off x="3566400" y="434850"/>
              <a:ext cx="487175" cy="76850"/>
            </a:xfrm>
            <a:custGeom>
              <a:avLst/>
              <a:gdLst/>
              <a:ahLst/>
              <a:cxnLst/>
              <a:rect l="l" t="t" r="r" b="b"/>
              <a:pathLst>
                <a:path w="19487" h="3074" extrusionOk="0">
                  <a:moveTo>
                    <a:pt x="1275" y="0"/>
                  </a:moveTo>
                  <a:lnTo>
                    <a:pt x="1050" y="75"/>
                  </a:lnTo>
                  <a:lnTo>
                    <a:pt x="750" y="150"/>
                  </a:lnTo>
                  <a:lnTo>
                    <a:pt x="525" y="300"/>
                  </a:lnTo>
                  <a:lnTo>
                    <a:pt x="375" y="450"/>
                  </a:lnTo>
                  <a:lnTo>
                    <a:pt x="225" y="675"/>
                  </a:lnTo>
                  <a:lnTo>
                    <a:pt x="75" y="975"/>
                  </a:lnTo>
                  <a:lnTo>
                    <a:pt x="1" y="1274"/>
                  </a:lnTo>
                  <a:lnTo>
                    <a:pt x="1" y="1574"/>
                  </a:lnTo>
                  <a:lnTo>
                    <a:pt x="1" y="1874"/>
                  </a:lnTo>
                  <a:lnTo>
                    <a:pt x="75" y="2174"/>
                  </a:lnTo>
                  <a:lnTo>
                    <a:pt x="225" y="2399"/>
                  </a:lnTo>
                  <a:lnTo>
                    <a:pt x="375" y="2623"/>
                  </a:lnTo>
                  <a:lnTo>
                    <a:pt x="525" y="2773"/>
                  </a:lnTo>
                  <a:lnTo>
                    <a:pt x="750" y="2923"/>
                  </a:lnTo>
                  <a:lnTo>
                    <a:pt x="1050" y="2998"/>
                  </a:lnTo>
                  <a:lnTo>
                    <a:pt x="1275" y="3073"/>
                  </a:lnTo>
                  <a:lnTo>
                    <a:pt x="18137" y="3073"/>
                  </a:lnTo>
                  <a:lnTo>
                    <a:pt x="18437" y="2998"/>
                  </a:lnTo>
                  <a:lnTo>
                    <a:pt x="18662" y="2923"/>
                  </a:lnTo>
                  <a:lnTo>
                    <a:pt x="18887" y="2773"/>
                  </a:lnTo>
                  <a:lnTo>
                    <a:pt x="19112" y="2623"/>
                  </a:lnTo>
                  <a:lnTo>
                    <a:pt x="19262" y="2399"/>
                  </a:lnTo>
                  <a:lnTo>
                    <a:pt x="19337" y="2174"/>
                  </a:lnTo>
                  <a:lnTo>
                    <a:pt x="19412" y="1874"/>
                  </a:lnTo>
                  <a:lnTo>
                    <a:pt x="19486" y="1574"/>
                  </a:lnTo>
                  <a:lnTo>
                    <a:pt x="19412" y="1274"/>
                  </a:lnTo>
                  <a:lnTo>
                    <a:pt x="19337" y="975"/>
                  </a:lnTo>
                  <a:lnTo>
                    <a:pt x="19262" y="675"/>
                  </a:lnTo>
                  <a:lnTo>
                    <a:pt x="19112" y="450"/>
                  </a:lnTo>
                  <a:lnTo>
                    <a:pt x="18887" y="300"/>
                  </a:lnTo>
                  <a:lnTo>
                    <a:pt x="18662" y="150"/>
                  </a:lnTo>
                  <a:lnTo>
                    <a:pt x="18437" y="75"/>
                  </a:lnTo>
                  <a:lnTo>
                    <a:pt x="181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C:\Users\smahm\Desktop\favicon.png">
            <a:extLst>
              <a:ext uri="{FF2B5EF4-FFF2-40B4-BE49-F238E27FC236}">
                <a16:creationId xmlns="" xmlns:a16="http://schemas.microsoft.com/office/drawing/2014/main" id="{952DA7DB-B3A2-E9B4-9942-CC99F3F5436B}"/>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5" name="Google Shape;71;p14">
            <a:extLst>
              <a:ext uri="{FF2B5EF4-FFF2-40B4-BE49-F238E27FC236}">
                <a16:creationId xmlns="" xmlns:a16="http://schemas.microsoft.com/office/drawing/2014/main" id="{AF6DD09E-5EFB-DC50-0A2E-BC68DAF04855}"/>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pic>
        <p:nvPicPr>
          <p:cNvPr id="13" name="Picture 6" descr="A screenshot of a cell phone&#10;&#10;Description automatically generated">
            <a:extLst>
              <a:ext uri="{FF2B5EF4-FFF2-40B4-BE49-F238E27FC236}">
                <a16:creationId xmlns="" xmlns:a16="http://schemas.microsoft.com/office/drawing/2014/main" id="{1DA82A28-7FE5-8ECF-DCB7-FB770CEAE8E8}"/>
              </a:ext>
            </a:extLst>
          </p:cNvPr>
          <p:cNvPicPr>
            <a:picLocks noChangeAspect="1"/>
          </p:cNvPicPr>
          <p:nvPr/>
        </p:nvPicPr>
        <p:blipFill>
          <a:blip r:embed="rId5"/>
          <a:stretch>
            <a:fillRect/>
          </a:stretch>
        </p:blipFill>
        <p:spPr>
          <a:xfrm>
            <a:off x="5821041" y="579048"/>
            <a:ext cx="2052351" cy="4071668"/>
          </a:xfrm>
          <a:prstGeom prst="rect">
            <a:avLst/>
          </a:prstGeom>
        </p:spPr>
      </p:pic>
      <p:grpSp>
        <p:nvGrpSpPr>
          <p:cNvPr id="14" name="Google Shape;333;p32">
            <a:extLst>
              <a:ext uri="{FF2B5EF4-FFF2-40B4-BE49-F238E27FC236}">
                <a16:creationId xmlns="" xmlns:a16="http://schemas.microsoft.com/office/drawing/2014/main" id="{055CC93B-2E78-1E61-889B-1B6D633DFF68}"/>
              </a:ext>
            </a:extLst>
          </p:cNvPr>
          <p:cNvGrpSpPr/>
          <p:nvPr/>
        </p:nvGrpSpPr>
        <p:grpSpPr>
          <a:xfrm>
            <a:off x="5780292" y="179478"/>
            <a:ext cx="2119546" cy="4601236"/>
            <a:chOff x="2547150" y="238125"/>
            <a:chExt cx="2525675" cy="5238750"/>
          </a:xfrm>
        </p:grpSpPr>
        <p:sp>
          <p:nvSpPr>
            <p:cNvPr id="15" name="Google Shape;334;p32">
              <a:extLst>
                <a:ext uri="{FF2B5EF4-FFF2-40B4-BE49-F238E27FC236}">
                  <a16:creationId xmlns="" xmlns:a16="http://schemas.microsoft.com/office/drawing/2014/main" id="{3E5A5BCC-67B1-0692-67A8-F942AB9F1471}"/>
                </a:ext>
              </a:extLst>
            </p:cNvPr>
            <p:cNvSpPr/>
            <p:nvPr/>
          </p:nvSpPr>
          <p:spPr>
            <a:xfrm>
              <a:off x="2547150" y="238125"/>
              <a:ext cx="2525675" cy="5238750"/>
            </a:xfrm>
            <a:custGeom>
              <a:avLst/>
              <a:gdLst/>
              <a:ahLst/>
              <a:cxnLst/>
              <a:rect l="l" t="t" r="r" b="b"/>
              <a:pathLst>
                <a:path w="101027" h="209550" extrusionOk="0">
                  <a:moveTo>
                    <a:pt x="98629" y="18886"/>
                  </a:moveTo>
                  <a:lnTo>
                    <a:pt x="98629" y="190364"/>
                  </a:lnTo>
                  <a:lnTo>
                    <a:pt x="2398" y="190364"/>
                  </a:lnTo>
                  <a:lnTo>
                    <a:pt x="2398" y="18886"/>
                  </a:lnTo>
                  <a:close/>
                  <a:moveTo>
                    <a:pt x="10343" y="0"/>
                  </a:moveTo>
                  <a:lnTo>
                    <a:pt x="9293" y="75"/>
                  </a:lnTo>
                  <a:lnTo>
                    <a:pt x="8244" y="225"/>
                  </a:lnTo>
                  <a:lnTo>
                    <a:pt x="7270" y="450"/>
                  </a:lnTo>
                  <a:lnTo>
                    <a:pt x="6295" y="824"/>
                  </a:lnTo>
                  <a:lnTo>
                    <a:pt x="5396" y="1274"/>
                  </a:lnTo>
                  <a:lnTo>
                    <a:pt x="4572" y="1799"/>
                  </a:lnTo>
                  <a:lnTo>
                    <a:pt x="3747" y="2398"/>
                  </a:lnTo>
                  <a:lnTo>
                    <a:pt x="2998" y="3073"/>
                  </a:lnTo>
                  <a:lnTo>
                    <a:pt x="2323" y="3747"/>
                  </a:lnTo>
                  <a:lnTo>
                    <a:pt x="1724" y="4572"/>
                  </a:lnTo>
                  <a:lnTo>
                    <a:pt x="1199" y="5396"/>
                  </a:lnTo>
                  <a:lnTo>
                    <a:pt x="824" y="6370"/>
                  </a:lnTo>
                  <a:lnTo>
                    <a:pt x="450" y="7270"/>
                  </a:lnTo>
                  <a:lnTo>
                    <a:pt x="225" y="8319"/>
                  </a:lnTo>
                  <a:lnTo>
                    <a:pt x="0" y="9293"/>
                  </a:lnTo>
                  <a:lnTo>
                    <a:pt x="0" y="10343"/>
                  </a:lnTo>
                  <a:lnTo>
                    <a:pt x="0" y="199207"/>
                  </a:lnTo>
                  <a:lnTo>
                    <a:pt x="0" y="200257"/>
                  </a:lnTo>
                  <a:lnTo>
                    <a:pt x="225" y="201231"/>
                  </a:lnTo>
                  <a:lnTo>
                    <a:pt x="450" y="202280"/>
                  </a:lnTo>
                  <a:lnTo>
                    <a:pt x="824" y="203180"/>
                  </a:lnTo>
                  <a:lnTo>
                    <a:pt x="1199" y="204154"/>
                  </a:lnTo>
                  <a:lnTo>
                    <a:pt x="1724" y="204978"/>
                  </a:lnTo>
                  <a:lnTo>
                    <a:pt x="2323" y="205803"/>
                  </a:lnTo>
                  <a:lnTo>
                    <a:pt x="2998" y="206477"/>
                  </a:lnTo>
                  <a:lnTo>
                    <a:pt x="3747" y="207152"/>
                  </a:lnTo>
                  <a:lnTo>
                    <a:pt x="4572" y="207751"/>
                  </a:lnTo>
                  <a:lnTo>
                    <a:pt x="5396" y="208276"/>
                  </a:lnTo>
                  <a:lnTo>
                    <a:pt x="6295" y="208726"/>
                  </a:lnTo>
                  <a:lnTo>
                    <a:pt x="7270" y="209100"/>
                  </a:lnTo>
                  <a:lnTo>
                    <a:pt x="8244" y="209325"/>
                  </a:lnTo>
                  <a:lnTo>
                    <a:pt x="9293" y="209475"/>
                  </a:lnTo>
                  <a:lnTo>
                    <a:pt x="10343" y="209550"/>
                  </a:lnTo>
                  <a:lnTo>
                    <a:pt x="90610" y="209550"/>
                  </a:lnTo>
                  <a:lnTo>
                    <a:pt x="91659" y="209475"/>
                  </a:lnTo>
                  <a:lnTo>
                    <a:pt x="92708" y="209325"/>
                  </a:lnTo>
                  <a:lnTo>
                    <a:pt x="93682" y="209100"/>
                  </a:lnTo>
                  <a:lnTo>
                    <a:pt x="94657" y="208726"/>
                  </a:lnTo>
                  <a:lnTo>
                    <a:pt x="95556" y="208276"/>
                  </a:lnTo>
                  <a:lnTo>
                    <a:pt x="96455" y="207751"/>
                  </a:lnTo>
                  <a:lnTo>
                    <a:pt x="97205" y="207152"/>
                  </a:lnTo>
                  <a:lnTo>
                    <a:pt x="97954" y="206477"/>
                  </a:lnTo>
                  <a:lnTo>
                    <a:pt x="98629" y="205803"/>
                  </a:lnTo>
                  <a:lnTo>
                    <a:pt x="99228" y="204978"/>
                  </a:lnTo>
                  <a:lnTo>
                    <a:pt x="99753" y="204154"/>
                  </a:lnTo>
                  <a:lnTo>
                    <a:pt x="100203" y="203180"/>
                  </a:lnTo>
                  <a:lnTo>
                    <a:pt x="100577" y="202280"/>
                  </a:lnTo>
                  <a:lnTo>
                    <a:pt x="100802" y="201231"/>
                  </a:lnTo>
                  <a:lnTo>
                    <a:pt x="100952" y="200257"/>
                  </a:lnTo>
                  <a:lnTo>
                    <a:pt x="101027" y="199207"/>
                  </a:lnTo>
                  <a:lnTo>
                    <a:pt x="101027" y="10343"/>
                  </a:lnTo>
                  <a:lnTo>
                    <a:pt x="100952" y="9293"/>
                  </a:lnTo>
                  <a:lnTo>
                    <a:pt x="100802" y="8319"/>
                  </a:lnTo>
                  <a:lnTo>
                    <a:pt x="100577" y="7270"/>
                  </a:lnTo>
                  <a:lnTo>
                    <a:pt x="100203" y="6370"/>
                  </a:lnTo>
                  <a:lnTo>
                    <a:pt x="99753" y="5396"/>
                  </a:lnTo>
                  <a:lnTo>
                    <a:pt x="99228" y="4572"/>
                  </a:lnTo>
                  <a:lnTo>
                    <a:pt x="98629" y="3747"/>
                  </a:lnTo>
                  <a:lnTo>
                    <a:pt x="97954" y="3073"/>
                  </a:lnTo>
                  <a:lnTo>
                    <a:pt x="97205" y="2398"/>
                  </a:lnTo>
                  <a:lnTo>
                    <a:pt x="96455" y="1799"/>
                  </a:lnTo>
                  <a:lnTo>
                    <a:pt x="95556" y="1274"/>
                  </a:lnTo>
                  <a:lnTo>
                    <a:pt x="94657" y="824"/>
                  </a:lnTo>
                  <a:lnTo>
                    <a:pt x="93682" y="450"/>
                  </a:lnTo>
                  <a:lnTo>
                    <a:pt x="92708" y="225"/>
                  </a:lnTo>
                  <a:lnTo>
                    <a:pt x="91659" y="75"/>
                  </a:lnTo>
                  <a:lnTo>
                    <a:pt x="90610" y="0"/>
                  </a:lnTo>
                  <a:close/>
                </a:path>
              </a:pathLst>
            </a:custGeom>
            <a:gradFill>
              <a:gsLst>
                <a:gs pos="0">
                  <a:schemeClr val="accent1"/>
                </a:gs>
                <a:gs pos="100000">
                  <a:schemeClr val="dk1"/>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35;p32">
              <a:extLst>
                <a:ext uri="{FF2B5EF4-FFF2-40B4-BE49-F238E27FC236}">
                  <a16:creationId xmlns="" xmlns:a16="http://schemas.microsoft.com/office/drawing/2014/main" id="{FDB802B9-E14F-D979-5A98-54680B8D7A09}"/>
                </a:ext>
              </a:extLst>
            </p:cNvPr>
            <p:cNvSpPr/>
            <p:nvPr/>
          </p:nvSpPr>
          <p:spPr>
            <a:xfrm>
              <a:off x="3557025" y="5147100"/>
              <a:ext cx="504050" cy="179900"/>
            </a:xfrm>
            <a:custGeom>
              <a:avLst/>
              <a:gdLst/>
              <a:ahLst/>
              <a:cxnLst/>
              <a:rect l="l" t="t" r="r" b="b"/>
              <a:pathLst>
                <a:path w="20162" h="7196" extrusionOk="0">
                  <a:moveTo>
                    <a:pt x="3598" y="0"/>
                  </a:moveTo>
                  <a:lnTo>
                    <a:pt x="2849" y="75"/>
                  </a:lnTo>
                  <a:lnTo>
                    <a:pt x="2174" y="300"/>
                  </a:lnTo>
                  <a:lnTo>
                    <a:pt x="1575" y="600"/>
                  </a:lnTo>
                  <a:lnTo>
                    <a:pt x="1050" y="1050"/>
                  </a:lnTo>
                  <a:lnTo>
                    <a:pt x="600" y="1574"/>
                  </a:lnTo>
                  <a:lnTo>
                    <a:pt x="301" y="2174"/>
                  </a:lnTo>
                  <a:lnTo>
                    <a:pt x="76" y="2848"/>
                  </a:lnTo>
                  <a:lnTo>
                    <a:pt x="1" y="3598"/>
                  </a:lnTo>
                  <a:lnTo>
                    <a:pt x="76" y="4347"/>
                  </a:lnTo>
                  <a:lnTo>
                    <a:pt x="301" y="5022"/>
                  </a:lnTo>
                  <a:lnTo>
                    <a:pt x="600" y="5621"/>
                  </a:lnTo>
                  <a:lnTo>
                    <a:pt x="1050" y="6146"/>
                  </a:lnTo>
                  <a:lnTo>
                    <a:pt x="1575" y="6596"/>
                  </a:lnTo>
                  <a:lnTo>
                    <a:pt x="2174" y="6896"/>
                  </a:lnTo>
                  <a:lnTo>
                    <a:pt x="2849" y="7120"/>
                  </a:lnTo>
                  <a:lnTo>
                    <a:pt x="3598" y="7195"/>
                  </a:lnTo>
                  <a:lnTo>
                    <a:pt x="16639" y="7195"/>
                  </a:lnTo>
                  <a:lnTo>
                    <a:pt x="17313" y="7120"/>
                  </a:lnTo>
                  <a:lnTo>
                    <a:pt x="17988" y="6896"/>
                  </a:lnTo>
                  <a:lnTo>
                    <a:pt x="18587" y="6596"/>
                  </a:lnTo>
                  <a:lnTo>
                    <a:pt x="19112" y="6146"/>
                  </a:lnTo>
                  <a:lnTo>
                    <a:pt x="19562" y="5621"/>
                  </a:lnTo>
                  <a:lnTo>
                    <a:pt x="19861" y="5022"/>
                  </a:lnTo>
                  <a:lnTo>
                    <a:pt x="20086" y="4347"/>
                  </a:lnTo>
                  <a:lnTo>
                    <a:pt x="20161" y="3598"/>
                  </a:lnTo>
                  <a:lnTo>
                    <a:pt x="20086" y="2848"/>
                  </a:lnTo>
                  <a:lnTo>
                    <a:pt x="19861" y="2174"/>
                  </a:lnTo>
                  <a:lnTo>
                    <a:pt x="19562" y="1574"/>
                  </a:lnTo>
                  <a:lnTo>
                    <a:pt x="19112" y="1050"/>
                  </a:lnTo>
                  <a:lnTo>
                    <a:pt x="18587" y="600"/>
                  </a:lnTo>
                  <a:lnTo>
                    <a:pt x="17988" y="300"/>
                  </a:lnTo>
                  <a:lnTo>
                    <a:pt x="17313" y="75"/>
                  </a:lnTo>
                  <a:lnTo>
                    <a:pt x="1663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36;p32">
              <a:extLst>
                <a:ext uri="{FF2B5EF4-FFF2-40B4-BE49-F238E27FC236}">
                  <a16:creationId xmlns="" xmlns:a16="http://schemas.microsoft.com/office/drawing/2014/main" id="{89E42D20-9EB1-B304-55B0-2F0326D11805}"/>
                </a:ext>
              </a:extLst>
            </p:cNvPr>
            <p:cNvSpPr/>
            <p:nvPr/>
          </p:nvSpPr>
          <p:spPr>
            <a:xfrm>
              <a:off x="3008050" y="423600"/>
              <a:ext cx="99325" cy="99325"/>
            </a:xfrm>
            <a:custGeom>
              <a:avLst/>
              <a:gdLst/>
              <a:ahLst/>
              <a:cxnLst/>
              <a:rect l="l" t="t" r="r" b="b"/>
              <a:pathLst>
                <a:path w="3973" h="3973" extrusionOk="0">
                  <a:moveTo>
                    <a:pt x="2024" y="1"/>
                  </a:moveTo>
                  <a:lnTo>
                    <a:pt x="1575" y="76"/>
                  </a:lnTo>
                  <a:lnTo>
                    <a:pt x="1200" y="151"/>
                  </a:lnTo>
                  <a:lnTo>
                    <a:pt x="900" y="375"/>
                  </a:lnTo>
                  <a:lnTo>
                    <a:pt x="600" y="600"/>
                  </a:lnTo>
                  <a:lnTo>
                    <a:pt x="375" y="900"/>
                  </a:lnTo>
                  <a:lnTo>
                    <a:pt x="151" y="1200"/>
                  </a:lnTo>
                  <a:lnTo>
                    <a:pt x="76" y="1575"/>
                  </a:lnTo>
                  <a:lnTo>
                    <a:pt x="1" y="2024"/>
                  </a:lnTo>
                  <a:lnTo>
                    <a:pt x="76" y="2399"/>
                  </a:lnTo>
                  <a:lnTo>
                    <a:pt x="151" y="2774"/>
                  </a:lnTo>
                  <a:lnTo>
                    <a:pt x="375" y="3073"/>
                  </a:lnTo>
                  <a:lnTo>
                    <a:pt x="600" y="3373"/>
                  </a:lnTo>
                  <a:lnTo>
                    <a:pt x="900" y="3673"/>
                  </a:lnTo>
                  <a:lnTo>
                    <a:pt x="1200" y="3823"/>
                  </a:lnTo>
                  <a:lnTo>
                    <a:pt x="1575" y="3973"/>
                  </a:lnTo>
                  <a:lnTo>
                    <a:pt x="2399" y="3973"/>
                  </a:lnTo>
                  <a:lnTo>
                    <a:pt x="2774" y="3823"/>
                  </a:lnTo>
                  <a:lnTo>
                    <a:pt x="3073" y="3673"/>
                  </a:lnTo>
                  <a:lnTo>
                    <a:pt x="3373" y="3373"/>
                  </a:lnTo>
                  <a:lnTo>
                    <a:pt x="3598" y="3073"/>
                  </a:lnTo>
                  <a:lnTo>
                    <a:pt x="3823" y="2774"/>
                  </a:lnTo>
                  <a:lnTo>
                    <a:pt x="3898" y="2399"/>
                  </a:lnTo>
                  <a:lnTo>
                    <a:pt x="3973" y="2024"/>
                  </a:lnTo>
                  <a:lnTo>
                    <a:pt x="3898" y="1575"/>
                  </a:lnTo>
                  <a:lnTo>
                    <a:pt x="3823" y="1200"/>
                  </a:lnTo>
                  <a:lnTo>
                    <a:pt x="3598" y="900"/>
                  </a:lnTo>
                  <a:lnTo>
                    <a:pt x="3373" y="600"/>
                  </a:lnTo>
                  <a:lnTo>
                    <a:pt x="3073" y="375"/>
                  </a:lnTo>
                  <a:lnTo>
                    <a:pt x="2774" y="151"/>
                  </a:lnTo>
                  <a:lnTo>
                    <a:pt x="2399" y="76"/>
                  </a:lnTo>
                  <a:lnTo>
                    <a:pt x="202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37;p32">
              <a:extLst>
                <a:ext uri="{FF2B5EF4-FFF2-40B4-BE49-F238E27FC236}">
                  <a16:creationId xmlns="" xmlns:a16="http://schemas.microsoft.com/office/drawing/2014/main" id="{14F8B58E-61AF-A99A-3160-48CA929C35E9}"/>
                </a:ext>
              </a:extLst>
            </p:cNvPr>
            <p:cNvSpPr/>
            <p:nvPr/>
          </p:nvSpPr>
          <p:spPr>
            <a:xfrm>
              <a:off x="3566400" y="434850"/>
              <a:ext cx="487175" cy="76850"/>
            </a:xfrm>
            <a:custGeom>
              <a:avLst/>
              <a:gdLst/>
              <a:ahLst/>
              <a:cxnLst/>
              <a:rect l="l" t="t" r="r" b="b"/>
              <a:pathLst>
                <a:path w="19487" h="3074" extrusionOk="0">
                  <a:moveTo>
                    <a:pt x="1275" y="0"/>
                  </a:moveTo>
                  <a:lnTo>
                    <a:pt x="1050" y="75"/>
                  </a:lnTo>
                  <a:lnTo>
                    <a:pt x="750" y="150"/>
                  </a:lnTo>
                  <a:lnTo>
                    <a:pt x="525" y="300"/>
                  </a:lnTo>
                  <a:lnTo>
                    <a:pt x="375" y="450"/>
                  </a:lnTo>
                  <a:lnTo>
                    <a:pt x="225" y="675"/>
                  </a:lnTo>
                  <a:lnTo>
                    <a:pt x="75" y="975"/>
                  </a:lnTo>
                  <a:lnTo>
                    <a:pt x="1" y="1274"/>
                  </a:lnTo>
                  <a:lnTo>
                    <a:pt x="1" y="1574"/>
                  </a:lnTo>
                  <a:lnTo>
                    <a:pt x="1" y="1874"/>
                  </a:lnTo>
                  <a:lnTo>
                    <a:pt x="75" y="2174"/>
                  </a:lnTo>
                  <a:lnTo>
                    <a:pt x="225" y="2399"/>
                  </a:lnTo>
                  <a:lnTo>
                    <a:pt x="375" y="2623"/>
                  </a:lnTo>
                  <a:lnTo>
                    <a:pt x="525" y="2773"/>
                  </a:lnTo>
                  <a:lnTo>
                    <a:pt x="750" y="2923"/>
                  </a:lnTo>
                  <a:lnTo>
                    <a:pt x="1050" y="2998"/>
                  </a:lnTo>
                  <a:lnTo>
                    <a:pt x="1275" y="3073"/>
                  </a:lnTo>
                  <a:lnTo>
                    <a:pt x="18137" y="3073"/>
                  </a:lnTo>
                  <a:lnTo>
                    <a:pt x="18437" y="2998"/>
                  </a:lnTo>
                  <a:lnTo>
                    <a:pt x="18662" y="2923"/>
                  </a:lnTo>
                  <a:lnTo>
                    <a:pt x="18887" y="2773"/>
                  </a:lnTo>
                  <a:lnTo>
                    <a:pt x="19112" y="2623"/>
                  </a:lnTo>
                  <a:lnTo>
                    <a:pt x="19262" y="2399"/>
                  </a:lnTo>
                  <a:lnTo>
                    <a:pt x="19337" y="2174"/>
                  </a:lnTo>
                  <a:lnTo>
                    <a:pt x="19412" y="1874"/>
                  </a:lnTo>
                  <a:lnTo>
                    <a:pt x="19486" y="1574"/>
                  </a:lnTo>
                  <a:lnTo>
                    <a:pt x="19412" y="1274"/>
                  </a:lnTo>
                  <a:lnTo>
                    <a:pt x="19337" y="975"/>
                  </a:lnTo>
                  <a:lnTo>
                    <a:pt x="19262" y="675"/>
                  </a:lnTo>
                  <a:lnTo>
                    <a:pt x="19112" y="450"/>
                  </a:lnTo>
                  <a:lnTo>
                    <a:pt x="18887" y="300"/>
                  </a:lnTo>
                  <a:lnTo>
                    <a:pt x="18662" y="150"/>
                  </a:lnTo>
                  <a:lnTo>
                    <a:pt x="18437" y="75"/>
                  </a:lnTo>
                  <a:lnTo>
                    <a:pt x="181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 xmlns:p14="http://schemas.microsoft.com/office/powerpoint/2010/main" val="18734582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580550" y="637296"/>
            <a:ext cx="6014400" cy="857400"/>
          </a:xfrm>
          <a:prstGeom prst="rect">
            <a:avLst/>
          </a:prstGeom>
        </p:spPr>
        <p:txBody>
          <a:bodyPr spcFirstLastPara="1" wrap="square" lIns="0" tIns="0" rIns="0" bIns="0" anchor="b" anchorCtr="0">
            <a:noAutofit/>
          </a:bodyPr>
          <a:lstStyle/>
          <a:p>
            <a:r>
              <a:rPr lang="en"/>
              <a:t>3D Models Design</a:t>
            </a:r>
            <a:endParaRPr lang="en-US"/>
          </a:p>
        </p:txBody>
      </p:sp>
      <p:sp>
        <p:nvSpPr>
          <p:cNvPr id="104" name="Google Shape;104;p18"/>
          <p:cNvSpPr txBox="1">
            <a:spLocks noGrp="1"/>
          </p:cNvSpPr>
          <p:nvPr>
            <p:ph type="body" idx="1"/>
          </p:nvPr>
        </p:nvSpPr>
        <p:spPr>
          <a:xfrm>
            <a:off x="472720" y="1471164"/>
            <a:ext cx="4278334" cy="3161700"/>
          </a:xfrm>
          <a:prstGeom prst="rect">
            <a:avLst/>
          </a:prstGeom>
        </p:spPr>
        <p:txBody>
          <a:bodyPr spcFirstLastPara="1" wrap="square" lIns="0" tIns="0" rIns="0" bIns="0" anchor="t" anchorCtr="0">
            <a:noAutofit/>
          </a:bodyPr>
          <a:lstStyle/>
          <a:p>
            <a:pPr>
              <a:lnSpc>
                <a:spcPct val="114999"/>
              </a:lnSpc>
            </a:pPr>
            <a:r>
              <a:rPr lang="en"/>
              <a:t>How are we designing the 3D models?</a:t>
            </a:r>
            <a:endParaRPr lang="en-US"/>
          </a:p>
          <a:p>
            <a:pPr>
              <a:spcBef>
                <a:spcPts val="0"/>
              </a:spcBef>
            </a:pPr>
            <a:r>
              <a:rPr lang="en"/>
              <a:t>Geometry and Math behind 3D model generation.</a:t>
            </a:r>
          </a:p>
        </p:txBody>
      </p:sp>
      <p:sp>
        <p:nvSpPr>
          <p:cNvPr id="105" name="Google Shape;105;p18"/>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pic>
        <p:nvPicPr>
          <p:cNvPr id="2" name="Picture 2" descr="A diagram of a battery&#10;&#10;Description automatically generated">
            <a:extLst>
              <a:ext uri="{FF2B5EF4-FFF2-40B4-BE49-F238E27FC236}">
                <a16:creationId xmlns="" xmlns:a16="http://schemas.microsoft.com/office/drawing/2014/main" id="{E76FB097-B025-A52C-C851-4716D729217A}"/>
              </a:ext>
            </a:extLst>
          </p:cNvPr>
          <p:cNvPicPr>
            <a:picLocks noChangeAspect="1"/>
          </p:cNvPicPr>
          <p:nvPr/>
        </p:nvPicPr>
        <p:blipFill rotWithShape="1">
          <a:blip r:embed="rId3"/>
          <a:srcRect l="23206" t="9682" r="22727" b="12500"/>
          <a:stretch/>
        </p:blipFill>
        <p:spPr>
          <a:xfrm>
            <a:off x="5874589" y="1523775"/>
            <a:ext cx="2616781" cy="1725970"/>
          </a:xfrm>
          <a:prstGeom prst="rect">
            <a:avLst/>
          </a:prstGeom>
        </p:spPr>
      </p:pic>
      <p:pic>
        <p:nvPicPr>
          <p:cNvPr id="4" name="Picture 3" descr="C:\Users\smahm\Desktop\favicon.png">
            <a:extLst>
              <a:ext uri="{FF2B5EF4-FFF2-40B4-BE49-F238E27FC236}">
                <a16:creationId xmlns="" xmlns:a16="http://schemas.microsoft.com/office/drawing/2014/main" id="{C2877AD9-003B-90FA-FFCE-32C574D2C7C4}"/>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6" name="Google Shape;71;p14">
            <a:extLst>
              <a:ext uri="{FF2B5EF4-FFF2-40B4-BE49-F238E27FC236}">
                <a16:creationId xmlns="" xmlns:a16="http://schemas.microsoft.com/office/drawing/2014/main" id="{5687FF59-9DAD-0898-8DD8-7E7A84ADFF56}"/>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4" name="Google Shape;134;p20"/>
          <p:cNvSpPr txBox="1">
            <a:spLocks noGrp="1"/>
          </p:cNvSpPr>
          <p:nvPr>
            <p:ph type="title"/>
          </p:nvPr>
        </p:nvSpPr>
        <p:spPr>
          <a:xfrm>
            <a:off x="289408" y="734343"/>
            <a:ext cx="6098400" cy="857400"/>
          </a:xfrm>
          <a:prstGeom prst="rect">
            <a:avLst/>
          </a:prstGeom>
        </p:spPr>
        <p:txBody>
          <a:bodyPr spcFirstLastPara="1" wrap="square" lIns="0" tIns="0" rIns="0" bIns="0" anchor="b" anchorCtr="0">
            <a:noAutofit/>
          </a:bodyPr>
          <a:lstStyle/>
          <a:p>
            <a:r>
              <a:rPr lang="en"/>
              <a:t>Application Development</a:t>
            </a:r>
            <a:endParaRPr lang="en-US"/>
          </a:p>
        </p:txBody>
      </p:sp>
      <p:sp>
        <p:nvSpPr>
          <p:cNvPr id="136" name="Google Shape;136;p2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pic>
        <p:nvPicPr>
          <p:cNvPr id="6" name="Picture 6" descr="A white and orange logo&#10;&#10;Description automatically generated">
            <a:extLst>
              <a:ext uri="{FF2B5EF4-FFF2-40B4-BE49-F238E27FC236}">
                <a16:creationId xmlns="" xmlns:a16="http://schemas.microsoft.com/office/drawing/2014/main" id="{A26CCE10-0329-6861-9AB3-0F64E0A39C68}"/>
              </a:ext>
            </a:extLst>
          </p:cNvPr>
          <p:cNvPicPr>
            <a:picLocks noChangeAspect="1"/>
          </p:cNvPicPr>
          <p:nvPr/>
        </p:nvPicPr>
        <p:blipFill>
          <a:blip r:embed="rId3"/>
          <a:stretch>
            <a:fillRect/>
          </a:stretch>
        </p:blipFill>
        <p:spPr>
          <a:xfrm>
            <a:off x="349189" y="2022265"/>
            <a:ext cx="908290" cy="1098970"/>
          </a:xfrm>
          <a:prstGeom prst="rect">
            <a:avLst/>
          </a:prstGeom>
        </p:spPr>
      </p:pic>
      <p:pic>
        <p:nvPicPr>
          <p:cNvPr id="7" name="Picture 7" descr="A black background with a black square&#10;&#10;Description automatically generated">
            <a:extLst>
              <a:ext uri="{FF2B5EF4-FFF2-40B4-BE49-F238E27FC236}">
                <a16:creationId xmlns="" xmlns:a16="http://schemas.microsoft.com/office/drawing/2014/main" id="{78C6DCDE-5534-99D0-C456-1B588F239F48}"/>
              </a:ext>
            </a:extLst>
          </p:cNvPr>
          <p:cNvPicPr>
            <a:picLocks noChangeAspect="1"/>
          </p:cNvPicPr>
          <p:nvPr/>
        </p:nvPicPr>
        <p:blipFill>
          <a:blip r:embed="rId4"/>
          <a:stretch>
            <a:fillRect/>
          </a:stretch>
        </p:blipFill>
        <p:spPr>
          <a:xfrm>
            <a:off x="2177630" y="1848748"/>
            <a:ext cx="1251909" cy="1251909"/>
          </a:xfrm>
          <a:prstGeom prst="rect">
            <a:avLst/>
          </a:prstGeom>
        </p:spPr>
      </p:pic>
      <p:pic>
        <p:nvPicPr>
          <p:cNvPr id="8" name="Picture 8" descr="A logo with a hand pointing up&#10;&#10;Description automatically generated">
            <a:extLst>
              <a:ext uri="{FF2B5EF4-FFF2-40B4-BE49-F238E27FC236}">
                <a16:creationId xmlns="" xmlns:a16="http://schemas.microsoft.com/office/drawing/2014/main" id="{B9245476-98BA-A48D-8126-DB4AAFB9AC3C}"/>
              </a:ext>
            </a:extLst>
          </p:cNvPr>
          <p:cNvPicPr>
            <a:picLocks noChangeAspect="1"/>
          </p:cNvPicPr>
          <p:nvPr/>
        </p:nvPicPr>
        <p:blipFill>
          <a:blip r:embed="rId5"/>
          <a:stretch>
            <a:fillRect/>
          </a:stretch>
        </p:blipFill>
        <p:spPr>
          <a:xfrm>
            <a:off x="4338817" y="1958286"/>
            <a:ext cx="1339791" cy="1054400"/>
          </a:xfrm>
          <a:prstGeom prst="rect">
            <a:avLst/>
          </a:prstGeom>
        </p:spPr>
      </p:pic>
      <p:pic>
        <p:nvPicPr>
          <p:cNvPr id="10" name="Picture 9" descr="C:\Users\smahm\Desktop\favicon.png">
            <a:extLst>
              <a:ext uri="{FF2B5EF4-FFF2-40B4-BE49-F238E27FC236}">
                <a16:creationId xmlns="" xmlns:a16="http://schemas.microsoft.com/office/drawing/2014/main" id="{88258C25-1F41-E321-5721-2701F2FBA2DF}"/>
              </a:ext>
            </a:extLst>
          </p:cNvPr>
          <p:cNvPicPr>
            <a:picLocks noChangeAspect="1" noChangeArrowheads="1"/>
          </p:cNvPicPr>
          <p:nvPr/>
        </p:nvPicPr>
        <p:blipFill>
          <a:blip r:embed="rId6">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2" name="Google Shape;71;p14">
            <a:extLst>
              <a:ext uri="{FF2B5EF4-FFF2-40B4-BE49-F238E27FC236}">
                <a16:creationId xmlns="" xmlns:a16="http://schemas.microsoft.com/office/drawing/2014/main" id="{EA5DEFBB-5021-F048-60B7-1E0E491944E6}"/>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
        <p:nvSpPr>
          <p:cNvPr id="13" name="TextBox 12">
            <a:extLst>
              <a:ext uri="{FF2B5EF4-FFF2-40B4-BE49-F238E27FC236}">
                <a16:creationId xmlns="" xmlns:a16="http://schemas.microsoft.com/office/drawing/2014/main" id="{E7F01CCE-A6F4-F35B-5F7A-20C38D009063}"/>
              </a:ext>
            </a:extLst>
          </p:cNvPr>
          <p:cNvSpPr txBox="1"/>
          <p:nvPr/>
        </p:nvSpPr>
        <p:spPr>
          <a:xfrm>
            <a:off x="350682" y="3262800"/>
            <a:ext cx="107619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latin typeface="Lexend Deca"/>
                <a:cs typeface="Times New Roman"/>
              </a:rPr>
              <a:t>Svelte </a:t>
            </a:r>
            <a:endParaRPr lang="en-US" sz="3600" b="1">
              <a:solidFill>
                <a:schemeClr val="bg1"/>
              </a:solidFill>
              <a:latin typeface="Lexend Deca"/>
            </a:endParaRPr>
          </a:p>
        </p:txBody>
      </p:sp>
      <p:sp>
        <p:nvSpPr>
          <p:cNvPr id="14" name="TextBox 13">
            <a:extLst>
              <a:ext uri="{FF2B5EF4-FFF2-40B4-BE49-F238E27FC236}">
                <a16:creationId xmlns="" xmlns:a16="http://schemas.microsoft.com/office/drawing/2014/main" id="{A9DE9D66-B2B0-296B-CFE2-6C928FDB84E5}"/>
              </a:ext>
            </a:extLst>
          </p:cNvPr>
          <p:cNvSpPr txBox="1"/>
          <p:nvPr/>
        </p:nvSpPr>
        <p:spPr>
          <a:xfrm>
            <a:off x="4620757" y="3262800"/>
            <a:ext cx="107619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latin typeface="Lexend Deca"/>
                <a:cs typeface="Times New Roman"/>
              </a:rPr>
              <a:t>Blendr</a:t>
            </a:r>
            <a:endParaRPr lang="en-US" sz="3600" b="1">
              <a:solidFill>
                <a:schemeClr val="bg1"/>
              </a:solidFill>
              <a:latin typeface="Lexend Deca"/>
            </a:endParaRPr>
          </a:p>
        </p:txBody>
      </p:sp>
      <p:sp>
        <p:nvSpPr>
          <p:cNvPr id="2" name="TextBox 1">
            <a:extLst>
              <a:ext uri="{FF2B5EF4-FFF2-40B4-BE49-F238E27FC236}">
                <a16:creationId xmlns="" xmlns:a16="http://schemas.microsoft.com/office/drawing/2014/main" id="{E479EA8C-3C19-0F96-0155-DDB5F0490AC7}"/>
              </a:ext>
            </a:extLst>
          </p:cNvPr>
          <p:cNvSpPr txBox="1"/>
          <p:nvPr/>
        </p:nvSpPr>
        <p:spPr>
          <a:xfrm>
            <a:off x="2270059" y="3262800"/>
            <a:ext cx="127028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chemeClr val="bg1"/>
                </a:solidFill>
                <a:latin typeface="Lexend Deca"/>
                <a:cs typeface="Times New Roman"/>
              </a:rPr>
              <a:t>Three.js</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1"/>
          <p:cNvSpPr txBox="1">
            <a:spLocks noGrp="1"/>
          </p:cNvSpPr>
          <p:nvPr>
            <p:ph type="title"/>
          </p:nvPr>
        </p:nvSpPr>
        <p:spPr>
          <a:xfrm>
            <a:off x="580550" y="637295"/>
            <a:ext cx="3806893" cy="426080"/>
          </a:xfrm>
          <a:prstGeom prst="rect">
            <a:avLst/>
          </a:prstGeom>
        </p:spPr>
        <p:txBody>
          <a:bodyPr spcFirstLastPara="1" wrap="square" lIns="0" tIns="0" rIns="0" bIns="0" anchor="b" anchorCtr="0">
            <a:noAutofit/>
          </a:bodyPr>
          <a:lstStyle/>
          <a:p>
            <a:r>
              <a:rPr lang="en">
                <a:solidFill>
                  <a:srgbClr val="FFFFFF"/>
                </a:solidFill>
              </a:rPr>
              <a:t>Theoretical lessons</a:t>
            </a:r>
            <a:endParaRPr lang="en-US"/>
          </a:p>
        </p:txBody>
      </p:sp>
      <p:sp>
        <p:nvSpPr>
          <p:cNvPr id="142" name="Google Shape;142;p21"/>
          <p:cNvSpPr txBox="1">
            <a:spLocks noGrp="1"/>
          </p:cNvSpPr>
          <p:nvPr>
            <p:ph type="body" idx="1"/>
          </p:nvPr>
        </p:nvSpPr>
        <p:spPr>
          <a:xfrm>
            <a:off x="580550" y="1352550"/>
            <a:ext cx="2005800" cy="32022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b="1"/>
              <a:t>Lessons</a:t>
            </a:r>
            <a:endParaRPr b="1"/>
          </a:p>
          <a:p>
            <a:pPr marL="0" indent="0">
              <a:lnSpc>
                <a:spcPct val="114999"/>
              </a:lnSpc>
              <a:buNone/>
            </a:pPr>
            <a:r>
              <a:rPr lang="en"/>
              <a:t> Each lesson contains some basic theories and knowledge that is required to understand the process. We tried to also keep the lessons relative to the actual simulations.</a:t>
            </a:r>
          </a:p>
        </p:txBody>
      </p:sp>
      <p:sp>
        <p:nvSpPr>
          <p:cNvPr id="143" name="Google Shape;143;p21"/>
          <p:cNvSpPr txBox="1">
            <a:spLocks noGrp="1"/>
          </p:cNvSpPr>
          <p:nvPr>
            <p:ph type="body" idx="2"/>
          </p:nvPr>
        </p:nvSpPr>
        <p:spPr>
          <a:xfrm>
            <a:off x="5961438" y="1352550"/>
            <a:ext cx="2005800" cy="3202200"/>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b="1"/>
              <a:t>Quiz</a:t>
            </a:r>
            <a:endParaRPr b="1"/>
          </a:p>
          <a:p>
            <a:pPr marL="0" indent="0">
              <a:lnSpc>
                <a:spcPct val="114999"/>
              </a:lnSpc>
              <a:buNone/>
            </a:pPr>
            <a:r>
              <a:rPr lang="en">
                <a:solidFill>
                  <a:srgbClr val="FFFFFF"/>
                </a:solidFill>
                <a:cs typeface="Times New Roman"/>
              </a:rPr>
              <a:t>At the end of each lesson, we also tried to keep an interactive quiz session to give the user a better understanding of the lesson.</a:t>
            </a:r>
          </a:p>
        </p:txBody>
      </p:sp>
      <p:sp>
        <p:nvSpPr>
          <p:cNvPr id="145" name="Google Shape;145;p21"/>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sp>
        <p:nvSpPr>
          <p:cNvPr id="5" name="Google Shape;142;p21">
            <a:extLst>
              <a:ext uri="{FF2B5EF4-FFF2-40B4-BE49-F238E27FC236}">
                <a16:creationId xmlns="" xmlns:a16="http://schemas.microsoft.com/office/drawing/2014/main" id="{676F0F23-7086-B946-4350-EC91D513688B}"/>
              </a:ext>
            </a:extLst>
          </p:cNvPr>
          <p:cNvSpPr txBox="1">
            <a:spLocks/>
          </p:cNvSpPr>
          <p:nvPr/>
        </p:nvSpPr>
        <p:spPr>
          <a:xfrm>
            <a:off x="3384135" y="1352550"/>
            <a:ext cx="2005800" cy="32022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60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1pPr>
            <a:lvl2pPr marL="914400" marR="0" lvl="1"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2pPr>
            <a:lvl3pPr marL="1371600" marR="0" lvl="2" indent="-330200" algn="l" rtl="0">
              <a:lnSpc>
                <a:spcPct val="115000"/>
              </a:lnSpc>
              <a:spcBef>
                <a:spcPts val="0"/>
              </a:spcBef>
              <a:spcAft>
                <a:spcPts val="0"/>
              </a:spcAft>
              <a:buClr>
                <a:schemeClr val="accent5"/>
              </a:buClr>
              <a:buSzPts val="1600"/>
              <a:buFont typeface="Muli"/>
              <a:buChar char="∙"/>
              <a:defRPr sz="1600" b="0" i="0" u="none" strike="noStrike" cap="none">
                <a:solidFill>
                  <a:schemeClr val="lt1"/>
                </a:solidFill>
                <a:latin typeface="Muli"/>
                <a:ea typeface="Muli"/>
                <a:cs typeface="Muli"/>
                <a:sym typeface="Muli"/>
              </a:defRPr>
            </a:lvl3pPr>
            <a:lvl4pPr marL="1828800" marR="0" lvl="3"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4pPr>
            <a:lvl5pPr marL="2286000" marR="0" lvl="4"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5pPr>
            <a:lvl6pPr marL="2743200" marR="0" lvl="5"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6pPr>
            <a:lvl7pPr marL="3200400" marR="0" lvl="6"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7pPr>
            <a:lvl8pPr marL="3657600" marR="0" lvl="7"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8pPr>
            <a:lvl9pPr marL="4114800" marR="0" lvl="8" indent="-330200" algn="l" rtl="0">
              <a:lnSpc>
                <a:spcPct val="115000"/>
              </a:lnSpc>
              <a:spcBef>
                <a:spcPts val="0"/>
              </a:spcBef>
              <a:spcAft>
                <a:spcPts val="0"/>
              </a:spcAft>
              <a:buClr>
                <a:schemeClr val="lt1"/>
              </a:buClr>
              <a:buSzPts val="1600"/>
              <a:buFont typeface="Muli"/>
              <a:buChar char="■"/>
              <a:defRPr sz="1600" b="0" i="0" u="none" strike="noStrike" cap="none">
                <a:solidFill>
                  <a:schemeClr val="lt1"/>
                </a:solidFill>
                <a:latin typeface="Muli"/>
                <a:ea typeface="Muli"/>
                <a:cs typeface="Muli"/>
                <a:sym typeface="Muli"/>
              </a:defRPr>
            </a:lvl9pPr>
          </a:lstStyle>
          <a:p>
            <a:pPr marL="0" indent="0">
              <a:buFont typeface="Muli"/>
              <a:buNone/>
            </a:pPr>
            <a:r>
              <a:rPr lang="en-US" b="1"/>
              <a:t>Examples</a:t>
            </a:r>
          </a:p>
          <a:p>
            <a:pPr marL="0" indent="0">
              <a:lnSpc>
                <a:spcPct val="114999"/>
              </a:lnSpc>
              <a:buNone/>
            </a:pPr>
            <a:r>
              <a:rPr lang="en-US">
                <a:solidFill>
                  <a:srgbClr val="FFFFFF"/>
                </a:solidFill>
                <a:cs typeface="Times New Roman"/>
              </a:rPr>
              <a:t>We have set some example based on the topic.</a:t>
            </a:r>
            <a:endParaRPr lang="en-US"/>
          </a:p>
        </p:txBody>
      </p:sp>
      <p:pic>
        <p:nvPicPr>
          <p:cNvPr id="7" name="Picture 6"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3907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Google Shape;71;p14">
            <a:extLst>
              <a:ext uri="{FF2B5EF4-FFF2-40B4-BE49-F238E27FC236}">
                <a16:creationId xmlns="" xmlns:a16="http://schemas.microsoft.com/office/drawing/2014/main" id="{0F6BBF1F-F29E-36D9-5748-CFA21DBCE8F1}"/>
              </a:ext>
            </a:extLst>
          </p:cNvPr>
          <p:cNvSpPr txBox="1">
            <a:spLocks/>
          </p:cNvSpPr>
          <p:nvPr/>
        </p:nvSpPr>
        <p:spPr>
          <a:xfrm>
            <a:off x="548201" y="13909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246"/>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0" y="0"/>
            <a:ext cx="9144000" cy="6387227"/>
          </a:xfrm>
          <a:prstGeom prst="rect">
            <a:avLst/>
          </a:prstGeom>
        </p:spPr>
      </p:pic>
      <p:sp>
        <p:nvSpPr>
          <p:cNvPr id="247" name="Google Shape;247;p27"/>
          <p:cNvSpPr txBox="1">
            <a:spLocks noGrp="1"/>
          </p:cNvSpPr>
          <p:nvPr>
            <p:ph type="ctrTitle" idx="4294967295"/>
          </p:nvPr>
        </p:nvSpPr>
        <p:spPr>
          <a:xfrm>
            <a:off x="1354347" y="2090144"/>
            <a:ext cx="7772400" cy="1159800"/>
          </a:xfrm>
          <a:prstGeom prst="rect">
            <a:avLst/>
          </a:prstGeom>
        </p:spPr>
        <p:txBody>
          <a:bodyPr spcFirstLastPara="1" wrap="square" lIns="0" tIns="0" rIns="0" bIns="0" anchor="b" anchorCtr="0">
            <a:noAutofit/>
          </a:bodyPr>
          <a:lstStyle/>
          <a:p>
            <a:r>
              <a:rPr lang="en" sz="4400" dirty="0"/>
              <a:t>Generating generalized mathematical equations</a:t>
            </a:r>
          </a:p>
        </p:txBody>
      </p:sp>
      <p:sp>
        <p:nvSpPr>
          <p:cNvPr id="249" name="Google Shape;249;p2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9"/>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pPr lvl="0"/>
            <a:r>
              <a:rPr lang="en-US" dirty="0"/>
              <a:t>Ohm’s law </a:t>
            </a:r>
            <a:endParaRPr dirty="0"/>
          </a:p>
        </p:txBody>
      </p:sp>
      <p:sp>
        <p:nvSpPr>
          <p:cNvPr id="266" name="Google Shape;266;p2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12</a:t>
            </a:fld>
            <a:endParaRPr/>
          </a:p>
        </p:txBody>
      </p:sp>
      <p:grpSp>
        <p:nvGrpSpPr>
          <p:cNvPr id="277" name="Google Shape;277;p29"/>
          <p:cNvGrpSpPr/>
          <p:nvPr/>
        </p:nvGrpSpPr>
        <p:grpSpPr>
          <a:xfrm>
            <a:off x="3126925" y="2012345"/>
            <a:ext cx="3599586" cy="1384500"/>
            <a:chOff x="4908100" y="889950"/>
            <a:chExt cx="3599586" cy="1384500"/>
          </a:xfrm>
        </p:grpSpPr>
        <p:cxnSp>
          <p:nvCxnSpPr>
            <p:cNvPr id="278" name="Google Shape;278;p29"/>
            <p:cNvCxnSpPr/>
            <p:nvPr/>
          </p:nvCxnSpPr>
          <p:spPr>
            <a:xfrm>
              <a:off x="4908100" y="1593250"/>
              <a:ext cx="1715100" cy="0"/>
            </a:xfrm>
            <a:prstGeom prst="straightConnector1">
              <a:avLst/>
            </a:prstGeom>
            <a:noFill/>
            <a:ln w="9525" cap="flat" cmpd="sng">
              <a:solidFill>
                <a:schemeClr val="lt1"/>
              </a:solidFill>
              <a:prstDash val="solid"/>
              <a:round/>
              <a:headEnd type="none" w="sm" len="sm"/>
              <a:tailEnd type="none" w="sm" len="sm"/>
            </a:ln>
          </p:spPr>
        </p:cxnSp>
        <p:sp>
          <p:nvSpPr>
            <p:cNvPr id="279" name="Google Shape;279;p29"/>
            <p:cNvSpPr txBox="1"/>
            <p:nvPr/>
          </p:nvSpPr>
          <p:spPr>
            <a:xfrm>
              <a:off x="6640486" y="889950"/>
              <a:ext cx="1867200" cy="138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dirty="0" smtClean="0">
                  <a:solidFill>
                    <a:schemeClr val="lt1"/>
                  </a:solidFill>
                  <a:latin typeface="Muli"/>
                  <a:ea typeface="Muli"/>
                  <a:cs typeface="Muli"/>
                  <a:sym typeface="Muli"/>
                </a:rPr>
                <a:t>Ohm’s Law Formula</a:t>
              </a:r>
              <a:endParaRPr sz="1200" dirty="0">
                <a:solidFill>
                  <a:schemeClr val="lt1"/>
                </a:solidFill>
                <a:latin typeface="Muli"/>
                <a:ea typeface="Muli"/>
                <a:cs typeface="Muli"/>
                <a:sym typeface="Muli"/>
              </a:endParaRPr>
            </a:p>
            <a:p>
              <a:pPr marL="0" lvl="0" indent="0" algn="l" rtl="0">
                <a:spcBef>
                  <a:spcPts val="0"/>
                </a:spcBef>
                <a:spcAft>
                  <a:spcPts val="0"/>
                </a:spcAft>
                <a:buNone/>
              </a:pPr>
              <a:endParaRPr sz="1200" dirty="0">
                <a:solidFill>
                  <a:schemeClr val="lt1"/>
                </a:solidFill>
                <a:latin typeface="Muli"/>
                <a:ea typeface="Muli"/>
                <a:cs typeface="Muli"/>
                <a:sym typeface="Muli"/>
              </a:endParaRPr>
            </a:p>
            <a:p>
              <a:pPr marL="0" lvl="0" indent="0" algn="l" rtl="0">
                <a:spcBef>
                  <a:spcPts val="0"/>
                </a:spcBef>
                <a:spcAft>
                  <a:spcPts val="1600"/>
                </a:spcAft>
                <a:buNone/>
              </a:pPr>
              <a:r>
                <a:rPr lang="en" sz="800" dirty="0" smtClean="0">
                  <a:solidFill>
                    <a:schemeClr val="lt1"/>
                  </a:solidFill>
                  <a:latin typeface="Muli"/>
                  <a:ea typeface="Muli"/>
                  <a:cs typeface="Muli"/>
                  <a:sym typeface="Muli"/>
                </a:rPr>
                <a:t>In our project we simuilate the current value. </a:t>
              </a:r>
              <a:endParaRPr sz="800" dirty="0">
                <a:solidFill>
                  <a:schemeClr val="lt1"/>
                </a:solidFill>
                <a:latin typeface="Muli"/>
                <a:ea typeface="Muli"/>
                <a:cs typeface="Muli"/>
                <a:sym typeface="Muli"/>
              </a:endParaRPr>
            </a:p>
          </p:txBody>
        </p:sp>
        <p:sp>
          <p:nvSpPr>
            <p:cNvPr id="280" name="Google Shape;280;p29"/>
            <p:cNvSpPr/>
            <p:nvPr/>
          </p:nvSpPr>
          <p:spPr>
            <a:xfrm>
              <a:off x="6427830" y="1493307"/>
              <a:ext cx="198600" cy="1983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txBox="1"/>
            <p:nvPr/>
          </p:nvSpPr>
          <p:spPr>
            <a:xfrm>
              <a:off x="6402820" y="1436790"/>
              <a:ext cx="247500" cy="31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a:solidFill>
                    <a:schemeClr val="dk1"/>
                  </a:solidFill>
                  <a:latin typeface="Lexend Deca"/>
                  <a:ea typeface="Lexend Deca"/>
                  <a:cs typeface="Lexend Deca"/>
                  <a:sym typeface="Lexend Deca"/>
                </a:rPr>
                <a:t>1</a:t>
              </a:r>
              <a:endParaRPr sz="800">
                <a:solidFill>
                  <a:schemeClr val="dk1"/>
                </a:solidFill>
                <a:latin typeface="Lexend Deca"/>
                <a:ea typeface="Lexend Deca"/>
                <a:cs typeface="Lexend Deca"/>
                <a:sym typeface="Lexend Deca"/>
              </a:endParaRPr>
            </a:p>
          </p:txBody>
        </p:sp>
      </p:grpSp>
      <mc:AlternateContent xmlns:mc="http://schemas.openxmlformats.org/markup-compatibility/2006">
        <mc:Choice xmlns="" xmlns:a14="http://schemas.microsoft.com/office/drawing/2010/main" Requires="a14">
          <p:sp>
            <p:nvSpPr>
              <p:cNvPr id="2" name="TextBox 1"/>
              <p:cNvSpPr txBox="1"/>
              <p:nvPr/>
            </p:nvSpPr>
            <p:spPr>
              <a:xfrm>
                <a:off x="409575" y="2207373"/>
                <a:ext cx="4003225" cy="89614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1" i="1" smtClean="0">
                          <a:solidFill>
                            <a:schemeClr val="bg1"/>
                          </a:solidFill>
                          <a:latin typeface="Cambria Math"/>
                        </a:rPr>
                        <m:t>𝑰</m:t>
                      </m:r>
                      <m:r>
                        <a:rPr lang="en-US" sz="2800" b="1" i="1" smtClean="0">
                          <a:solidFill>
                            <a:schemeClr val="bg1"/>
                          </a:solidFill>
                          <a:latin typeface="Cambria Math"/>
                        </a:rPr>
                        <m:t>=</m:t>
                      </m:r>
                      <m:f>
                        <m:fPr>
                          <m:ctrlPr>
                            <a:rPr lang="en-US" sz="2800" b="1" i="1" smtClean="0">
                              <a:solidFill>
                                <a:schemeClr val="bg1"/>
                              </a:solidFill>
                              <a:latin typeface="Cambria Math"/>
                            </a:rPr>
                          </m:ctrlPr>
                        </m:fPr>
                        <m:num>
                          <m:r>
                            <a:rPr lang="en-US" sz="2800" b="1" i="1" smtClean="0">
                              <a:solidFill>
                                <a:schemeClr val="bg1"/>
                              </a:solidFill>
                              <a:latin typeface="Cambria Math"/>
                            </a:rPr>
                            <m:t>𝑽</m:t>
                          </m:r>
                        </m:num>
                        <m:den>
                          <m:r>
                            <a:rPr lang="en-US" sz="2800" b="1" i="1" smtClean="0">
                              <a:solidFill>
                                <a:schemeClr val="bg1"/>
                              </a:solidFill>
                              <a:latin typeface="Cambria Math"/>
                            </a:rPr>
                            <m:t>𝑹</m:t>
                          </m:r>
                        </m:den>
                      </m:f>
                    </m:oMath>
                  </m:oMathPara>
                </a14:m>
                <a:endParaRPr lang="en-US" b="1" dirty="0"/>
              </a:p>
            </p:txBody>
          </p:sp>
        </mc:Choice>
        <mc:Fallback>
          <p:sp>
            <p:nvSpPr>
              <p:cNvPr id="2" name="TextBox 1"/>
              <p:cNvSpPr txBox="1">
                <a:spLocks noRot="1" noChangeAspect="1" noMove="1" noResize="1" noEditPoints="1" noAdjustHandles="1" noChangeArrowheads="1" noChangeShapeType="1" noTextEdit="1"/>
              </p:cNvSpPr>
              <p:nvPr/>
            </p:nvSpPr>
            <p:spPr>
              <a:xfrm>
                <a:off x="409575" y="2207373"/>
                <a:ext cx="4003225" cy="896143"/>
              </a:xfrm>
              <a:prstGeom prst="rect">
                <a:avLst/>
              </a:prstGeom>
              <a:blipFill rotWithShape="1">
                <a:blip r:embed="rId3"/>
                <a:stretch>
                  <a:fillRect/>
                </a:stretch>
              </a:blipFill>
            </p:spPr>
            <p:txBody>
              <a:bodyPr/>
              <a:lstStyle/>
              <a:p>
                <a:r>
                  <a:rPr lang="en-US">
                    <a:noFill/>
                  </a:rPr>
                  <a:t> </a:t>
                </a:r>
              </a:p>
            </p:txBody>
          </p:sp>
        </mc:Fallback>
      </mc:AlternateContent>
      <p:pic>
        <p:nvPicPr>
          <p:cNvPr id="29" name="Picture 28"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30"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9"/>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pPr lvl="0"/>
            <a:r>
              <a:rPr lang="en-US" dirty="0"/>
              <a:t>Mesh current analysis </a:t>
            </a:r>
            <a:endParaRPr dirty="0"/>
          </a:p>
        </p:txBody>
      </p:sp>
      <p:sp>
        <p:nvSpPr>
          <p:cNvPr id="266" name="Google Shape;266;p2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a:p>
        </p:txBody>
      </p:sp>
      <p:grpSp>
        <p:nvGrpSpPr>
          <p:cNvPr id="277" name="Google Shape;277;p29"/>
          <p:cNvGrpSpPr/>
          <p:nvPr/>
        </p:nvGrpSpPr>
        <p:grpSpPr>
          <a:xfrm>
            <a:off x="2690196" y="2587976"/>
            <a:ext cx="3599586" cy="1384500"/>
            <a:chOff x="4908100" y="889950"/>
            <a:chExt cx="3599586" cy="1384500"/>
          </a:xfrm>
        </p:grpSpPr>
        <p:cxnSp>
          <p:nvCxnSpPr>
            <p:cNvPr id="278" name="Google Shape;278;p29"/>
            <p:cNvCxnSpPr/>
            <p:nvPr/>
          </p:nvCxnSpPr>
          <p:spPr>
            <a:xfrm>
              <a:off x="4908100" y="1593250"/>
              <a:ext cx="1715100" cy="0"/>
            </a:xfrm>
            <a:prstGeom prst="straightConnector1">
              <a:avLst/>
            </a:prstGeom>
            <a:noFill/>
            <a:ln w="9525" cap="flat" cmpd="sng">
              <a:solidFill>
                <a:schemeClr val="lt1"/>
              </a:solidFill>
              <a:prstDash val="solid"/>
              <a:round/>
              <a:headEnd type="none" w="sm" len="sm"/>
              <a:tailEnd type="none" w="sm" len="sm"/>
            </a:ln>
          </p:spPr>
        </p:cxnSp>
        <p:sp>
          <p:nvSpPr>
            <p:cNvPr id="279" name="Google Shape;279;p29"/>
            <p:cNvSpPr txBox="1"/>
            <p:nvPr/>
          </p:nvSpPr>
          <p:spPr>
            <a:xfrm>
              <a:off x="6640486" y="889950"/>
              <a:ext cx="1867200" cy="138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dirty="0" smtClean="0">
                  <a:solidFill>
                    <a:schemeClr val="lt1"/>
                  </a:solidFill>
                  <a:latin typeface="Muli"/>
                  <a:ea typeface="Muli"/>
                  <a:cs typeface="Muli"/>
                  <a:sym typeface="Muli"/>
                </a:rPr>
                <a:t>Mesh Analysis Formula</a:t>
              </a:r>
              <a:endParaRPr sz="1200" dirty="0">
                <a:solidFill>
                  <a:schemeClr val="lt1"/>
                </a:solidFill>
                <a:latin typeface="Muli"/>
                <a:ea typeface="Muli"/>
                <a:cs typeface="Muli"/>
                <a:sym typeface="Muli"/>
              </a:endParaRPr>
            </a:p>
            <a:p>
              <a:pPr marL="0" lvl="0" indent="0" algn="l" rtl="0">
                <a:spcBef>
                  <a:spcPts val="0"/>
                </a:spcBef>
                <a:spcAft>
                  <a:spcPts val="0"/>
                </a:spcAft>
                <a:buNone/>
              </a:pPr>
              <a:endParaRPr sz="1200" dirty="0">
                <a:solidFill>
                  <a:schemeClr val="lt1"/>
                </a:solidFill>
                <a:latin typeface="Muli"/>
                <a:ea typeface="Muli"/>
                <a:cs typeface="Muli"/>
                <a:sym typeface="Muli"/>
              </a:endParaRPr>
            </a:p>
            <a:p>
              <a:pPr marL="0" lvl="0" indent="0" algn="l" rtl="0">
                <a:spcBef>
                  <a:spcPts val="0"/>
                </a:spcBef>
                <a:spcAft>
                  <a:spcPts val="1600"/>
                </a:spcAft>
                <a:buNone/>
              </a:pPr>
              <a:r>
                <a:rPr lang="en" sz="800" dirty="0" smtClean="0">
                  <a:solidFill>
                    <a:schemeClr val="lt1"/>
                  </a:solidFill>
                  <a:latin typeface="Muli"/>
                  <a:ea typeface="Muli"/>
                  <a:cs typeface="Muli"/>
                  <a:sym typeface="Muli"/>
                </a:rPr>
                <a:t>In our simulation all of the components are dynamic</a:t>
              </a:r>
              <a:endParaRPr sz="800" dirty="0">
                <a:solidFill>
                  <a:schemeClr val="lt1"/>
                </a:solidFill>
                <a:latin typeface="Muli"/>
                <a:ea typeface="Muli"/>
                <a:cs typeface="Muli"/>
                <a:sym typeface="Muli"/>
              </a:endParaRPr>
            </a:p>
          </p:txBody>
        </p:sp>
        <p:sp>
          <p:nvSpPr>
            <p:cNvPr id="280" name="Google Shape;280;p29"/>
            <p:cNvSpPr/>
            <p:nvPr/>
          </p:nvSpPr>
          <p:spPr>
            <a:xfrm>
              <a:off x="6427830" y="1493307"/>
              <a:ext cx="198600" cy="1983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txBox="1"/>
            <p:nvPr/>
          </p:nvSpPr>
          <p:spPr>
            <a:xfrm>
              <a:off x="6402820" y="1436790"/>
              <a:ext cx="247500" cy="31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dirty="0" smtClean="0">
                  <a:solidFill>
                    <a:schemeClr val="dk1"/>
                  </a:solidFill>
                  <a:latin typeface="Lexend Deca"/>
                  <a:ea typeface="Lexend Deca"/>
                  <a:cs typeface="Lexend Deca"/>
                  <a:sym typeface="Lexend Deca"/>
                </a:rPr>
                <a:t>2</a:t>
              </a:r>
              <a:endParaRPr sz="800" dirty="0">
                <a:solidFill>
                  <a:schemeClr val="dk1"/>
                </a:solidFill>
                <a:latin typeface="Lexend Deca"/>
                <a:ea typeface="Lexend Deca"/>
                <a:cs typeface="Lexend Deca"/>
                <a:sym typeface="Lexend Deca"/>
              </a:endParaRPr>
            </a:p>
          </p:txBody>
        </p:sp>
      </p:grpSp>
      <mc:AlternateContent xmlns:mc="http://schemas.openxmlformats.org/markup-compatibility/2006">
        <mc:Choice xmlns="" xmlns:a14="http://schemas.microsoft.com/office/drawing/2010/main" Requires="a14">
          <p:sp>
            <p:nvSpPr>
              <p:cNvPr id="2" name="TextBox 1"/>
              <p:cNvSpPr txBox="1"/>
              <p:nvPr/>
            </p:nvSpPr>
            <p:spPr>
              <a:xfrm>
                <a:off x="409575" y="2902698"/>
                <a:ext cx="4003225" cy="484235"/>
              </a:xfrm>
              <a:prstGeom prst="rect">
                <a:avLst/>
              </a:prstGeom>
              <a:noFill/>
            </p:spPr>
            <p:txBody>
              <a:bodyPr wrap="square" rtlCol="0">
                <a:spAutoFit/>
              </a:bodyPr>
              <a:lstStyle/>
              <a:p>
                <a:endParaRPr/>
              </a:p>
              <a:p>
                <a:r>
                  <a:rPr lang="en-US" sz="900" b="1" dirty="0" smtClean="0"/>
                  <a:t/>
                </a:r>
                <a:endParaRPr lang="en-US" sz="900" b="1" dirty="0"/>
              </a:p>
            </p:txBody>
          </p:sp>
        </mc:Choice>
        <mc:Fallback>
          <p:sp>
            <p:nvSpPr>
              <p:cNvPr id="2" name="TextBox 1"/>
              <p:cNvSpPr txBox="1">
                <a:spLocks noRot="1" noChangeAspect="1" noMove="1" noResize="1" noEditPoints="1" noAdjustHandles="1" noChangeArrowheads="1" noChangeShapeType="1" noTextEdit="1"/>
              </p:cNvSpPr>
              <p:nvPr/>
            </p:nvSpPr>
            <p:spPr>
              <a:xfrm>
                <a:off x="409575" y="2902698"/>
                <a:ext cx="4003225" cy="484235"/>
              </a:xfrm>
              <a:prstGeom prst="rect">
                <a:avLst/>
              </a:prstGeom>
              <a:blipFill rotWithShape="1">
                <a:blip r:embed="rId3"/>
                <a:stretch>
                  <a:fillRect b="-8750"/>
                </a:stretch>
              </a:blipFill>
            </p:spPr>
            <p:txBody>
              <a:bodyPr/>
              <a:lstStyle/>
              <a:p>
                <a:r>
                  <a:rPr lang="en-US">
                    <a:noFill/>
                  </a:rPr>
                  <a:t> </a:t>
                </a:r>
              </a:p>
            </p:txBody>
          </p:sp>
        </mc:Fallback>
      </mc:AlternateContent>
      <p:sp>
        <p:nvSpPr>
          <p:cNvPr id="3" name="AutoShape 2" descr="data:image/png;base64,iVBORw0KGgoAAAANSUhEUgAAAfQAAAEQCAYAAABGA4YeAAAAAXNSR0IArs4c6QAAAARnQU1BAACxjwv8YQUAAAAJcEhZcwAADsMAAA7DAcdvqGQAAGLsSURBVHhe7Z0JvFXj+vhfPy4qkiZKUpQ5hIsoQ4QIyXCFENeQIWNldq95SOTiGjKTiopryDxVhshQZMp4TSUzGe9//df3aT/be9bZ+5x99llrr332eb6fzzp77zWvdd7nfYb3ed93sSDEGYZhGIbRoPm/zKdhGIZhGA0YU+iGYRiGUQGYQjcMwzCMCsAUumEYhmFUAKbQDcMwDKMCMIVuGIZhGBWAKXTDMAzDqABMoRuGYRhGBWAK3TAMwzAqAFPohmEYhlEBmEI3DMMwjArAFLphGIZhVACm0A3DMAyjAjCFbhiGYRgVgCl0wzAMw6gATKEbhmEYRgVgCt0wDMMwKgBT6IZhGIZRAZhCNwzDMIwKwBS6YRiGYVQAptANwzAMowIwhW4YhmEYFYApdMMwDMOoAEyhG4ZhGEYFYArdMAzDMCoAU+iGYRiGUQGYQjcMwzCMCsAUumEYhmFUAKbQDcMwDKMCMIVuGIZhGBWAKXTDMAzDqAAWC0Iy3w0jLxSTxRZbLPOr7vz666/u22+/dT/++KP7448/XLNmzVzz5s3dsssuW6/zGkZdqG85Thqtjutzjz///LP74Ycf3E8//STnadq0qcjZ0ksvbbJW4ZiHXsH8/vvvItTvvvuue+mll9yHH34ov+vCb7/95s466yy36qqrukmTJsm6//f//p98FgIKfMSIEa5jx46uQ4cOrmvXrm6ttdZynTp1cu3bt3ebbLKJe+aZZ+ScZlsaSVOXslsXkJMFCxa4119/3b366qvu888/F/mrC99//70bOHCg22WXXURm68p///tft8cee4hssayxxhqyILudO3d2gwYNch9//LHsa7JWmZhCr0AQ1jlz5rjjjjtOhLl79+5uq622ct26dRPBPuSQQ9wrr7xSUOXGPt99951UVr/88ousK6Qy4DgU9U477eRGjx7tvvnmG/HI119/fdejRw9R7uzz8ssvux133NENHTpUDA7DSJK4PdT//e9/7vnnnxdlufrqq7vNN9/cbbPNNmK0rrnmmu6CCy5wX3zxRWbvmuFcyMlXX30lBgIUImscd++994oyf+CBB8SIbt26tdtss83cX//6V7f88stLdGz8+PFuvfXWc5deeqn7+uuvM0cbFUVYYIwKI6xAgn79+gVNmzYNlltuuaB3797BGWecEYTWf9C2bdugSZMmQc+ePYNPPvkkc0R+fv755+DEE08M2rRpE9xxxx2yLvQ85LMmQoMhCCuU4C9/+UvQokWL4Lzzzguee+654P333w8+/fTTYNasWUFYCQVhhRMsueSSst/gwYOD0HjInMEw4uePP/7IfIuHZ599Vsr5sssuG4TGcjBkyJAgVJjB3/72t6B9+/bBCiusEBxwwAFBaAxnjshPqMiDPn36BFtssUXwxhtvZNbWTGgUB//5z3+CddZZJ2jWrFnQpUsXkdNXX31V5AwZRxZvv/32IFTmImutWrUKrr766iA0BDJnMSoFU+gVyNixY0WJhl5wMG7cuKzgIvyPPfZY0KlTpyC02oMzzzxT1tUECn3YsGFVFHroPchnPqg0MSAwKKjQbrnllryVx/fffx8cdNBBotBbtmwZTJo0KbPFMOInToX+66+/igxhJPft2zd48803M1sCKe+TJ08O1lhjjaBjx45Z2akJFPoOO+wQbLXVVsGcOXNkXW3yOW/evGDPPfcMlllmmaBXr17B22+/ndlSnXfeeUeMD5T6WmutJccalYWF3CuI8P8poborr7xSwnAHH3yw23333WUb4W22b7311u6oo45yoVC7Rx55RMLprM8H20hi43ycm3ZBvnM+PmkrpM2QEH7oDcj29957z4WGhOwTeiourHDyhjrDikiaBlZbbTVp3ycsSAJdTfdkGMUSV8id8knYOjSQJeHssMMOk/wQLbdcJ/S23fbbby/l+cknn5Qmq5rKNXKGzITGreyn+/LJttDjljb6UGlL0hv7ct4ZM2ZIWB25Ro7yEXrvLjRAXGiAiNxeddVVdW7nN8obU+gVBJUIAjp37lwXeuiizKkcWK/L//3f/7nevXtLJYSCpmJgfT784zACllhiCVn4TYW23377uf79+4tSZv3iiy/uHn/8cRda/3IPJMQ1adIk7zVYT9v+scce65Zaain3wgsvSMVX0z0ZRrHEVa44D+WU9u6VVlpJ8kKQCT0/n2SV02ZNuWZfZLOm63M8qIz550KmMRpImrv11ltFzlg/ffp0aTPnOn379pX1+WB/jIwDDzxQrvXQQw+JoWBUDqbQK5DtttvO7brrrpJFjhBHF6xzvAYqjeWWWy5zVM1wnFYyVAZUMHjfL774olt55ZXd2LFj3YorrijbpkyZIpXXOuusk72HmuAYIgd463jpGAOGkQQ1ech1BWOZcou8YbxGyznXQuGjzIH9a0KPx9D2vfPXXnvNHXTQQW7mzJlugw02cKeccop0RWN/5BBDG4OCpNPaQIbZl26jGAJk1huVgyn0CgNBve2229y//vUvyXSNQrcVss4RZLJyUaK1QaWC0mUBQupDhgwR74BM2muuuUa8FGBfQoCw6aabymchYAxQ4VGZWba7kRSEqeOCMv/vf//bnX766aJUo7zzzjvu/vvvFy+YrHc89ZpAdjC0MQC4T34jY0cffbT76KOPJJOe5jSVWbaTQc956clSKG3atBFPnv7qX375ZWatUQmYQq9AULxY71GPAUWMpU93MjxzLH1V0vngHFQceNxUMnjP++yzj5xj7bXXdhMmTBBPXGFf2tZ9A6AQqBCpZDhePRrDiBvKV5yonPmyxjUwagmP413TJ5z27ag8RlHZYeE7sjZ8+HBpN6f57Oyzz64WUdMQe11C53jpnJ9jrA29sjCFXuEguCTTjBkzRvp700ZNX/QLL7xQPPRCoNJA+Glz23vvvaWCWWGFFdztt98uyTg+KHFC8FRe9IUvlPnz54vHwPHt2rXLrDWMhgMGL0YziWe77babfKcf+PXXX19Q05YaBiSqMogTbd1vvvmm23jjjd3ll18uuSg+7NuyZUuRcRLlCoUxJVDkGNE0FRiVgyn0CobwHRUDiWskrX322WfS7n3HHXe4vfbaSyz1QkCZo2xR4IQA+U1bd74BM7gelQWVEUl3hfDWW2/JNTiOdnfDaEiQIHrFFVeIwXvZZZeJkiUUjzKvSzicJqf333/fnX/++e7pp58WOUPBM+BMLmjWwuCeNWuWyHshEL5HodM8FzXIjYaNKfQKhQrgxBNPlK5rjGSFR42Xft1117kNN9ywYGXuQ1sdSTm0wdEGf+ihh0plEwWFTvs9ngAjV1G51QSVy6hRo6RCYiQ5U+hGQ4GyTZIpoy+eccYZ0m7OqIyPPvqoO/nkk2WkxtpC7bmgnZwub7TTExHDIM/VFIX3TlSLaNjs2bMza/PDOagHMMrJeDcPvbIwhV6B4C1QAdx8881igdN1jFA7bXp1VeRUWCwo83333VeSfO677z5pF6Tf+bnnnlutokGZ0/ectsCrr75a9ssH56abG5UWIcX999+/qArQMApB25zjAkWKV05/9HXXXdeNHDlS8kroilkMyBkGLfMnTJw40Z133nmuVatWkrPy4IMPVkvqQ6FvtNFG0qzGGA4LFy7MbKkOsnbLLbdIBACjHIPcqCxMoVcgDOqC4mUACQT4tNNOy5nxXih4AHST6dWrl2SjU1nhkVD53H333W7q1KmZPReB0UD7H+2HtO2h1POFA2k7xzunew/daZiYwjCSoi6JmrVBExERL5qWCH3j+dJXnFB2MWDIYnCg0OkOR68Pup8yNjyhdzLqo2Owk29CFjxyiQHwn//8J7OlOnQxRRYxtAcPHiwDzRiVhSn0CoNKBq+ZiuuSSy5xW265pVQM6mlHl0KgouEc2jUHRU62fM+ePSW0j9Hgt5XjRVBZ4GXwSds7lRFKWyHMTgYw4XkMgi222EK605E8VOh9GUaakEPCpCgM0oTM0esDojJWl/KMMcyANBpJ4Nwnn3KyjAD3xhtvuBtuuEHC5QrnZkIYEvE4jmgcip0+5grt8s8++6w74YQT3AcffCCTuNAUh1zX5d6M8mfxf4RkvhsVAKFr+oVTMaB4CbWTXPPUU09J2G7atGmiQFnwLKiEahrwAsVLeyDtc/369ctWWlQ0tMsz9CRhR8Ll9Emnbf3iiy+W9bQnovDpV861CQfi5XNvJPEcfvjh0r5PxULokP3ZjwqIYTQNo5xBrohQqWJEaVJ+WY98kUDKbxba2elVUlPIn6YrkliROWRNo2qt27QWrx/ZZXAZZnFDPjCQ6ZeObDN1KkmvJLwhe8xmyOhx3BsDPR1xxBEi7xjl5KlQT9C1DjnGuzcqhLAgGhUEsyqFijwIPXRZwgokCBVo9lOX0JoPNtpoo2DBggWZI3MTevzB0KFDZZKV8ePHy7rQA89+hp6JTKoSVlZBWNkEoQcQNG/ePHtN7iGsVOT3jjvuGIQKXo596KGH5JxsY9F7DSuu4KSTTpJ9DKOcOf3006W8+rKmi8pZaCzL7IZ77bVXEHrNmSNzgyxuu+22MslKqHxlncoakxiFBrBMwtK/f3+ZUXHu3LlBqIxF3rkO10WWQqUdhH5adkKkkSNHyj3498m9tWjRIrjxxhtlH6MyWIw/Gd1uVAAPP/ywhAFpJ9NkNax0/TeHwizfQ8GWDNzjjz9e2sfzgbdAsg2eASNVkSFPSJ3jgWQcuusQ4iO8TxieoA/X4Lrsy3fuB++eec/x5vEQrr32WmkbZDthRDxzsnt33nlnN2DAADm/YZQrN910k7RLU4Yp5ypbLAoyQKSMfBLySrTZKhecB1niGNq4iYCpHPGJx09+TKiM5Vx41uecc47IDfuAXpv5FZAj1jN+BMchY/794Z1zHSJrRmVgCr2CQYlSycQNFUhNFVOxUOFQWRlGQ8M3cuMkCZnQKl+NAKNysKS4CiYJZQ5UXklgtqXRUElCmScFityUeWViCt2oM0lVBn72rmEY5kUbdcMUulE2mIduJI2VMaOSMYVu1BmrFA3DMMoPU+hG2WDhRSNpzBg1KhlT6EbZYArdSBpL6DQqGVPoRtlglaKRNFbGjErGFHoZ0JAqGR0oJk5Ph/PRZz7u8xp/Yu91UTmjJ0US7yKp6FJD6g5npI+VljKg0AqmlAov33WoYBj7Pa6KRq9Dn/k4z2sYUVC6lK9CyhiyxlIoddnXp7brxGkoFHuPRsPBas8yoFAl/corr7ixY8dmfiUHM6cxOxoTreQizkrmoosukglkwNrQk4MyZhV64UqNaUiZ5KRQin23TJhy1113ZX4lB9MX33nnne7bb7/NrDEqEVPoZUAhlQGhQmY9YyY1ZjBLEhQs46y/9957mTVViUvxzp07V67z2GOP2aAyRkkoRNaYxYwpgZmqlOmIkwIji7I/atSovMZzXCDLI0eOdG+99VZmjVGJmEIvAwpRkFjY7777rkxVSmWTlLdFWzbXYDpGJorIFT2IQ6Fz/8zN/PXXX8vkL19++WViz2QYSiHhdsri+++/L9OhshRCMTLBxEdMGYyXfvXVV+cs/3HIBDLMdZC3Cy+8UIxnk7XKxBR6GVBIZfDqq6/KvMaEwydOnOg+/vjjzJZ4YT7lq666SmZPe+CBB2S+8ihxKHRCf2PGjBEP6O2333b33HOPVTIJwv8sjv9bQ6e2d0AZRM6Yw3/evHkSetdZC+MGw5mZ0BYuXOjuuOMOkb0kWLBggfvXv/4lssZsjDQlYLgblYcp9DKgkElUCJfhzaoHre3OcXP77be7zz77TK6D0iXEnwQYKEw9yXVYLrnkEgu7J4gp80XU9h4ogxjMKFlmFZw8ebL77rvvMlvzU8z7HT16tBgNlH+U+dSpUzNb4uX+++93s2fPlmdjIT+m0Lwdo2FhCr0MqK0ywKJ+6aWXpIIBvPRp06ZJyC5OaGfjWlRmQEVDRRB3NIDKhEqGygzwijAinnnmGfltGElRm6yhzJEDyj7lFO/26aefzmyNDyJfGOXaRs8n62ha86mvIfb5559L7g15NzyPht/JXzEqD1PoZc5PP/0kme1+GzOVzSOPPCLr4gQj4fXXX89eh89PPvlEjIk4IZxJqNGvvHgmQp3RCs0wSgVK7/rrr5fIlMoARvNtt90Wa3Ic56KJiTwV9ZT5RP7mz58vv+MCo+G5554T+QI1nmfOnJl9RqNyMIVe5qDQUaq+N44gEqKLOxxOBaPeuUK48d577401HI5Cp/L0KxS+k4BE4p8RP9a/v3YwkJEBjYQBipZyiQEaF8gY8usbCZR/IgM33nhjZs0i6qt0NfHUhwjfhAkTzHiuQEzKy5wHH3xQLOyoYFPpkFQWVzcUFCnniwo5lj0hO+4hDgizn3rqqVLJRBU6FVqcFadhRMkXwka54p0Too6WS7qU4aXTnS0OaNbCG4/KNMl39GB54403MmvqB01l3Hc0qQ+Znj59unv88ccza4xKwRR6mYMXTsZ5LggN3n333Zlf9eO0006TcJ+GABUqHa5DAk8c4O1jPETb/7kOngvboxWdYcRFvrKFMUkzVjRCBSjA1157TbqXxUE+4wDZ08z6OMBAIRKQK7pGnXLppZdmfhmVgin0Mua+++6T0eEQdDyLZZdd1rVs2dItscQSsh2lOGPGjHq3u7388svSnUW986ZNm7p27dq5pZdeWkK1XId9SJCDYhUu90lXOB1EY6mllnIrr7yya968uVyHipNwvHkORlJoW3IUIkModVhyySVdp06dXMeOHWU4YmSPiFKhfdJr4qmnnsomuFLm27Rp4zp37izX5DrIIO3b9ZVpkt54JsLroLKGbHMd3gORgKR6yxjpYAq9TMErPuOMM7LWNQJ/2GGHSbey9u3bS2WAokfJ1sdzoAKh3Y6QI4qaCmyLLbZw48aNc+uvv750qWP9F198IUlr3E+xCp2wPaFG7pvzUpHRlrfffvtJhcN5eW6SAJPq+2sYUfCW6cqlBi1GM90oL7vsMteqVStRgOSy0PSUL1pWCJzjnHPOyeaPYDDvv//+ItMY0CprRAPq05SGssYZYHAcvnPerl27ikxvs802WVkjPwaZjkbLjIaLKfQyIBrmBjJR/fa8tm3buoEDB7o+ffq43XbbTRQ829inPmF3Khm8YvVclltuOTd06FC3+eabu7333lsqHa5DZUcokHa5XPdbCAwgQ4XI+bh/KrONNtpInqd169ayDyFPhsPMNaCNYdQXlScfFB9yhAxgKPfq1UuWLbfc0m244Yai0DFkGTuhPuOuk3RHFADvnHOutNJKbt9993WbbLKJ23PPPbOy9umnn9brOhjDGARqfCyzzDKSt8J19tlnH7f88svLc3IfRMx4fqMyMIVeBkQVJMqTdja8VVDhZ8HaRhEilIB1jaJlsJliIDlGlSfXwTtZffXV5TqHHHKIhB0RfioaurQRMixGoZM9TD6AGg5UMmussYY0H2y11Vbur3/9q0QHuA7hxkmTJomxYRQP75pQMREcmmao5LU/cmMl+uw0/5x99tlZL5Uy2KVLF2neQsZ22mkn+Y5soCBJWtPxE+oC50emtfsp5Z4QuMr04MGD5Tfr2ZdkWELiuQyQ2qCZjnwAjBDuG2O5W7ducp0BAwaIkYKXDhjZTzzxhHw3Gj6m0MuAaCVDeJtRo1T5IXyEpVdYYQX5vdpqq4lnq4qWwS8YC7oYmIFJLXmus+OOO0p4DmjbxoPAmwbC8oTDcyXZ1AYTXWi7IBXLBhts4DbbbDP5zXUxHogOUAHhOTCYR1JDYTYG+J/SlHLwwQe7vn37um233VaUE+8ZpeR3mWrM0J49a9YskTXKHgp2hx12cE2aNBH54r2haCmzKFoSOovJ8UBGOU7D+i1atBBvecUVV5TfGM5EBJA16gMUP0lrxcgaMorRQd2A18//f5111pFtPBcyjeEOlAMMDaNCCP/pRsosXLgw820RN998cxAKXBBWMEFosQdrrrlmEFY4ma2LOPfcc4NQWGWfsOIJQgUffPDBB5mthRF6bUG7du3keJZVVlklCCu4zNZFvPbaa0GHDh2y12nfvn0QVkyZrYXBfa233nryLJwjVNzBqFGjgrDiyuwRyPNtsskmQVihybXCCi8IjYDMVqMuhMoj2HrrrYPQs5T3zfvUhd+s32WXXYLQe88c0XgIDZ3MtyAIlVlwxhlnBE2bNpV3w+fAgQOrlEu+77XXXkGzZs1kH8rnkUceGYSefWaPwpg4cWLQtm3b7Dl69epVTaZDA0z24X8UGhBBaFgHoZee2VoYb731VtCpU6fs/z00/kXOfd5///0g9NKz+4SGexA6EJmtRkPGPPQyIBSqzLdFo1XhbWt2Khb1sGHDxFvw6devnwsVbdZLp22bjNWot58PLHMdHx64B7xzwuA+eCfbbbddNpGGZgBGuSrUc8DzYTxsBrjg3rhfkuHCSrLKc7OedkRC8UBbOtfBWzcKh//PoYceKk0peOn8z3z4zXr6QjMXfa5uWo0FyiRJYdqmjTz94x//qFIu+R4qcImO4aVT7mmiqstwyMgyk6NoExqRLxJcozJNMirhfsLuyArt+nVp4sL753+q3jn3S7QhdAgyeywC73zTTTcV7x2oC6hztNnBaLikqtApdIUW1rrAOaMVWRygnJLAPy9t4YSmVfnR9hV6W5mtf7LuuutK6Ezb96gsyGzVSqM2uAYj0KliRpESAgw9EfmtEBrs37+/hAa5HyoNsn21C1ttsD9JN6qY6TZzzDHHSFZvFAyKtddeW56H+6KbEGO+15ckyhjlq5hwaG3Ut+zSk0AnvYnin5dKnHbaQv+P+UhKJpJ4t+DfLzkFhMKBUPfOO+/sVl11Vfntg6IlGRXjmndIlzDGSygUDAdySPTayC7njEJTGoYubffIAP8jyr/eY21gnHMtFDPHI7u0mUdlGlknDE9vGeBdY9hQbuoD76Y+ZTcfyEQSMpzEOSGp8xbCYuE/IP7/QC3QfWLEiBHiKVDwWPzb0HW58Pf3LVxdzzqtFHU/Rdcp+l3387cBvzmfbgfdzz9Gt0Gu80S36yf7IeQIIELFffObLFW+Y2EjkIzghuKOggDTDQUjgOPwImg/Y11NsO+1117r/vnPf0pbHfeBd4ICpQ0xCv+nv/3tb+LVcW9UbCeddJI7/fTTJYmoJuhTSxIfE0LwzNwj/WPpEhcFb/H888+XtkMMAZ6fBB4MCLyamsCQweshkYh7xMvherrwf2Txf/uwLvrJwruJCqhfxqLoMf55lOg24Luu99Hf0W36nU/uwVd87IsSINFLr6GfPnoO3hHvFSML2Ff3968JrI+u8+9Fie6jsF4XH13nX9f/HpU/xV/HJ4uu00/drudRWdPtlDe8Z9bxHi6++GKJbuSCnBbyEchSp1zST50oCL1PaoJrnHjiiTI9qtZ3yAMee64yjUxjWCA3/G/JK+FY8h9qgrJAPgxyqTJNtI0s9lVWWSWz1yJ4dhJO//73v0v0jOfnmY466ijx8DVhLh/kERx99NFyr8ipypK+e84VlS/Q/wn3yn6KlmOO0X18+L/puYFP3U+/qzyyAL8V3U/xjwfdHr0O6D56fn+b3q9+AvtxHurrK664QgynkhLeSMm56aabpE0qfBHShhPnUsw5o8fwu1SLf11/YRttzbSr1QRtgKHFLceEghiE3nRmS35C5SdthezPcbTFDx8+PLM1N3fffbe0n+t9hwo5+PjjjzNb83PWWWcFocch16ENvab7CwUhCI2KoGPHjtn3QFs67Y+1wT60HWo7fUNa9Flzbcu3+Mfo91wLIh5dcu0XXaLXqWmb/m4oi/8sLKECkvI8e/bsTGmqzvz580VmQgNWzkH9NWzYsMzW/MyaNSsIvXEpl1wrVOLB+PHjM1tzc8EFF4jMcB2ut9tuu2W25CdU0EFojEgegN7fmWeemdmam1DZZ2Va3wHt67UxcuRIyfHhGI7Nt7C9tn3iXKL/1zQX6q17770388ZKR8lD7uE1s5YQS9wUc87oMXpvpVjygfdEW/Mee+yRWVMdjqe/uN+FDS+brF3fQvXh3TO4Cwv7h4IgXjPt9Pnuh/WE/f3BL7DSCe/6HqIP16ebGx6A5gMQ+qNve757CwVBwpF4P+r5a3svn7nuj3W0NdJvl7ZDv2w1lEXJtS3fovjf4yR6HZ9c99CQliiUtR49ekh3zXwQvqZnBl415RTPlNEVabbKdU6gmYk2cGSFMo9M06RUk7fNfvT+0AFt+E1uDIPN5JMbrs92IgbcF8cRaRsyZEjee2M9dYcOUsVvxqMgPwAZygX7ENJHppFH7od1+Ra217ZPnEuS1PUa+k5LTckVOoUNAeLTB0XBS+BTFwSgHBbuVxf9TZubfup3/3e+Rfdj4Vz+c+sn61HSl19+eY2hZt4hbez04eY4ChDKk5B29P0qKOBRo0ZJuxz7kxiD4NNXNd8xrKeCIRFPk9aorKjQ8h2DIDOWtA5aw7NRUdEWyfdccD+Equha5VdoGCgarswFFR79rKnMgPPzDnnfPJ8uhBLzLdH/U65F/2fRpZD/e77FP1bPVegSvQ8tQ3XBL3P+4t9jdNFr57oH//50e65zlGqJ3iPP6i+so6ydcMIJsn8+OI/fhY2ySvfSmiZSoekD5ceIbIDsMAKdylAu+H+stdZabuONN85eB5nGqM0HMk0XRYwL5IVnIr+G5oCaZBojhUGdtMkF+alp7nfOzfgQNJ+pIa+yFl30/x/9fxSz+OfT77VdJ9d6PU63Rffxf/vbo9f3Fy1DvAf/XfOd9aUmlTZ0hjpEidCOw4NTwGm74Vb8lxJ9SbluVbfrNn6jQPjkeIie16embVEo0HpO/xi++/emv3Odl/W6L5+cE+GgYIAeyzvZfffdaxR+4Fnp483kKrRpcX8oeQQPTzcK7e0kuWnWOR4xlQH92msDxXn44YdnE6nw7CdOnCjeTRS8ZtroaP/m+XgODJQDDzww+6xR2A8hQHmToKfHUvFw7KBBgzJ7/gnbGaKT8kMPAZTz4MGDxZviXbDwnFo55qOQbf4+nFPPy/8s1/86H/muxXqWXOfT9fpd0e/6yf+IHJVChs7FaKQ9lyxov/zpZ657UPR+/LIbJXo85FqXC8p1sRVi9D51AW0v9sGIJHJEhV0TGLHIGTktKGvOQxmnt4gqRZ9nnnlGyiJGLeUQz5w+3zUZ6cCzU0fSHo5M884w2mlLz5W0x/mRDf73/D+Q+1tvvdX17Nkzs0d+kGVyAxgFD8iloS1ex4jw4V5OPvlkOTfvglya4447LttGr2VCFyXX/1z/H7pNj80FzwT5yhlEj/XPr9/Bvw7vOdc5cx3jf/ro+TjXhRdemI3YUGcx3sMuu+yS2bNEhBcvOWFhlXbfsJBLG1GXLl0yW4xioH2Pfui8S94p7WdXXXVVEFZemT0WEQqhtPvRjhcWQmnXGzBggPRbLoRQ0Uo7XWjBynX43G+//ar1ow8VXTBhwoQg9GbkOqHQSPv23LlzM3vkJvQQMt+CIPTu5T61jNBHPaxQMlv/JDQcgm222SZ7T7TtzZw5M7O18UG/5dCYkXfOu8+38L769esXfPrpp5kjjUL473//K/UVZY33yNgNjNUQVuiZPRZBmzb916nn2I+2bdrGQ+WU2aNmkEnGbtD/Y2h0BNdcc0216yDT559/fraPO/tvtdVWwZdffpnZo2aQuWOOOSZbd4QGcRAq+GoyDQ8//HCw9tpry3VU1mqT6cYEYwvo/4sciMmTJ2e2lI6Sh9yV8KGzn4RDjeJhxqaDDjoo2z2F0BnDwUa7sNHdRtujAc+EjHhCjoXA+YkaqIeB5cxIW2rdK6zHuybbFvCauQ7dcmoCj1fBu2DEOsoH1i/3TvgyCs0LDG3KNfHounfvXq0vfWOCZ6cs0ITC+1A588ETxavCOyfKYhQOHiyZy7xDIOyeqw83bdF0A6PXAf8D2qrxesMKP7NHzSCTRxxxRLZuJFuecRk0H0Vh3HfyYYhOAfv37t07OzdCbRBepqscn8BzcD5mV/RBNlmPBwqULcanqE2mGxOhkZOVt1C3ymepSU2h6wPzqSEVo3h23XXXKu3OhNJISlN4z6r8+E7FQvguVxi7Jug/S590rZjoz47w+8qYNm+dxYlCTmXG5BB1gYRAurZpxUmFRoVCqFOhMmV8eK3MMDR4nlzhz8YC/xeas8hfoGLnXfhKnd/090cJYZwVqmCMP8HY1DJG6JnJhGjCUjCY6T6KbCBrhKZJKs0Vxq4JuqwSulWZRq58mQZkAoMaoxclixF87LHHZrYWBu315AYgq9wvRkI04ZV+9NQfaqBQ15x11lmZrQYgSyprfPpyVypSU+g+FEajfqBkyVpFqBFKlBxJa3wHKp4rr7xSBBLwzmkPo59rXUBpYjyoRc/5EH5NSON6tLOTdEclxH5UTIxVXRtUKApePcdxnwgKZQRjhPZChTYqPHcMB56bdnOS7tIQpHKCd07b3fjx4+V9qKfOe9x+++2ljR3vSv+HRt3A0PTbsolE0V6usoY8YNCSx0CZRjbpt13XSCReNjKtRhcRNwaa0esgX0z7yvSvgCxjONdVpnVcCTVSkGUMBa0ruB5jVpCtr5EwvPpc7fmNGb/e0f9RqUlFofvenBEPeLIku2HRAwqcxDidhY0ZmDTblkqGxDmmUyyGAw44IJtwhzJl0A0qNNBRsdS6xzvHO1FPuyaiipisYoaopEKjzFChUFHynYRKZorCcweS7lBiND8Yi6Bi998HFTFKggrcKB4UGUOq8j6BMkhzEImgQHSMBDJASRKir6lLXD6QU1+mUbR0z9QmLka6Y6AbZA0ZQZ5zJagWAsMuM4GLGs8odJrNgO6g1B/a00SbHTC6jdxQR6Wh51JvQ4e0rJlKgvfJNKR4Dwgl75TQGVm1WPB0l0EgWU9FQZit2PZTwnN4z3gcnA8PhdHd8MrxCmnnozBzT7TVYjxElXUufA8dOP8pp5ySHQqT81KhEWonzE87JQYF21BUhJgLMRwaE9H3od6eUTy8U6JQlEvKLAqQcDhjQGA0o9zVoMXQJBpSjBFFueZYeqCoUYvRgExzHbLrNR8GWSETvliDlkgYo0Gql875qTP4ZCpWZA5Z5z4waKhnCpHpxgTvhyX6vZSkptDTfvBKhHYt2pA1lIrnwJjTtJfiQVPJIISEzfF8i7WwOY4uOHjfnA/PgaEq6TqmbedAEh2VERZ9IeSqIKg48NSpRLl/vPJzzjlHxq1nelUqOe4Ho4EueEZ1eK/IWBoeQ6VCExK5CipDGM1050KZ6zzmKHsGeMF4LhYMVZIXUbj8Hwnj02ZPtzY8aCJxgBePrBQr09wrzTOaUIqRQnSP4UsJ8xPu55moW+gnn2suhsZOWeiy8AZKTljws1M7hhW1TPFnxMO8efOCsBLIdqvhM7Sq5ZMlFMggFFwZ/rVYQoUtx2+22WZVrsP/Uq/Fdeh2Q7eyQgkrkcy3PwmVeDB69GgZBlevw7nDiku+c73OnTsH06ZNyxxh+NAliffFu+Mz9CwzWxonlKe4CL3yIFTYWRmg/IeecvY3Zfa8886TrmXFgkyE3rHUkZR1zrvEEktIdziux7VCr1qmw62PTEPoAASHHHKInFdljXM3adJEvnPd1VdfXbruGdUJHY/s/wj9NmnSpMyW0pGah66ED29hwBhhdCiS1kKhlN/h/1g8Mz5ZCAEWkwznw/k4nna0UEnIOs6NB63XIsRItxsSguoDZQMvn1AiZYVzEwHAM+E77Zh48KHxkDnC8OEdKby/xk6cUQqak2i3Vlmj/BOt4p3zrolMMXSzbi8GPGWaxuhdEirV7DpySLge4L0z0l19ZBqQWXpA0JQAPAeJcUQF+I73z+Q1hUbcGht+2eJ9xVnWCiV1hQ5+pWPUH7qtIHTRChzlSDsbS33Q/xeZu/T7jlZYXJduZ4WMVOWTT+Gg0Gkfz9UOSfNBr169sm1/Rs2YUo8PjGMUNmHx6HvF0KX9W0dRKxaVNaYcxjiOXgfZQ56RkThAoXO+XDJNM0OuqZyNRWBoKWnptFQUOpamFkxT5vFDX1QyvtV7VrCwGeISi74+qKfQsmVLN3ToUKnYfPjfUsGg1OtCtLJSSPjJNd4890FbHoaDRXlyk++dNla07MYB50Jp00but13zzmnTJp+FshsHtFvnUqYYsozHXl+ZVpBlTfjz4Vl5TuoWIzd+2eJ7GnVSKgrdV+JW4cQPnixh9+hczQhpfRJ0FP9/xghwnNNfR0EmSS2q6OsDfcz9/u+A0JBxa/1ha4b/jb80ZvxKNw4Ih2Mk6+iJQPnv0qVLLF6z/r9IMKULm6+42UZTVLHdT/NBeJ+kWX1XXAfDBBmsb1i/sZCWnKWi0BV96LiFzHCiUAmRqZXIJ5npcVjYvuWJJ7LhhhtmQ3T8T6nkmFwlbuj761ecXPviiy/O/DLy4RvQjT0ilkRFu+WWW1YZPRGD+qijjpLv9cW/XxR3dAY1IgRxe80YDdGwO014zOBm5CfaZp6GrKWqSfWB00geqHS0XzYhOSoA7dKWqx26rvgVCqFGKjQNh2PJM6pUEmOEk/hGtxquQ+VJdx4LAdaO/r8auzJPCpQdw7pS9imXKF7yOuLAd3a4zs477yxRKv6nyDJKNg6Z9kGRM0CNDiXN9YYPH17vBNdKR+UM+O7/LhWpu8ZUMqbQk4ER3WhjRqkTRosj3J4LKi+ULRUakQGGhUwCKhS8dIwIvlO5GTUTrVTSqGQaA4TdMWKJINEMFZdBG/1/MbQro86hZAnpk5SaBAw5q0NJMyokzV1GzfCu9P/FZxqR59QUuu8tWMg9GRjUgpm3GNmNrmpxJehEoa38+OOPFyXL9eJsO/fBc6AdEU8FIyIpA6WSMK+8NDCoEZEqFDmjKFK5x0FUodNmfuCBB0pb9plnnplY7w68fuY6J/GVEeTw1o2aQY/p/ystnZaaJvUtGat0kkEVIIqPhJYkIbxPGz3jQScJ2b5UaGuuuWaV9nSjdsxwTg4UHl3Y+CQhLknwlvHOibolCc0I1B82xkPdiRpipSIVCfctGVPmycE7Vu/cT3BJAtoO6VqWtOFA2SG8efDBB6cmNA0VZM3eWTJQLskMZ/azuLzzfNCMdu655yYWcVN4Jsa0iCsfoNLxDWbkzP9dKlJR6FQsviK3NvRkoEDR3WXttdfOrEkWrhNXf9iaIBGOsLtRO1GDOY1KpjFABU5iaCnmE0Cmk2o7j0IkrNgJXxobfu8fykMaxnPJpZsKhhF1otaMP8qOYRj1RyfJiWKyZhjxwpC/yJUqcvScDplbSkqu0HlYlLn/oLwI37oxDKP+0MwSNZyRO5M1w4gXet5ElTfyh8yVklTib9GHLPVDG0ZjAYWu8lVqb8EwGhNqPCNnyJxvTJeKVBQ6+JVL0kkkhtFYieanmPFsGMmgA/4An2nIWmoK3X9wwzCSIdq8ZQmohpEMOp2t6rQ0ImKpKXTDMJLH9xT4tLC7YSSDbyynJWupKHT/QflulYxhJA9ypsrdMIx4QaGrPksrEpaKQo9WKmkkDxhGYyBqMJtCN4xkURlLQ9ZS0aRqySjWL9YwDMNoyKDXVImn5aSWhYduGEYyIGu+x2CyZxjJEJW1NEhFofveOVglYxjJYNEvwygN5dB0nMod8OC+Erc2dMNIhqixbMazYSSDNiUjY1GntVSk7qGn+fCG0dhIK/vWMCod1WOq1NPAXGPDqGA0GqYVjBnPhpEM5SBbZaHQ07JmDKPS0TCgLiZrhpEMftOxylupSS3krg+b1oMbRmMABW7yZRjJ4zdnpSVzqXvoVuEYRnIgX+aVG0by+B56WjKXmofuYxWOYSQPFY4Zz4aRDGo8+0upSUWha6KOksaDG0ZjwFfgfPe9CMMw4qMcZKsspNu8BsNIhqixbMazYSSL6rNG46EbhlEa8Bo0ImbeuWEkB6My+s5pGmM+pCLhVC66gA12YRjJ48ucYRjx4uu1tKLOJVfoKO8//vhDvvPQ+uA25rRhxAty5lcs+t0MaMOID+Tq119/zcoXn8jY77//XnJZK7lCJ+y3xBJLZH79yeKLL575ZhhGHCBnLL5nriF4wzDiAdlaaqmlsjIGfEf2Si1rqUg2FgyLX9EYhhE/v/zyS1bOMJrNOzeMZPBlKy29lopC52F9y8U8BsOIj4ULF7qZM2e6a6+91s2YMUNCf74RbRhGciBjKHfkrdSkptBBKxnDMOrPTz/95J544gl33HHHuT333NMNHz7cvfzyy1Xa8sx4NoxkSVOnlYV0m1I3jOJAdn744Qf31FNPuX79+rl99tnH3Xzzze6jjz6S9Shz+Mtf/uLatm3rWrRoIb8Nw4gXX4+lpdNSUeg8rD4w3npaD28YDRUNq1988cVus802c/3793fTp093CxYsyPYioc28efPmrnv37u744493kyZNEq/dMIz48cPsvo4rJWXhoVu7nmEUxvfffy9h9KOOOsodeOCB7uyzz3Zvv/22eOMocmRpySWXdO3atXMDBw50V199tRs3bpw766yz3HrrreeWXnrpzJkMw6g0UvPQlbQsGcNoKKCov/rqKzd58mS31VZbud69e7vbbrvNvfnmm5LFjvzgjTdp0sR16NDB9enTx913333uuuuuc/vuu6/r0qWLKXLDSBjfMU1Lp6XqofMCWKwrjWFUhyS3Dz/80F1++eVujz32cAcddJB7/fXXxRtXmUGRt2nTxvXt21eS4chsnzBhgttwww1NiRtGCWnUCl2VuS6GYfzJCy+8IEocb5tw+bRp00SR++NFk7G+0korueuvv96NGTNG9ttxxx3FUzcMo7RgZKs+QzbTUOqpKXT/YU2hG0ZVVlhhBdezZ0+37LLLSuWQz/BlyMmXXnrJzZ8/PzWvwDCMP5uPdUlDr6Wi0HlQf6hXU+iGUZVOnTq5k08+2d15553uwgsvdJtssolbZpllpPuZygve+pdffulGjx7tBg0a5EaMGOGmTp0qGfCGYZQWX6elRWoKXT9NmRtGbhgLeo011pCMdhT1Y4895v7+979LBruO0Y5SJ/P9tddek4x2BpTZZptt3I033uh+/PHHzJkMw0ga1Wdp6rTUFLouhBNt9CrDqBlk5K9//askyN19993usMMOc6uvvrpr2rRptr2ObHg8dvqnkyC38847S6Y73dpIsDMMIzl0/AfVa2mw+D9CMt8Tgwf95JNP3OzZs92TTz7p7r//fuly89tvv2XbG9q3b+++/vprSSygH60fWjQMYxGE9eiaRtc1EuboW468oMh1CkcWZOvTTz+VEeRYGNMd2VpllVVkf8MwigcZI0l17ty5ksPy4IMPukcffdR9++23VXqgIIc0gaHgSVZNWtEvFt5Y7Jk0PAThvjfeeEO60DCwBWFBzdCNXlItGj4JJZIItPXWW0u7IKNctWrVqtr0dIZhLAKDmTHczz33XDdnzpwqsqZohbLxxhu7U0891fXo0UN+l0O7n2GUOyhpxnyYN2+ee/75593YsWPlEz3n6zVV5ugqFuQL5xQjevnll5fBnnbddVeJrjVr1ky2xUmsCv27775zzz33nHv88cfdlClTZDxpXgIPWZfL6IugwmH8abwRFHyvXr3EOzEMozpULkTA8MhffPFFaVfHO6DCAeQKxb7ccsu5LbbYQrLoUewoeeuzbhjVQW+9//77IldPP/20dB/VaFihek0dUT5R4CS3otB32GEH0W0bdN/ALdNsGdmnvsSi0DnFlIemuMtGXeZeffVVUexRD6FYVLnjtfMS9t9/f7fffvvZJBOGkQciZIT+HnnkEWlzf+utt7KGtYJiJ+rVunVraZtnjHcUe9IhQcNoKNAV9JprrnETJ04U51SN46heQ0ep0lZ0n3w6EJ2G/DEo1OZbbO6OO/Y4kcP6Ui+FTqiPsPpVV10liTqE+vxKg4ekgiDcQL9aFioQEnmwVHgoLs9CJUSbBCEN2v74zjr1LoD9sW4233xzyfxlGEzCFoZh5AbjGtmkjY+8FSom9S5ADeaWLVtKKJAR5xhljpyWuMOBhtEQQPc8/PDDbtSoUeKgam4KqE5DNnAqGdgJncZ3FDRNxqr00Y8///yz++abb9znn3/uvvjiCzGsdTpjNQQ4F5FompgPOOAAt9pqq4lMFkPRCp0bvemmm9y///1v984778jN+w/Ng3Xs2FEybWkHp/sNv/XBfU+A43hIMnEJZ7z33nuSbEDo8JlnnpEXrNNAagXEefDWjzzySHkBrDcMIzcodoaRfeihh9z48ePFa8dgjnrtGNtEwki4+9vf/ua6detWdOViGA0JZIGhlen+ybwJJGn7DiWKl+YqHEqaq9Zee22ZJwGFru3hyBDH6CfGANEyksLfffddOf8999zjPvvsM9Ghen70F3oRYxpndffddy+uGQyFXlfmz58fbLPNNkHoLQfhjQfhzWSX8KGC9dZbL7jrrruC8EGCUNFnjqob4csNQmsmCL2K4Oijjw5CSygIPf0q1wofONhkk02C1157LXOUYRg1EVYgIr+XXnqpyGlYQQWhwq4iVyxh5RJ06tQpOOmkk4LQS8kcbRiVyxNPPBGsu+66UvZ9vYZOa9++fTB06NBgzpw5QaikRY6KAX0YGtfBxIkTgy233DJo3rx5Ffnje5s2bYJDDz00CD37zFGFUyeFjpJ9+eWXg+233z4IPfDsTfDw3BhKPvTYg9D6CELrXx6aY4qFYzkHL/D5558Pjj322GCVVVaRF67X5j5C7z+YMGFCsHDhwsyRhmHkA7n6/fffg3nz5gWhJxIccMABQehpBE2aNKlSuSDXyNeyyy4rlc8111wThF6GHGsYlQKO5xVXXBGsuOKKWb1G2UfPrLzyysFxxx0XvPTSS+JgopBr02m1bUenIUOff/55cP311we9e/cWGVMjgk9+I5fvvfde5qjCKFihc5Mo86233rqKQsV66dixo7yQTz75JLN3Mvz000/B008/Hey+++7ines98E9Ya621gttuuy2zp2EYhfLjjz8Gzz77bHDEEUcELVu2zOmxI2N489ttt50Y7VRGhtGQUcV62WWXiTLXco9CXX755YP9998/mDp1avDzzz9njiiMunrvH330UXDxxRcHbdu2rWJQEAHfaaedgrfffjuzZ+0UpNBVmW+66aZVhJ0QeLdu3YLZs2dn9iwNX331VbDXXntVCfnz2a5du+Cee+4pOsxvGI0RKrUFCxYEDz/8cLDqqqtmKxV/Qb4w5Gn6wlunPjCMhgwO4pgxY4LWrVtn9Qj6DeV+4oknSmi8GIqNYM2YMSNYe+21qzQt4zATEUfpF2IoFKTQP/7442DnnXeu4hVz0f32269O1kOcYDURAsQz1wqITyqc8ePHS8jfMIz84Jk/+OCDwemnny6eNxUbcu0bychUixYtJCx4/vnnB3PnzpWK0DAaMjTj3nDDDaIv1EmlrJNXQqS3rl65T7EKHcd51qxZwcCBA7POKkvTpk2Dgw46SJqya6NWhY7wosw5qSrzZs2aBYcddphY9WmC0ib5rnPnzlXCJSj5V155JbOXYRg+5JoQYu/fv79UaHjefuQNGWIdyTndu3cP7r77bgmxF1tRGUa58eSTTwbrrLNO1hmkzHft2jW4//776x3hrY8ziVInafXwww+XdnS9N5q7SJSrzdCoUaFzY5dcckk1ZY61UC5WOi9g7NixEir0LS3aP8yTMIxFUBGQ0HbnnXcGe+yxh3jjhPNUrlnUG8BLGTx4cDBz5kyTIaPi+OGHH6rkYaE3NLKLPqkvcUSHv/zyS9Fhmq+GbGJgo+tqMjhqVOjTpk2T7FcVeMJxZLK/8847mT3KAx5w5MiRQatWrbL3SlIDXXMs9G40ZlDktHcPGzZMuqFRifneOAsGML1U8FguuOACiW7VJ+RoGOUKofZTTz1Vkj9RksgCbeY039Y1mS0fXKO+YFiQm7bhhhtmowjcK0npNTVz16jQ8cT9kAQVAsIehxUTN19//XUwaNAguU+tqNZff30LvRuNEozc6dOnS/Io3offNq4LHjpWP+3nU6ZMkWRTSyg1KhlC7TTRoteQB8LaGLvkk8RFXE4kehb91aFDh6wRTuj9tNNOy+xRnbwK/eFHHpZkGBV+vF+SCMoZLBr6qWvFRfPAGWecIf0HDaPSwTN4//33RU6JrFH+o0qcioGwOl1NMdip4OKszAyjXKG/OU1JlH/kgHEX8Hjr2te7NuLONbn88suzEQUMEdr6X3zxxczWquRU6IxQ06dPn6xVwIkGDBggjfXlDCGT6667Tv5RWnnhpTPanGFUKhisr7/+unS16dGjh2TIquzqQkWAN9KzZ0/pd0tSnClyozFBn3KizMgG8sB3ujnHHXGOO8pFL7N+/fplo2w0j5Eg99PC6vktORX6Aw88IBaBVgZUBOPGjctsLRwqGm6GPnSF9unj5WJJYTx8//33dX7ZhDvoYqMVGl7KiBEjyrKZwDCKhfJMWSfPZeONN5acEULouTxywnRkqxNWR6YMo7GBvAwZMiSbZIaXzkhsdYXzMMLif//7X+lGlkuv5FLoJOIx8BpLMfkpJLMy8AzyzMLoqDSpRak2VyJTxDHTDDOnQfjwMq3iNttsI7/rAhNA7LTTTjLBw1lnnSXnrg0mZ9ljjz3kGCZeCR8+s6UwQsvLDR48WCaTh9CocP/5z39caFjIb8OIg1B2ZMIg5ISJF95++y2ZpIhZlShzSfHrr7/KxA5MjLT33nvLDGnMe87kK2FFIveFzIYVlkzHeMQRR7grrrhCplJl/uXQOM+cyTAaD2+//bbMOIiMIB8rrrii6Jm6Eipwd9FFF4ls9ejRQ+ZKj8L5ff73v/+5kSNHus0228xtuummbubMmZkthbPjjju6DTbYQGYu5R5Cg8I99thj8jw+1RQ6CvWFF16QgyC0+t3xxx+fVZB1YeWVV5YZaVDkXLwQpcp0dVSMVEwbbbSRa9KkSWZLYfAyeXFrrbWWzBLFeahkJ02alNnDqCSYkpDZjPg/1wWU8LBhw9w555wjs47VlQ8++MCdeOKJUikMGDBAlCvLXnvt5QYOHChCz7SJccJUxcccc4zMgsa177//frmGKvLQOxd56dq1q0xpfNttt7mLL75YpmRkRqhoRWMYjQWmENZ6AjlBOTKzWV1Bp/Tv31/041dffSUzs0WJyhn7odfQrejEzp07Z7YUDrOLHnTQQfLJ+THsmTmRmUh9qil0vGqsDh6cA9u1a+e23377oqZQ5OK8OLxmKtBc1owPlgyVEF4Pc6dTcRVTCfHS8PCxZgAvH6vop59+kt9GZcC8+Uwz+M9//tP9+OOPmbWFgSA8+eSTbvr06dkpDAsBrxxFuu2227prrrnGPf3001Kuf/75F/GSUboI2tlnny2CjyCrcVxXuC+M4eeff94NGTJE5PCWW25xzz77rMgI26mcll56aakktthiC3faaaeJQX7ggQfKNKh46obRmMHonTFjhugB9Bp6AWWOjikGHEZ0DIb0o48+KoaCT1RnoVPffPNNWc+0q23atMlsqRtbbbWVzL+OzPMcRB2iOrWaQp82bVo2NM4NoFSXWmqpohQrFybkjndPGBIrqSYII8yaNUsqQML8xb5wDAg8pebNm8tvKj7mWMeoMCoDvGqMPwSlrsocKJsINmUF4SgEyuWUKVPccccdJ1GfNddc0/3jH/9w1157rbvrrrvcHXfc4a688kp3yCGHiDH7yiuvuEMPPVRkqq589NFH4mXjiRNWv/HGGyUagUHB/bJgZFM54LXfcMMNbsKECe7UU0+VOZsNw1jEhx9+KMa/Gu7oI/QSsl8MRK3Ri9QheN0vvvhiZktu5syZI3Ort2zZUowBji8GmstQ6lpnoadpSvOpotCpLLA4cOeBC2+yySbyvdBKL8o666zjOnToINbMfffdV82a8XnggQdE6eJVEL7khRUDxgfhel6gWjOESOfOnZvZw2ioYBhinOGJXnLJJVKoEdRiyicKsS5ljLJ7+eWXizLHwr/++uvdySefLGH39ddf322++eZuv/32c5deeqm79dZb3aqrrirNRyh6vPe6gAf+8ssvu4kTJ8p1NaweBaNk3XXXlba5Yg1gw6hUkBkUKs29GOTIO3KCMV4faD9HTyHXzzzzjOjOXHB99BrRAbxrFHKxIOvUMzjYwDVxJPwIYJXaDA8Ai0N36NSpk+vSpYt8L8ZDB6wJKl/CglS+JNzlAi+LsAj70Aa43nrrZbbUHe51mWWWkUQ+rgu80Pnz58t3o2FC+SCs3L17d/GEESbKql+gC4Uykk+ZI4Scm/JCuE7Pj3J9/fXXXfv27d2FF14oRmOucyBwCO5RRx0lUaInnnhCwuB1gSYjPH887379+kmIj/Zxv+kLQ4YEuRNOOEHa7TGY+R1NlDGMxorKiCaqohT79OlT59ysKORoYUQja7NnzxYPPBc4H0QRuW6vXr0kl6VY0KVrrLGGGAZAvUT7vN+OXqU2wotFoaonQLsc2YD1hfZGKkEsirFjx2YjAD7vvvuuhCiBSrtVq1byvRiorFmILvAigWvzfEbDhTJBqIzkkL///e/ZxEcNpdUVykjU6+U3IXKywwmX014NVAh45ByDF04Zrcm7R/h22203acfGWKUpqa5gGOyyyy6S0Y7ckMC35ZZbSuhNr82zI9Q0BfBe9t9/fzdixAjxGopJ9jOMSgL5IKKmRi71BTJUXwjb0yxMFBsjP19+GHKLU4Bhf/jhh2fWFgd1Dzlt6GS+A3lhfvJtlRoJa0ItGQ7Amoijm0uzZs0kQYhKCKVK+2AUGvhpQ8ejxjvXsEJ9ILqAQqeSxprh+YyGy2qrrSZKjW5Y//rXv8QrRaAoV1HFXBvsj8JDIHwPnwS0o48+Wnpl4CX37dtXzk/YG0sYmUDJUjGoUOWD9m08a86PFV8stIkTzscTJ3w3ZswYsdTxMlSxY7Ai2E899ZS8H3JIMEhIyOH6dX0/hlEJoMhR6CrjyC31CNQmvzWB3O25556i2DHY/XZ0lTWazWjC5h5oesa4ry/UBb5BH408V1HoKFouzoNyAG0E6uHW5+E5VtscSE7Ae9CH1k88DCrY+rYz+NCGroYB/1Dz0CsLDT/Xp2xiwVMGWfDMaRMnfIZSJyFNBQdlyXeUaKFdOLXc84mHrmW9PmDwoqynTp3q/v3vf4tXTk8S7kvfA89E09n48ePddttt5w4++GB33XXXiVGRr63PMCoR9BkKD9lDfomcFSq/tYFRTZs2TvDkyZNFufq89NJL4qSigImc1RfkG/n3FTrPR4ROqaLQtf2NAzlAvZ84IDxB2zgPT8WikQDAkiFbj5dOBURYIQ78NkfObW3olYUqMP3MRy5FyjGUDTX46IpGmzcG5ymnnCLesC/4KEI1buuCnoPyHodCVzBW6V8+evRoN27cOHfuuedKoo/fNoiBjEzffvvt7qSTTnKDBg1yZ5xxhjRvGUZjAEeO6JrKHgrdl5H6gH4cOnSoOKok3WmTMaBH6RJLLg7JscX0ec+F3r+v19CfSlZbswELQ8NzusQFbehUOJz/8ccfz1pNLNrpnzZS2hniMiI4j/88cVeqRrqglFmiZTa65AIvlvJOrwo8WQZPQpnTf5tuZ9GmJhQz6xBUv4KoCfYhw5ZjOLY2w6MYaM4ilMf947VjjJCsR9MAwq/vh6YFDOnLLrtMkoJQ7CTqEXng/gyjEqHsI+sKOiEu/QK0x+OAorjpRqvXIsrHCI7IIFE6enrVF63vcCz0Gfhd5fkynzkrKF6GVpZxQHiQCghl/txzz8mNUNHQHso1yBokES+O63EOvCqt1EAVvFE/4ioP9UX/l9wPSknLam0L++n+5FUQXqe5iWRN2ttyJZOhkLHEsYaxxP3z5YPzsC/lnPb4mvaNA4wOFDpDHd96661iHOMdEIVABrg+MkEYkBHkyJ4nfE9/d96DyYZRaSB7Wv8D35GBuGQR/UJODefFeKceQY5o3sWAxpvGwNbeVvWBe+Z5ovfu/84qdJQdg2Fwg6AHc6P+CykWzs8oOR07dhQlfvPNN8t56fRPex9WB4lzPHgc19NzqPfBb7qyaajCKJ44/j9xoFYqCovyw/+WdbkW7lkXflPONPRG+JpxzjkPSSwYm1FIRtl6661FJuj7ifJHRmp6F3j8LJyXY7luknAvvAM8BsZ+pp8+XdlIjiNCxjtiH+6bSo22N5Lo6FZKRv6oUaNEHg2jUqDMk2Huy75+jwPC7jiiGPsYxXjlyBcjk5IsR6SM7mpx6B29b2TX12u+sVClhkHZqkIHKi090LcCioWHJ9GICo7sWywYkgmoWAhJMEBGnJCVzMMrVGpG5UCZZCnGs0QQKOs08+DVoqRJXEEIL7jggmrzDrA/gx0hoCS43XnnnVXKVhS2MX8Abdh4yfSdLzUIOs1cZL1jpGBEE25nYA2NXPHu6KpKX1nC8FQ+NDug6JHLOOTeMNICRYrBziflHYMcGY8TEuOYs4Tz0oWNcDs9UdCdhNvj6PoNyCL1ijaNA8+EI65UUeiEu30rnhuMZu7VF21zoO2ORB48Il4ySXM6iE1cUJlqpYtlpt0VjMpAlQ3ltRgwMGl/pl853vrw4cNl7AKSxlCC0YkPMDqZiAVBZfYk2qzzKTxC7YS+8eyZNTCOLiv1gd4j++yzj4xaR2VDlz+61fnyjgGPzJBTwNCW5BKQUGczFRoNFQzXtm3bZss4zWA0q0E+2a0rnJ+eJpyP7q7IPSF3IgPIfrH1UxTOr/3OVaHr8ylVFDpZ6Fj1HMgBPDgHxwmVCJNMoGjxzhm4A2VLRUpIPA64fxasJQwSvnONuA0GozwoxkNXKHNEjABDk0xw8jzwrvFSfVB+JJ/RNx3ZoE/8ggULMlsXQVmjL/vgwYOlrZpw97777ivHpolWKkQkdt55ZxmsholjGMoWL55nRka4fyo9msHI/GeAHbx2ur7ZOA5GQwPPnIgUn5Rt9A56IU5QqvRJJ88GfcbcCugd9E19h5iNQtRs3rx5VRQ6UUOlWsjdz8ZFgOO2zqk8GaBewwRcC0ummLlp88E/Dq8f71+7x/HgcWQaGuWHhtPqCgrMh3MQkkaB4Z0zmxoZ7UDzEEO/3nvvvTIXMgqadjL219HkKHcYqYSsaYvGcqZtjW5lDAiTK9kuLXh2QoEobIamPf/88+W5Uez6Lqk0tCcAnjrbjz32WBlHgqxewyh3qPc1fwT5JArFvOjohzihuZjQO3LFNaiTyMuJ1jH1AXlkRDrychTkdfnl84TcUbLclHoTeOdMLhEnVBZ444ygxcMSEWA2qbjaGYB/HN4R9054lGvimZhCr0wQ2rpCGUHBRgWbEDl5HpRHJkdhGFX2YQhHlN9hhx0moXnayTAWUXaaRIfAofhZxzYUPh49xzELGuGycgQPhogCyprnj1ZCvCvkCK8dxY7yzzXao2GUG5RlmlrVi6Uc0xxGWY4THFWasdBn6BvqD/ScGsdxQD2Ek61NgZwb52KppfIkxbED465rCJKHZwQ3BJolLogEMBY2iQRkCFJBxvng3Ct93dWL4Nw0J1jIvbLQsQ1oH8YirgsYrRiVGHnRYxkjnsxvupphETMsMddiPUM4MjQxA0XQHYXFb8OiSYl1lGsS4TiGhfJXjOGRJBggRCCYMIkBMhgfny6lUSNHw3ok+BCloB2+PpMnGUYpIX8FWUfOKfMoc8ZgiFOnAZOBIfPUETipccsInj8TVGleGDlA5LpU0Z3hQ1XhpZdeClZdddUg3EmWZZZZJgitgiA8SWaP+AhfbhBWHplf8bFgwYJgl112CcJKW56hSZMmQVhhJfIMRuOEshsavJlfDYvffvst+OCDD4LRo0cHoRcRNG/ePAiVdhB6M1m553ezZs2C0OAJjjnmmOCRRx4Jvv/++8wZDKPh8MsvvwSHHnqolGct26HxGnzzzTeZPeIlKT3z6quvBqEDE4SGichq6GSIbvapFuDHe8ayCB9cftOlhcSZqNUeB1wjGt6LAzr4v/HGG1lLhryA+kxobxhRKLt1jQqkSSjr8klCEOPVkxhHdz3GmyaEh3yzD/JIoiBRBaZvxXtnEBpyBZAjw2hoEHGmvJPPAnjpTKaS1BDISdULEyZMyCbEcQ16jNFc5lNNmzLaFElrGnZHyBmalX7jDQEe9qGHHsomDqDECbkQ4jeMxgaKmsxYBphhxjYGuGEuefqdaw8QjBPCd+SZoLhR5CS+0Z2PZjF/4ArDaIgQDu/UqVPWqaMpDT2RBOoMxwnNfnSH0z70dLNlEjM1UpRqCp0Hxpv1B2GhQiC7t5yydPOB1eUP+kEG/ZAhQ2LrEmcYDQEM27lz58rkLXQ5Y9hl2t9I5lPZUG8cpT1s2DDJ6ifpjeQef7AKw2jooAcOGnyQKEKMWIxZeqSQPF3ukGCLTiPZVr1znFQmMqtmPIQPV43woOD444/PtkGzdO7cOZg9e3Zmj/KEtsHQapE2Bu6Zz+233z4IK7HMHoZR+cyZMyfYdtttg44dOwahBV+lbZyF3+SVhIo8GDNmTPD555832HwAwygU8kbIGVH9QO5IaOiWfW7VCy+8ILJK2z/33rJly+Ciiy4SPR0lZwN2+LDSdYchK/kOhLAvvPDCsu1/itfBbDe0jWDFAM0HTD6BdWYYlQphdX8gGEJxhMzxPvywOqFzuvDsvvvuMswr/c8ZDY4uNlj9hlHJEHWm7JMLQnSKbqTIAKHsJHLE4oDJoIiyMa4Feo2mMTLpiTaobq7CIr2em8svv1wsfKwZlvBFBCeffHIQVhKZPcqHZ599VqwYvdfwwYMddthBvA/DqFTmzp0bDB8+POjbt2+wwgorBEsttVQVjxyLnp4qXbt2DUKDPJg+fbpFrIxGy0cffRRstNFGQWjcipygJ/DaiWrFRS7PuRjQs0ceeWSVKNvKK68cTJ48ObNHdWpU6ChDlCKuvlYQoTUfTJgwIbabjoNvv/022GmnnaQy4x55eB58xowZmT0MozJA7mhaorsKirx169ZV5FMXFDkGOF1QQy88CL31spJZw0iLqVOnioGLMkdWaFqmiSqubplxyBlNYDfddFOw/PLLZ2Ua/XbUUUfVeJ81KnR46qmnpL8blYZaNBtuuGHw+OOPl0UFgcU1aNAgqby4PxY8EtoYDKOS+Oyzz0TITzrpJDFYaQdXy52F7wg9njr9bDG8P/7448zRhmEo55xzjhjDqjOQm8MPP1xkrL7UVy9y/IMPPhist9562fZ+9G737t2DWbNmZfbKTa0KHUth3LhxQdu2bbMnR7mTcIPr/78EBoYpFF7+PvvsIwqce9N/zJ577hl88cUXmb0Mo2FDWb700kuDnj17isWOR+Ercso+yh1FPnDgQIlM/fjjj6nKpmGUM5988kmw1157VWlSJkkOpf7dd99l9io9qm/XWmutbFI6so4Bf99999Uq07UqdCDEd/bZZ4tFow/PwkVuuOGGYOHChZk9SwNZiYxoR0a7H2bnn0Ol9/bbb1tlZjRoCKtNmzZN5Ktbt27BcsstlzWodaHMUwn16dNH9nvzzTczRxuGURuMvIa+UB3CgjwNGDAgeOONN0re8+OHH34IrrzyyqBTp05ZWecTPXvjjTfKiHe1UZBCh/nz5wdnnnlm0KJFiyreAb8ZVvXdd98tSQieRAHCjrQN+hUcw/rxjyjVfRhGktBVZdddd5XIGOE2X+Z00UjZPffcU5aJqoZRzuCootR79+5dxRtGwZMod9ddd8k+SYO+wgmlfVxzYrgPPtu1axdcccUVBUfcClbowMNdcsklVRrqWXgZ66+/fo3Zd3GAsiabt1WrVlUqODIW+/XrV21cW8NoqOAdfPXVV2K8Ilt+s5KWe75T9tdZZ51gxIgR1qPDMOoAipQFpU77tDZlsfCdBPDddtst+PDDDzNHJMPtt98uUTjNvEe2MeJXWWUV2VaXfvKL/yMk04OtVsIKxW2wwQbyGb4Emf0lPIf0j9N+sExNx+hTLKGlI8eFN5i7z1wNcM7QIpF+7wxTed1117mTTjpJprRkfHngnFyHeWcvu+wy6TdvGJVAKNgyqhXy1r9/fxlTgXWA3CEbyB6fCxYskKlameKV8SJYF1YIcjzH1FX2DKMxoHqJ8dAZF53hzZltMDSmRYbQM0xXil5D5tA1jOUQes6ZM/xJITKmupIxU7744gsZK4J5Fa6++mqRW67LeUJjQsaLYMrlfffdt05zkCyGVs98LwhuiMkcHnnkEZm0BQWuip2bQdlT+TCFHHO1hhaOTP7OROxaIeV7eL2V3377zX322WcyBSqT0WM88AL0OsC5+EcwPzWDY7Rr184GxzAqEso8FQxDMDOc6wMPPCATNSATDAuJTIJWBsgak6swIQXTKzLhkil2w8iNytcHH3zgbrjhBnfLLbeIkcw6QHZQ5MgRg7r07dtX5kVgQCbkDbnSxYffnFsXBrJh0jDmVWBSJCZKQqZR5Gxnfwa96dWrl0xnzDWaNm1a7bw1UWeF7sNDjxgxQsZ5Z0QbbsyHF4GXgOIdMGCAvAgsD0ZuU+9dXxoPi5XCPLXjxo1zs2bNknX+OXkwzsmxvNwbb7xRJpIxjMYG4zqff/75YvAih75iV5ATZO/II4+UEbJ0coq6VBCG0dh48skn3THHHCPeOU6kD04jyh3FyxwIe+yxh9t4443dSiutJOuQLzxw9sMxJcL8zjvviAOMnkSB4/mj13xDHL3Wpk0b8cgJmhMNKIZ6KXSgInnqqafcrbfeKsPoEXqPnpIbxpLB2tCQBQ/AfjwUn7wEXh4LLyJaOXEOjmdqV4Zz3WeffcRCMozGDJGs5557zk2cONE99thj7ptvvsnKFCBnyF7Lli1dz549xbBmaFgUvWEYufnoo4/cHXfc4caPHy8KGZ2kMoUuUiWM0YzTShMXSpx1yJ/KIIqbY9GT6Dhfr3EOjkOPMQsiEyj16NEj6+wWQ70VusIsTrTjMfUiFQtWCN53HKfnhWENEVpnJjjC67wIwzAWhQy//fZbiWoxNSoGtkbMfPmjslluueXEKB40aJDknuBZGIZRHRTxxx9/7CbfM9ndMOYGmRsBhzPqbNYVFDlKu3Xr1hK1Zpri9ddfX2SzvsSm0BWUOO0EhMNpJ+CFaKKBXirfJXlQoOIhfIHlwjRxBx54oEwVxzrDMGpGE3louiKhlDmUo54BXjteer9+/dyhhx7qunTpIm3vhmFUh9A5zVt47MjX559/LkYzukxlK5deU52G944TSlh95ZVXliQ8FDm5LrpPHMSu0H3w2mn4JzOdF0ASD+3kJPbwqS+CEDwJdHgLKHEqGhQ5CQg8PJWPYRiFg1jjUTz00EPunnvukVkIc3ntyB6eAoqddvaNNtrItW3bNrPVMAwfPHTkimRwQvHoNJq9WEeWPJFp5Au5Yna3NdZYQ/QaUWV0G71WiDbTBJYEiSp0hUvgudOGwHLzzTe7008/XaZ2xGpp1aqVKH6+8yK0jd0wjPqB0UxyKZ4600QieyTm+G2CgMyRrEqyKdnxZNniTRiGkRtkCwMZnYY8kZ2Os4quQ5ZGjRolOSu+XkuakmhNQgo8DG3hPGiLFi3kIVmP4mY97QckveGNmzI3jHjQ5isiYOeee65k8B533HES/ULmtJKhYiKi9tprr7mRI0dK5u4555wjhjaevWEYVUG20Fc0VdFVG72mugv9hq5D9vL1XU+CVDSn32aAlRNnG4JhGNVRGevatas7++yzJYOXAS3ITyHEToXDPnjthBXpFnfBBRe4vffeW5JRSbabN2+enMMwjOrgkIJGpNPQa6kpdK089LdhGKUB74G2vYEDB7rrr7/eTZs2TfrT4lGoh4Fs0tWGdkG6xA0bNky61IwZM0ZC+H643jCMRc4pIBu6lJqyiG1b5WAY6UGGO4qdUDveeq4RF/Ha6Zt74oknyuhzjN5oGMafoNBVl6XlpKYecgfz0A0jPcjWvemmm6SbW7SLm6KjM5511lnu2GOPlREfDcP4E/SYLmmRuodu3rlhlBYUNj1MSICjDZ0BZoYPHy4jPaLQVSYJv5PQ061bN/fPf/5TRqQ74YQTXJ8+fSQ8bxjGn5CHguzokgapeuhpP7xhNBZUxkh2mzRpkoTOGXURr5zBnwipsw+ySa8T+s4efPDB7rzzzpPJYFD4NtSyYeTH12Np6bRUFLo+LJWHJuEYhpEcjG7FxA8MNXn44YdLmzmDYtCHVuWRZDkGwDj++OPdlClT3OjRoyW83qFDB9luGEbNqLOaVti9LELuaVkzhlHpMKAMs7IxdPLdd98twzIzgQvdaoAwIQM7MSgGHvnTTz8t/dWZ8hhP3QxuwygMX1b8BLlSkoq0Yr2oIjdlbhjJwfzOF110kQxNyeAxCpUPg2GgxJlQiTGqr7rqKkt2M4wi8b3yXImlpSAVhe4rcj7VWzAMI14YklLbx4GwOu3jJMJNnz5dBpdheErax80bN4ziQY+pnDWqkDsPS+XhfxqGET86RzMyhjJHkRNWJ9GNwWVMiRtGPES9clXupSR1aU7joQ2jsYAi10W981VXXTWz1TCMOFF9xmcajmpqHjrw0Fg1abU3GEalg4xpJYOcodQNw4ifcoh2lfwOqFyibQ2m1A0jfpAzlSuVN1/BG4YRDyScRuUq17qkKblCR4HzkL4C53sa4QnDqGT8/BQ++Y3smawZRryQq4IBrbKFrPnyVypSDbkDFYxO3WgYRnwgU8iXv5icGUb8IFcodWQM0pK19IP+IfoSDMOIF79SQc7KoZ3PMBoDjUah86DRisYwjPiJhv0sV8UwkqEcZCsVhY4CVyWehhVjGI2FqKyZ8WwYyRBV6GnIWurxNx7awoCGkTymzA0jOcrBOU1Nk1K5+IthGPFDJaMVjcmZYSRH1DFNw1FN1TXWysYqGsMoDSZrhlEa0pC11GPdvgdhGEa8RCsVU+iGkQzlIFupK3SrYAwjOZAvy2w3jOTxdVlaei0Vhe636eliGEYy+BEwi4YZRjL4eg3SkLVUFLr/wFbBGEZyRA1mM54NIxn8OUogDVlLzUP3FbkpdcMwDKMh02j7ofOgaVsyhtFY8OXLjGfDSIaobKUha6klxWklE1XuhmHEB5WK3x/WFLphJEO033mjUug+VskYRjL4BjNyZsazYSRDVLbSkLWyUOiGYSRDOVQyhtEYIClOSctJTUWhRx/WPHTDSAZftlDmNm+CYSQDsqUGM59p6LXUFLopccMoDb5XbnJnGMkQNZ7TIDVzXR+eT/MaDCN5TJkbRnJElXgaSr0sNKnf9mAYRnz4SpzvaXkOhlHpIF8qb2nJWskVOg+Za2xpG2/aMOJFDWWNgCFjVDQma4YRH+i03377TeRMFTpER44rBSVX6PrA/oMuvvjiFnY3jJjJJVfIn8maYcQHMrXkkkuKXKleY91f/vKXKgq+FKQi2TykPmipH9gwGhO+fPkVjmEY8fLHH39U0W1pyFpqCh14YBYLARpGMpjBbBilQ3VaGsocUo29Udmk+fCG0ZgwOTOM5PB1WVpOamoKXR/eD1EYhhEvVCxayeinYRjJk4a8paLQ9UFVkVvI3TCSwTeW+W6yZhjJUA7dr1NT6OY1GEby+BEwkzXDSI5y6D2SasjdMIxkiYbcTe4MIxn8XiRpyVkqCt33GgzDSA5T4oZRGjCe09ZrqbahG4ZRWmyYZcNIBj8alhapeeg+puANIxmQLYuGGUZpSUunlUUbug1FaRjJEK1YTLkbRnKk7ZympkmtYjGM5KGCSbuSMYzGAHLm67U05C61NnR9WF6AVTiGkRxpVzKG0RgoByc1NYWu8N0GuzCM+CEB7ueff65S0fzyyy8mb4aRAMxumDapKPRom3k5vAjDqCR++OEHd8stt7gXXnhBZoHCcOZzxowZbuzYsaLYDcOIjyWWWCLzbZG3nkZuWCoK3accwhSGUUl89dVXbs8993TDhw93c+bMyXZVwzN/55133DHHHOP23Xdf980338h6wzDqT7Q5K43mrdQUOtaLvxiGUX++/fZbN3ToUDd16lRR2NHwOpXMd9995x599FF30UUXuYULF2a2GIZRH5AtdJk6qY1GoUe98rjb9DhfEi8zqbZHQqFJ0NDOm9SgJ0n83yhfv//+e+ZXfNS37D777LOizH/77bcaz0Pb+pQpU9zs2bMza4qjoZWxJP5n0JBkgnKRVP2YxHl5B0m837jfLTKnui2tkPti4T8g/v9ALdCGN2TIEPfTTz9JAaANvUWLFvIC+M4/j5fNtlwvhYITNQrYV1+iX4Hrvmz3H9X/DnqMv17Pp9fyv4OeF/j0tyms97f5++h6FQS+6/ZCzsfi76fr9DuwXc+vv310P/CP0c/o9ujxiu6n7zsfbNNFfwPvVgWMMsB1WPR8uh/oekXvk3P431mA36z30d9s0/ej+4O/Xs+p69kv132BnpdnybUtei7/HHpO3cf/zmf0/vR8/rP++OOPsvjvJx+852WXXdYts8wysj9yp8fp+bgO6LX0N596D5DrUxd/P/2u6/0FdJv/jvW7HqPwXffPtc2Hc+j++um/I34r+t3fH/ju/9ZP0PX+OtBj/ON8dL1/vH7n/rhvfiv6W/eNou8sF/42fXZ+U1a1vgU+uQ5twvo9mufk3wOLf5/+NoXr6TXB/87+eh3/nMCn7qvn12vpMboe+M7+/jrwz8kxProv74Btej32ZxuLfudT71N/L7nkknIMckfEi/XI1c033+x23313OVepSEWh33777aLQ9eENw6g/WskYhpEuGMko9AEDBmTWlIaqpkoJoMKpS9iL/UtRSZXqOpWMvsPoeyzFe8113cZGY39+o+Gg8hpdKgn0XKmfKRUP/dZbb5XEHbrOcHk8i1zUdmt6nH98MY8TPSbf/Si6vaZ7LxS9dn3PEyXXe4j7GrnQd5LrnfrPqvtBrn2j5NvHP09t1OUYvR775dq/tu01oceAf54oui0fuY7xm6tqg+MJH+pSjtT0Xmt6d7ko5J3ECfcVvWaudflgv0KerS776ad+z3VcIeeLbs93Pl2fj0Luuxii19Xr1HY/cYGHPmbMmMYRcn/rrbfctGnTqrRV5CsI+sl2/7t+Ro9lH/+8+uk/pv9dyXVu/9Pf7q/zfyv8jp4Pcl1X23u0Qo2eK9cxoNf1t+tvXTi3npfffI8eA7rO/wQ9Rr8r2tYE0fP55/Hx1+W6Duj9sj66Ldf5wD+PfxywTRfOy6LnYT//WN1H91ei+ymqNKNti+zHwrNEj/HP419DYZ2u94/lu7+/fx7gOwvXfP75590dd9whSW+5ruFD3sr+++/vunXrVu05FL22fz3QdVoW8m2P3kN0P/D30+9+2fX/bwr76TvWY/xPRdcBnxg8/v1Gj81FvvX+MdxLrrKg6H7R6+k+ua7BOVmv7wFq2j+K7uN/6jn5BP8eo9/93z663t/OOVmix+l60PW6n8L36DrQ9ZQxvut7iO7nX6NQ2N8vP7ouH9FrKv4xug/3u/TSS7utt97ade7cWdaVilQUumEYyYCxfMABB7hXXnlFKpZ8kPDUu3dv8SI6dOiQWWsYRkPmT9PPMIwGT9euXd2gQYNcq1at8nrdrG/fvr3s165du8xawzAaOuahG0aF8euvv7oHHnjAXXnllW7mzJnSm4TwIiHLpk2buh49eshocX369JEuN4ZhVAam0A2jQmGcB0aEu/baa2UAme7du7sjjjhCQu1NmjTJ7GUYRqVgCt0wGgHqoRuGUbmYQjcMwzCMCsBMdsMwDMOoAEyhG4ZhGEYFYArdMAzDMCoAU+iGYRiGUQGYQjcMwzCMCsAUumEYhmFUAKbQDcMwDKPB49z/B6XekdGGAZSWAAAAAElFTkSuQmCC"/>
          <p:cNvSpPr>
            <a:spLocks noChangeAspect="1" noChangeArrowheads="1"/>
          </p:cNvSpPr>
          <p:nvPr/>
        </p:nvSpPr>
        <p:spPr bwMode="auto">
          <a:xfrm>
            <a:off x="123825" y="-136525"/>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ata:image/png;base64,iVBORw0KGgoAAAANSUhEUgAAAfQAAAEQCAYAAABGA4YeAAAAAXNSR0IArs4c6QAAAARnQU1BAACxjwv8YQUAAAAJcEhZcwAADsMAAA7DAcdvqGQAAGLsSURBVHhe7Z0JvFXj+vhfPy4qkiZKUpQ5hIsoQ4QIyXCFENeQIWNldq95SOTiGjKTiopryDxVhshQZMp4TSUzGe9//df3aT/be9bZ+5x99llrr332eb6fzzp77zWvdd7nfYb3ed93sSDEGYZhGIbRoPm/zKdhGIZhGA0YU+iGYRiGUQGYQjcMwzCMCsAUumEYhmFUAKbQDcMwDKMCMIVuGIZhGBWAKXTDMAzDqABMoRuGYRhGBWAK3TAMwzAqAFPohmEYhlEBmEI3DMMwjArAFLphGIZhVACm0A3DMAyjAjCFbhiGYRgVgCl0wzAMw6gATKEbhmEYRgVgCt0wDMMwKgBT6IZhGIZRAZhCNwzDMIwKwBS6YRiGYVQAptANwzAMowIwhW4YhmEYFYApdMMwDMOoAEyhG4ZhGEYFYArdMAzDMCoAU+iGYRiGUQGYQjcMwzCMCsAUumEYhmFUAKbQDcMwDKMCMIVuGIZhGBWAKXTDMAzDqAAWC0Iy3w0jLxSTxRZbLPOr7vz666/u22+/dT/++KP7448/XLNmzVzz5s3dsssuW6/zGkZdqG85Thqtjutzjz///LP74Ycf3E8//STnadq0qcjZ0ksvbbJW4ZiHXsH8/vvvItTvvvuue+mll9yHH34ov+vCb7/95s466yy36qqrukmTJsm6//f//p98FgIKfMSIEa5jx46uQ4cOrmvXrm6ttdZynTp1cu3bt3ebbLKJe+aZZ+ScZlsaSVOXslsXkJMFCxa4119/3b366qvu888/F/mrC99//70bOHCg22WXXURm68p///tft8cee4hssayxxhqyILudO3d2gwYNch9//LHsa7JWmZhCr0AQ1jlz5rjjjjtOhLl79+5uq622ct26dRPBPuSQQ9wrr7xSUOXGPt99951UVr/88ousK6Qy4DgU9U477eRGjx7tvvnmG/HI119/fdejRw9R7uzz8ssvux133NENHTpUDA7DSJK4PdT//e9/7vnnnxdlufrqq7vNN9/cbbPNNmK0rrnmmu6CCy5wX3zxRWbvmuFcyMlXX30lBgIUImscd++994oyf+CBB8SIbt26tdtss83cX//6V7f88stLdGz8+PFuvfXWc5deeqn7+uuvM0cbFUVYYIwKI6xAgn79+gVNmzYNlltuuaB3797BGWecEYTWf9C2bdugSZMmQc+ePYNPPvkkc0R+fv755+DEE08M2rRpE9xxxx2yLvQ85LMmQoMhCCuU4C9/+UvQokWL4Lzzzguee+654P333w8+/fTTYNasWUFYCQVhhRMsueSSst/gwYOD0HjInMEw4uePP/7IfIuHZ599Vsr5sssuG4TGcjBkyJAgVJjB3/72t6B9+/bBCiusEBxwwAFBaAxnjshPqMiDPn36BFtssUXwxhtvZNbWTGgUB//5z3+CddZZJ2jWrFnQpUsXkdNXX31V5AwZRxZvv/32IFTmImutWrUKrr766iA0BDJnMSoFU+gVyNixY0WJhl5wMG7cuKzgIvyPPfZY0KlTpyC02oMzzzxT1tUECn3YsGFVFHroPchnPqg0MSAwKKjQbrnllryVx/fffx8cdNBBotBbtmwZTJo0KbPFMOInToX+66+/igxhJPft2zd48803M1sCKe+TJ08O1lhjjaBjx45Z2akJFPoOO+wQbLXVVsGcOXNkXW3yOW/evGDPPfcMlllmmaBXr17B22+/ndlSnXfeeUeMD5T6WmutJccalYWF3CuI8P8poborr7xSwnAHH3yw23333WUb4W22b7311u6oo45yoVC7Rx55RMLprM8H20hi43ycm3ZBvnM+PmkrpM2QEH7oDcj29957z4WGhOwTeiourHDyhjrDikiaBlZbbTVp3ycsSAJdTfdkGMUSV8id8knYOjSQJeHssMMOk/wQLbdcJ/S23fbbby/l+cknn5Qmq5rKNXKGzITGreyn+/LJttDjljb6UGlL0hv7ct4ZM2ZIWB25Ro7yEXrvLjRAXGiAiNxeddVVdW7nN8obU+gVBJUIAjp37lwXeuiizKkcWK/L//3f/7nevXtLJYSCpmJgfT784zACllhiCVn4TYW23377uf79+4tSZv3iiy/uHn/8cRda/3IPJMQ1adIk7zVYT9v+scce65Zaain3wgsvSMVX0z0ZRrHEVa44D+WU9u6VVlpJ8kKQCT0/n2SV02ZNuWZfZLOm63M8qIz550KmMRpImrv11ltFzlg/ffp0aTPnOn379pX1+WB/jIwDDzxQrvXQQw+JoWBUDqbQK5DtttvO7brrrpJFjhBHF6xzvAYqjeWWWy5zVM1wnFYyVAZUMHjfL774olt55ZXd2LFj3YorrijbpkyZIpXXOuusk72HmuAYIgd463jpGAOGkQQ1ech1BWOZcou8YbxGyznXQuGjzIH9a0KPx9D2vfPXXnvNHXTQQW7mzJlugw02cKeccop0RWN/5BBDG4OCpNPaQIbZl26jGAJk1huVgyn0CgNBve2229y//vUvyXSNQrcVss4RZLJyUaK1QaWC0mUBQupDhgwR74BM2muuuUa8FGBfQoCw6aabymchYAxQ4VGZWba7kRSEqeOCMv/vf//bnX766aJUo7zzzjvu/vvvFy+YrHc89ZpAdjC0MQC4T34jY0cffbT76KOPJJOe5jSVWbaTQc956clSKG3atBFPnv7qX375ZWatUQmYQq9AULxY71GPAUWMpU93MjxzLH1V0vngHFQceNxUMnjP++yzj5xj7bXXdhMmTBBPXGFf2tZ9A6AQqBCpZDhePRrDiBvKV5yonPmyxjUwagmP413TJ5z27ag8RlHZYeE7sjZ8+HBpN6f57Oyzz64WUdMQe11C53jpnJ9jrA29sjCFXuEguCTTjBkzRvp700ZNX/QLL7xQPPRCoNJA+Glz23vvvaWCWWGFFdztt98uyTg+KHFC8FRe9IUvlPnz54vHwPHt2rXLrDWMhgMGL0YziWe77babfKcf+PXXX19Q05YaBiSqMogTbd1vvvmm23jjjd3ll18uuSg+7NuyZUuRcRLlCoUxJVDkGNE0FRiVgyn0CobwHRUDiWskrX322WfS7n3HHXe4vfbaSyz1QkCZo2xR4IQA+U1bd74BM7gelQWVEUl3hfDWW2/JNTiOdnfDaEiQIHrFFVeIwXvZZZeJkiUUjzKvSzicJqf333/fnX/++e7pp58WOUPBM+BMLmjWwuCeNWuWyHshEL5HodM8FzXIjYaNKfQKhQrgxBNPlK5rjGSFR42Xft1117kNN9ywYGXuQ1sdSTm0wdEGf+ihh0plEwWFTvs9ngAjV1G51QSVy6hRo6RCYiQ5U+hGQ4GyTZIpoy+eccYZ0m7OqIyPPvqoO/nkk2WkxtpC7bmgnZwub7TTExHDIM/VFIX3TlSLaNjs2bMza/PDOagHMMrJeDcPvbIwhV6B4C1QAdx8881igdN1jFA7bXp1VeRUWCwo83333VeSfO677z5pF6Tf+bnnnlutokGZ0/ectsCrr75a9ssH56abG5UWIcX999+/qArQMApB25zjAkWKV05/9HXXXdeNHDlS8kroilkMyBkGLfMnTJw40Z133nmuVatWkrPy4IMPVkvqQ6FvtNFG0qzGGA4LFy7MbKkOsnbLLbdIBACjHIPcqCxMoVcgDOqC4mUACQT4tNNOy5nxXih4AHST6dWrl2SjU1nhkVD53H333W7q1KmZPReB0UD7H+2HtO2h1POFA2k7xzunew/daZiYwjCSoi6JmrVBExERL5qWCH3j+dJXnFB2MWDIYnCg0OkOR68Pup8yNjyhdzLqo2Owk29CFjxyiQHwn//8J7OlOnQxRRYxtAcPHiwDzRiVhSn0CoNKBq+ZiuuSSy5xW265pVQM6mlHl0KgouEc2jUHRU62fM+ePSW0j9Hgt5XjRVBZ4GXwSds7lRFKWyHMTgYw4XkMgi222EK605E8VOh9GUaakEPCpCgM0oTM0esDojJWl/KMMcyANBpJ4Nwnn3KyjAD3xhtvuBtuuEHC5QrnZkIYEvE4jmgcip0+5grt8s8++6w74YQT3AcffCCTuNAUh1zX5d6M8mfxf4RkvhsVAKFr+oVTMaB4CbWTXPPUU09J2G7atGmiQFnwLKiEahrwAsVLeyDtc/369ctWWlQ0tMsz9CRhR8Ll9Emnbf3iiy+W9bQnovDpV861CQfi5XNvJPEcfvjh0r5PxULokP3ZjwqIYTQNo5xBrohQqWJEaVJ+WY98kUDKbxba2elVUlPIn6YrkliROWRNo2qt27QWrx/ZZXAZZnFDPjCQ6ZeObDN1KkmvJLwhe8xmyOhx3BsDPR1xxBEi7xjl5KlQT9C1DjnGuzcqhLAgGhUEsyqFijwIPXRZwgokCBVo9lOX0JoPNtpoo2DBggWZI3MTevzB0KFDZZKV8ePHy7rQA89+hp6JTKoSVlZBWNkEoQcQNG/ePHtN7iGsVOT3jjvuGIQKXo596KGH5JxsY9F7DSuu4KSTTpJ9DKOcOf3006W8+rKmi8pZaCzL7IZ77bVXEHrNmSNzgyxuu+22MslKqHxlncoakxiFBrBMwtK/f3+ZUXHu3LlBqIxF3rkO10WWQqUdhH5adkKkkSNHyj3498m9tWjRIrjxxhtlH6MyWIw/Gd1uVAAPP/ywhAFpJ9NkNax0/TeHwizfQ8GWDNzjjz9e2sfzgbdAsg2eASNVkSFPSJ3jgWQcuusQ4iO8TxieoA/X4Lrsy3fuB++eec/x5vEQrr32WmkbZDthRDxzsnt33nlnN2DAADm/YZQrN910k7RLU4Yp5ypbLAoyQKSMfBLySrTZKhecB1niGNq4iYCpHPGJx09+TKiM5Vx41uecc47IDfuAXpv5FZAj1jN+BMchY/794Z1zHSJrRmVgCr2CQYlSycQNFUhNFVOxUOFQWRlGQ8M3cuMkCZnQKl+NAKNysKS4CiYJZQ5UXklgtqXRUElCmScFityUeWViCt2oM0lVBn72rmEY5kUbdcMUulE2mIduJI2VMaOSMYVu1BmrFA3DMMoPU+hG2WDhRSNpzBg1KhlT6EbZYArdSBpL6DQqGVPoRtlglaKRNFbGjErGFHoZ0JAqGR0oJk5Ph/PRZz7u8xp/Yu91UTmjJ0US7yKp6FJD6g5npI+VljKg0AqmlAov33WoYBj7Pa6KRq9Dn/k4z2sYUVC6lK9CyhiyxlIoddnXp7brxGkoFHuPRsPBas8yoFAl/corr7ixY8dmfiUHM6cxOxoTreQizkrmoosukglkwNrQk4MyZhV64UqNaUiZ5KRQin23TJhy1113ZX4lB9MX33nnne7bb7/NrDEqEVPoZUAhlQGhQmY9YyY1ZjBLEhQs46y/9957mTVViUvxzp07V67z2GOP2aAyRkkoRNaYxYwpgZmqlOmIkwIji7I/atSovMZzXCDLI0eOdG+99VZmjVGJmEIvAwpRkFjY7777rkxVSmWTlLdFWzbXYDpGJorIFT2IQ6Fz/8zN/PXXX8vkL19++WViz2QYSiHhdsri+++/L9OhshRCMTLBxEdMGYyXfvXVV+cs/3HIBDLMdZC3Cy+8UIxnk7XKxBR6GVBIZfDqq6/KvMaEwydOnOg+/vjjzJZ4YT7lq666SmZPe+CBB2S+8ihxKHRCf2PGjBEP6O2333b33HOPVTIJwv8sjv9bQ6e2d0AZRM6Yw3/evHkSetdZC+MGw5mZ0BYuXOjuuOMOkb0kWLBggfvXv/4lssZsjDQlYLgblYcp9DKgkElUCJfhzaoHre3OcXP77be7zz77TK6D0iXEnwQYKEw9yXVYLrnkEgu7J4gp80XU9h4ogxjMKFlmFZw8ebL77rvvMlvzU8z7HT16tBgNlH+U+dSpUzNb4uX+++93s2fPlmdjIT+m0Lwdo2FhCr0MqK0ywKJ+6aWXpIIBvPRp06ZJyC5OaGfjWlRmQEVDRRB3NIDKhEqGygzwijAinnnmGfltGElRm6yhzJEDyj7lFO/26aefzmyNDyJfGOXaRs8n62ha86mvIfb5559L7g15NzyPht/JXzEqD1PoZc5PP/0kme1+GzOVzSOPPCLr4gQj4fXXX89eh89PPvlEjIk4IZxJqNGvvHgmQp3RCs0wSgVK7/rrr5fIlMoARvNtt90Wa3Ic56KJiTwV9ZT5RP7mz58vv+MCo+G5554T+QI1nmfOnJl9RqNyMIVe5qDQUaq+N44gEqKLOxxOBaPeuUK48d577401HI5Cp/L0KxS+k4BE4p8RP9a/v3YwkJEBjYQBipZyiQEaF8gY8usbCZR/IgM33nhjZs0i6qt0NfHUhwjfhAkTzHiuQEzKy5wHH3xQLOyoYFPpkFQWVzcUFCnniwo5lj0hO+4hDgizn3rqqVLJRBU6FVqcFadhRMkXwka54p0Too6WS7qU4aXTnS0OaNbCG4/KNMl39GB54403MmvqB01l3Hc0qQ+Znj59unv88ccza4xKwRR6mYMXTsZ5LggN3n333Zlf9eO0006TcJ+GABUqHa5DAk8c4O1jPETb/7kOngvboxWdYcRFvrKFMUkzVjRCBSjA1157TbqXxUE+4wDZ08z6OMBAIRKQK7pGnXLppZdmfhmVgin0Mua+++6T0eEQdDyLZZdd1rVs2dItscQSsh2lOGPGjHq3u7388svSnUW986ZNm7p27dq5pZdeWkK1XId9SJCDYhUu90lXOB1EY6mllnIrr7yya968uVyHipNwvHkORlJoW3IUIkModVhyySVdp06dXMeOHWU4YmSPiFKhfdJr4qmnnsomuFLm27Rp4zp37izX5DrIIO3b9ZVpkt54JsLroLKGbHMd3gORgKR6yxjpYAq9TMErPuOMM7LWNQJ/2GGHSbey9u3bS2WAokfJ1sdzoAKh3Y6QI4qaCmyLLbZw48aNc+uvv750qWP9F198IUlr3E+xCp2wPaFG7pvzUpHRlrfffvtJhcN5eW6SAJPq+2sYUfCW6cqlBi1GM90oL7vsMteqVStRgOSy0PSUL1pWCJzjnHPOyeaPYDDvv//+ItMY0CprRAPq05SGssYZYHAcvnPerl27ikxvs802WVkjPwaZjkbLjIaLKfQyIBrmBjJR/fa8tm3buoEDB7o+ffq43XbbTRQ829inPmF3Khm8YvVclltuOTd06FC3+eabu7333lsqHa5DZUcokHa5XPdbCAwgQ4XI+bh/KrONNtpInqd169ayDyFPhsPMNaCNYdQXlScfFB9yhAxgKPfq1UuWLbfc0m244Yai0DFkGTuhPuOuk3RHFADvnHOutNJKbt9993WbbLKJ23PPPbOy9umnn9brOhjDGARqfCyzzDKSt8J19tlnH7f88svLc3IfRMx4fqMyMIVeBkQVJMqTdja8VVDhZ8HaRhEilIB1jaJlsJliIDlGlSfXwTtZffXV5TqHHHKIhB0RfioaurQRMixGoZM9TD6AGg5UMmussYY0H2y11Vbur3/9q0QHuA7hxkmTJomxYRQP75pQMREcmmao5LU/cmMl+uw0/5x99tlZL5Uy2KVLF2neQsZ22mkn+Y5soCBJWtPxE+oC50emtfsp5Z4QuMr04MGD5Tfr2ZdkWELiuQyQ2qCZjnwAjBDuG2O5W7ducp0BAwaIkYKXDhjZTzzxhHw3Gj6m0MuAaCVDeJtRo1T5IXyEpVdYYQX5vdpqq4lnq4qWwS8YC7oYmIFJLXmus+OOO0p4DmjbxoPAmwbC8oTDcyXZ1AYTXWi7IBXLBhts4DbbbDP5zXUxHogOUAHhOTCYR1JDYTYG+J/SlHLwwQe7vn37um233VaUE+8ZpeR3mWrM0J49a9YskTXKHgp2hx12cE2aNBH54r2haCmzKFoSOovJ8UBGOU7D+i1atBBvecUVV5TfGM5EBJA16gMUP0lrxcgaMorRQd2A18//f5111pFtPBcyjeEOlAMMDaNCCP/pRsosXLgw820RN998cxAKXBBWMEFosQdrrrlmEFY4ma2LOPfcc4NQWGWfsOIJQgUffPDBB5mthRF6bUG7du3keJZVVlklCCu4zNZFvPbaa0GHDh2y12nfvn0QVkyZrYXBfa233nryLJwjVNzBqFGjgrDiyuwRyPNtsskmQVihybXCCi8IjYDMVqMuhMoj2HrrrYPQs5T3zfvUhd+s32WXXYLQe88c0XgIDZ3MtyAIlVlwxhlnBE2bNpV3w+fAgQOrlEu+77XXXkGzZs1kH8rnkUceGYSefWaPwpg4cWLQtm3b7Dl69epVTaZDA0z24X8UGhBBaFgHoZee2VoYb731VtCpU6fs/z00/kXOfd5///0g9NKz+4SGexA6EJmtRkPGPPQyIBSqzLdFo1XhbWt2Khb1sGHDxFvw6devnwsVbdZLp22bjNWot58PLHMdHx64B7xzwuA+eCfbbbddNpGGZgBGuSrUc8DzYTxsBrjg3rhfkuHCSrLKc7OedkRC8UBbOtfBWzcKh//PoYceKk0peOn8z3z4zXr6QjMXfa5uWo0FyiRJYdqmjTz94x//qFIu+R4qcImO4aVT7mmiqstwyMgyk6NoExqRLxJcozJNMirhfsLuyArt+nVp4sL753+q3jn3S7QhdAgyeywC73zTTTcV7x2oC6hztNnBaLikqtApdIUW1rrAOaMVWRygnJLAPy9t4YSmVfnR9hV6W5mtf7LuuutK6Ezb96gsyGzVSqM2uAYj0KliRpESAgw9EfmtEBrs37+/hAa5HyoNsn21C1ttsD9JN6qY6TZzzDHHSFZvFAyKtddeW56H+6KbEGO+15ckyhjlq5hwaG3Ut+zSk0AnvYnin5dKnHbaQv+P+UhKJpJ4t+DfLzkFhMKBUPfOO+/sVl11Vfntg6IlGRXjmndIlzDGSygUDAdySPTayC7njEJTGoYubffIAP8jyr/eY21gnHMtFDPHI7u0mUdlGlknDE9vGeBdY9hQbuoD76Y+ZTcfyEQSMpzEOSGp8xbCYuE/IP7/QC3QfWLEiBHiKVDwWPzb0HW58Pf3LVxdzzqtFHU/Rdcp+l3387cBvzmfbgfdzz9Gt0Gu80S36yf7IeQIIELFffObLFW+Y2EjkIzghuKOggDTDQUjgOPwImg/Y11NsO+1117r/vnPf0pbHfeBd4ICpQ0xCv+nv/3tb+LVcW9UbCeddJI7/fTTJYmoJuhTSxIfE0LwzNwj/WPpEhcFb/H888+XtkMMAZ6fBB4MCLyamsCQweshkYh7xMvherrwf2Txf/uwLvrJwruJCqhfxqLoMf55lOg24Luu99Hf0W36nU/uwVd87IsSINFLr6GfPnoO3hHvFSML2Ff3968JrI+u8+9Fie6jsF4XH13nX9f/HpU/xV/HJ4uu00/drudRWdPtlDe8Z9bxHi6++GKJbuSCnBbyEchSp1zST50oCL1PaoJrnHjiiTI9qtZ3yAMee64yjUxjWCA3/G/JK+FY8h9qgrJAPgxyqTJNtI0s9lVWWSWz1yJ4dhJO//73v0v0jOfnmY466ijx8DVhLh/kERx99NFyr8ipypK+e84VlS/Q/wn3yn6KlmOO0X18+L/puYFP3U+/qzyyAL8V3U/xjwfdHr0O6D56fn+b3q9+AvtxHurrK664QgynkhLeSMm56aabpE0qfBHShhPnUsw5o8fwu1SLf11/YRttzbSr1QRtgKHFLceEghiE3nRmS35C5SdthezPcbTFDx8+PLM1N3fffbe0n+t9hwo5+PjjjzNb83PWWWcFocch16ENvab7CwUhCI2KoGPHjtn3QFs67Y+1wT60HWo7fUNa9Flzbcu3+Mfo91wLIh5dcu0XXaLXqWmb/m4oi/8sLKECkvI8e/bsTGmqzvz580VmQgNWzkH9NWzYsMzW/MyaNSsIvXEpl1wrVOLB+PHjM1tzc8EFF4jMcB2ut9tuu2W25CdU0EFojEgegN7fmWeemdmam1DZZ2Va3wHt67UxcuRIyfHhGI7Nt7C9tn3iXKL/1zQX6q17770388ZKR8lD7uE1s5YQS9wUc87oMXpvpVjygfdEW/Mee+yRWVMdjqe/uN+FDS+brF3fQvXh3TO4Cwv7h4IgXjPt9Pnuh/WE/f3BL7DSCe/6HqIP16ebGx6A5gMQ+qNve757CwVBwpF4P+r5a3svn7nuj3W0NdJvl7ZDv2w1lEXJtS3fovjf4yR6HZ9c99CQliiUtR49ekh3zXwQvqZnBl415RTPlNEVabbKdU6gmYk2cGSFMo9M06RUk7fNfvT+0AFt+E1uDIPN5JMbrs92IgbcF8cRaRsyZEjee2M9dYcOUsVvxqMgPwAZygX7ENJHppFH7od1+Ra217ZPnEuS1PUa+k5LTckVOoUNAeLTB0XBS+BTFwSgHBbuVxf9TZubfup3/3e+Rfdj4Vz+c+sn61HSl19+eY2hZt4hbez04eY4ChDKk5B29P0qKOBRo0ZJuxz7kxiD4NNXNd8xrKeCIRFPk9aorKjQ8h2DIDOWtA5aw7NRUdEWyfdccD+Equha5VdoGCgarswFFR79rKnMgPPzDnnfPJ8uhBLzLdH/U65F/2fRpZD/e77FP1bPVegSvQ8tQ3XBL3P+4t9jdNFr57oH//50e65zlGqJ3iPP6i+so6ydcMIJsn8+OI/fhY2ySvfSmiZSoekD5ceIbIDsMAKdylAu+H+stdZabuONN85eB5nGqM0HMk0XRYwL5IVnIr+G5oCaZBojhUGdtMkF+alp7nfOzfgQNJ+pIa+yFl30/x/9fxSz+OfT77VdJ9d6PU63Rffxf/vbo9f3Fy1DvAf/XfOd9aUmlTZ0hjpEidCOw4NTwGm74Vb8lxJ9SbluVbfrNn6jQPjkeIie16embVEo0HpO/xi++/emv3Odl/W6L5+cE+GgYIAeyzvZfffdaxR+4Fnp483kKrRpcX8oeQQPTzcK7e0kuWnWOR4xlQH92msDxXn44YdnE6nw7CdOnCjeTRS8ZtroaP/m+XgODJQDDzww+6xR2A8hQHmToKfHUvFw7KBBgzJ7/gnbGaKT8kMPAZTz4MGDxZviXbDwnFo55qOQbf4+nFPPy/8s1/86H/muxXqWXOfT9fpd0e/6yf+IHJVChs7FaKQ9lyxov/zpZ657UPR+/LIbJXo85FqXC8p1sRVi9D51AW0v9sGIJHJEhV0TGLHIGTktKGvOQxmnt4gqRZ9nnnlGyiJGLeUQz5w+3zUZ6cCzU0fSHo5M884w2mlLz5W0x/mRDf73/D+Q+1tvvdX17Nkzs0d+kGVyAxgFD8iloS1ex4jw4V5OPvlkOTfvglya4447LttGr2VCFyXX/1z/H7pNj80FzwT5yhlEj/XPr9/Bvw7vOdc5cx3jf/ro+TjXhRdemI3YUGcx3sMuu+yS2bNEhBcvOWFhlXbfsJBLG1GXLl0yW4xioH2Pfui8S94p7WdXXXVVEFZemT0WEQqhtPvRjhcWQmnXGzBggPRbLoRQ0Uo7XWjBynX43G+//ar1ow8VXTBhwoQg9GbkOqHQSPv23LlzM3vkJvQQMt+CIPTu5T61jNBHPaxQMlv/JDQcgm222SZ7T7TtzZw5M7O18UG/5dCYkXfOu8+38L769esXfPrpp5kjjUL473//K/UVZY33yNgNjNUQVuiZPRZBmzb916nn2I+2bdrGQ+WU2aNmkEnGbtD/Y2h0BNdcc0216yDT559/fraPO/tvtdVWwZdffpnZo2aQuWOOOSZbd4QGcRAq+GoyDQ8//HCw9tpry3VU1mqT6cYEYwvo/4sciMmTJ2e2lI6Sh9yV8KGzn4RDjeJhxqaDDjoo2z2F0BnDwUa7sNHdRtujAc+EjHhCjoXA+YkaqIeB5cxIW2rdK6zHuybbFvCauQ7dcmoCj1fBu2DEOsoH1i/3TvgyCs0LDG3KNfHounfvXq0vfWOCZ6cs0ITC+1A588ETxavCOyfKYhQOHiyZy7xDIOyeqw83bdF0A6PXAf8D2qrxesMKP7NHzSCTRxxxRLZuJFuecRk0H0Vh3HfyYYhOAfv37t07OzdCbRBepqscn8BzcD5mV/RBNlmPBwqULcanqE2mGxOhkZOVt1C3ymepSU2h6wPzqSEVo3h23XXXKu3OhNJISlN4z6r8+E7FQvguVxi7Jug/S590rZjoz47w+8qYNm+dxYlCTmXG5BB1gYRAurZpxUmFRoVCqFOhMmV8eK3MMDR4nlzhz8YC/xeas8hfoGLnXfhKnd/090cJYZwVqmCMP8HY1DJG6JnJhGjCUjCY6T6KbCBrhKZJKs0Vxq4JuqwSulWZRq58mQZkAoMaoxclixF87LHHZrYWBu315AYgq9wvRkI04ZV+9NQfaqBQ15x11lmZrQYgSyprfPpyVypSU+g+FEajfqBkyVpFqBFKlBxJa3wHKp4rr7xSBBLwzmkPo59rXUBpYjyoRc/5EH5NSON6tLOTdEclxH5UTIxVXRtUKApePcdxnwgKZQRjhPZChTYqPHcMB56bdnOS7tIQpHKCd07b3fjx4+V9qKfOe9x+++2ljR3vSv+HRt3A0PTbsolE0V6usoY8YNCSx0CZRjbpt13XSCReNjKtRhcRNwaa0esgX0z7yvSvgCxjONdVpnVcCTVSkGUMBa0ruB5jVpCtr5EwvPpc7fmNGb/e0f9RqUlFofvenBEPeLIku2HRAwqcxDidhY0ZmDTblkqGxDmmUyyGAw44IJtwhzJl0A0qNNBRsdS6xzvHO1FPuyaiipisYoaopEKjzFChUFHynYRKZorCcweS7lBiND8Yi6Bi998HFTFKggrcKB4UGUOq8j6BMkhzEImgQHSMBDJASRKir6lLXD6QU1+mUbR0z9QmLka6Y6AbZA0ZQZ5zJagWAsMuM4GLGs8odJrNgO6g1B/a00SbHTC6jdxQR6Wh51JvQ4e0rJlKgvfJNKR4Dwgl75TQGVm1WPB0l0EgWU9FQZit2PZTwnN4z3gcnA8PhdHd8MrxCmnnozBzT7TVYjxElXUufA8dOP8pp5ySHQqT81KhEWonzE87JQYF21BUhJgLMRwaE9H3od6eUTy8U6JQlEvKLAqQcDhjQGA0o9zVoMXQJBpSjBFFueZYeqCoUYvRgExzHbLrNR8GWSETvliDlkgYo0Gql875qTP4ZCpWZA5Z5z4waKhnCpHpxgTvhyX6vZSkptDTfvBKhHYt2pA1lIrnwJjTtJfiQVPJIISEzfF8i7WwOY4uOHjfnA/PgaEq6TqmbedAEh2VERZ9IeSqIKg48NSpRLl/vPJzzjlHxq1nelUqOe4Ho4EueEZ1eK/IWBoeQ6VCExK5CipDGM1050KZ6zzmKHsGeMF4LhYMVZIXUbj8Hwnj02ZPtzY8aCJxgBePrBQr09wrzTOaUIqRQnSP4UsJ8xPu55moW+gnn2suhsZOWeiy8AZKTljws1M7hhW1TPFnxMO8efOCsBLIdqvhM7Sq5ZMlFMggFFwZ/rVYQoUtx2+22WZVrsP/Uq/Fdeh2Q7eyQgkrkcy3PwmVeDB69GgZBlevw7nDiku+c73OnTsH06ZNyxxh+NAliffFu+Mz9CwzWxonlKe4CL3yIFTYWRmg/IeecvY3Zfa8886TrmXFgkyE3rHUkZR1zrvEEktIdziux7VCr1qmw62PTEPoAASHHHKInFdljXM3adJEvnPd1VdfXbruGdUJHY/s/wj9NmnSpMyW0pGah66ED29hwBhhdCiS1kKhlN/h/1g8Mz5ZCAEWkwznw/k4nna0UEnIOs6NB63XIsRItxsSguoDZQMvn1AiZYVzEwHAM+E77Zh48KHxkDnC8OEdKby/xk6cUQqak2i3Vlmj/BOt4p3zrolMMXSzbi8GPGWaxuhdEirV7DpySLge4L0z0l19ZBqQWXpA0JQAPAeJcUQF+I73z+Q1hUbcGht+2eJ9xVnWCiV1hQ5+pWPUH7qtIHTRChzlSDsbS33Q/xeZu/T7jlZYXJduZ4WMVOWTT+Gg0Gkfz9UOSfNBr169sm1/Rs2YUo8PjGMUNmHx6HvF0KX9W0dRKxaVNaYcxjiOXgfZQ56RkThAoXO+XDJNM0OuqZyNRWBoKWnptFQUOpamFkxT5vFDX1QyvtV7VrCwGeISi74+qKfQsmVLN3ToUKnYfPjfUsGg1OtCtLJSSPjJNd4890FbHoaDRXlyk++dNla07MYB50Jp00but13zzmnTJp+FshsHtFvnUqYYsozHXl+ZVpBlTfjz4Vl5TuoWIzd+2eJ7GnVSKgrdV+JW4cQPnixh9+hczQhpfRJ0FP9/xghwnNNfR0EmSS2q6OsDfcz9/u+A0JBxa/1ha4b/jb80ZvxKNw4Ih2Mk6+iJQPnv0qVLLF6z/r9IMKULm6+42UZTVLHdT/NBeJ+kWX1XXAfDBBmsb1i/sZCWnKWi0BV96LiFzHCiUAmRqZXIJ5npcVjYvuWJJ7LhhhtmQ3T8T6nkmFwlbuj761ecXPviiy/O/DLy4RvQjT0ilkRFu+WWW1YZPRGD+qijjpLv9cW/XxR3dAY1IgRxe80YDdGwO014zOBm5CfaZp6GrKWqSfWB00geqHS0XzYhOSoA7dKWqx26rvgVCqFGKjQNh2PJM6pUEmOEk/hGtxquQ+VJdx4LAdaO/r8auzJPCpQdw7pS9imXKF7yOuLAd3a4zs477yxRKv6nyDJKNg6Z9kGRM0CNDiXN9YYPH17vBNdKR+UM+O7/LhWpu8ZUMqbQk4ER3WhjRqkTRosj3J4LKi+ULRUakQGGhUwCKhS8dIwIvlO5GTUTrVTSqGQaA4TdMWKJINEMFZdBG/1/MbQro86hZAnpk5SaBAw5q0NJMyokzV1GzfCu9P/FZxqR59QUuu8tWMg9GRjUgpm3GNmNrmpxJehEoa38+OOPFyXL9eJsO/fBc6AdEU8FIyIpA6WSMK+8NDCoEZEqFDmjKFK5x0FUodNmfuCBB0pb9plnnplY7w68fuY6J/GVEeTw1o2aQY/p/ystnZaaJvUtGat0kkEVIIqPhJYkIbxPGz3jQScJ2b5UaGuuuWaV9nSjdsxwTg4UHl3Y+CQhLknwlvHOibolCc0I1B82xkPdiRpipSIVCfctGVPmycE7Vu/cT3BJAtoO6VqWtOFA2SG8efDBB6cmNA0VZM3eWTJQLskMZ/azuLzzfNCMdu655yYWcVN4Jsa0iCsfoNLxDWbkzP9dKlJR6FQsviK3NvRkoEDR3WXttdfOrEkWrhNXf9iaIBGOsLtRO1GDOY1KpjFABU5iaCnmE0Cmk2o7j0IkrNgJXxobfu8fykMaxnPJpZsKhhF1otaMP8qOYRj1RyfJiWKyZhjxwpC/yJUqcvScDplbSkqu0HlYlLn/oLwI37oxDKP+0MwSNZyRO5M1w4gXet5ElTfyh8yVklTib9GHLPVDG0ZjAYWu8lVqb8EwGhNqPCNnyJxvTJeKVBQ6+JVL0kkkhtFYieanmPFsGMmgA/4An2nIWmoK3X9wwzCSIdq8ZQmohpEMOp2t6rQ0ImKpKXTDMJLH9xT4tLC7YSSDbyynJWupKHT/QflulYxhJA9ypsrdMIx4QaGrPksrEpaKQo9WKmkkDxhGYyBqMJtCN4xkURlLQ9ZS0aRqySjWL9YwDMNoyKDXVImn5aSWhYduGEYyIGu+x2CyZxjJEJW1NEhFofveOVglYxjJYNEvwygN5dB0nMod8OC+Erc2dMNIhqixbMazYSSDNiUjY1GntVSk7qGn+fCG0dhIK/vWMCod1WOq1NPAXGPDqGA0GqYVjBnPhpEM5SBbZaHQ07JmDKPS0TCgLiZrhpEMftOxylupSS3krg+b1oMbRmMABW7yZRjJ4zdnpSVzqXvoVuEYRnIgX+aVG0by+B56WjKXmofuYxWOYSQPFY4Zz4aRDGo8+0upSUWha6KOksaDG0ZjwFfgfPe9CMMw4qMcZKsspNu8BsNIhqixbMazYSSL6rNG46EbhlEa8Bo0ImbeuWEkB6My+s5pGmM+pCLhVC66gA12YRjJ48ucYRjx4uu1tKLOJVfoKO8//vhDvvPQ+uA25rRhxAty5lcs+t0MaMOID+Tq119/zcoXn8jY77//XnJZK7lCJ+y3xBJLZH79yeKLL575ZhhGHCBnLL5nriF4wzDiAdlaaqmlsjIGfEf2Si1rqUg2FgyLX9EYhhE/v/zyS1bOMJrNOzeMZPBlKy29lopC52F9y8U8BsOIj4ULF7qZM2e6a6+91s2YMUNCf74RbRhGciBjKHfkrdSkptBBKxnDMOrPTz/95J544gl33HHHuT333NMNHz7cvfzyy1Xa8sx4NoxkSVOnlYV0m1I3jOJAdn744Qf31FNPuX79+rl99tnH3Xzzze6jjz6S9Shz+Mtf/uLatm3rWrRoIb8Nw4gXX4+lpdNSUeg8rD4w3npaD28YDRUNq1988cVus802c/3793fTp093CxYsyPYioc28efPmrnv37u744493kyZNEq/dMIz48cPsvo4rJWXhoVu7nmEUxvfffy9h9KOOOsodeOCB7uyzz3Zvv/22eOMocmRpySWXdO3atXMDBw50V199tRs3bpw766yz3HrrreeWXnrpzJkMw6g0UvPQlbQsGcNoKKCov/rqKzd58mS31VZbud69e7vbbrvNvfnmm5LFjvzgjTdp0sR16NDB9enTx913333uuuuuc/vuu6/r0qWLKXLDSBjfMU1Lp6XqofMCWKwrjWFUhyS3Dz/80F1++eVujz32cAcddJB7/fXXxRtXmUGRt2nTxvXt21eS4chsnzBhgttwww1NiRtGCWnUCl2VuS6GYfzJCy+8IEocb5tw+bRp00SR++NFk7G+0korueuvv96NGTNG9ttxxx3FUzcMo7RgZKs+QzbTUOqpKXT/YU2hG0ZVVlhhBdezZ0+37LLLSuWQz/BlyMmXXnrJzZ8/PzWvwDCMP5uPdUlDr6Wi0HlQf6hXU+iGUZVOnTq5k08+2d15553uwgsvdJtssolbZpllpPuZygve+pdffulGjx7tBg0a5EaMGOGmTp0qGfCGYZQWX6elRWoKXT9NmRtGbhgLeo011pCMdhT1Y4895v7+979LBruO0Y5SJ/P9tddek4x2BpTZZptt3I033uh+/PHHzJkMw0ga1Wdp6rTUFLouhBNt9CrDqBlk5K9//askyN19993usMMOc6uvvrpr2rRptr2ObHg8dvqnkyC38847S6Y73dpIsDMMIzl0/AfVa2mw+D9CMt8Tgwf95JNP3OzZs92TTz7p7r//fuly89tvv2XbG9q3b+++/vprSSygH60fWjQMYxGE9eiaRtc1EuboW468oMh1CkcWZOvTTz+VEeRYGNMd2VpllVVkf8MwigcZI0l17ty5ksPy4IMPukcffdR9++23VXqgIIc0gaHgSVZNWtEvFt5Y7Jk0PAThvjfeeEO60DCwBWFBzdCNXlItGj4JJZIItPXWW0u7IKNctWrVqtr0dIZhLAKDmTHczz33XDdnzpwqsqZohbLxxhu7U0891fXo0UN+l0O7n2GUOyhpxnyYN2+ee/75593YsWPlEz3n6zVV5ugqFuQL5xQjevnll5fBnnbddVeJrjVr1ky2xUmsCv27775zzz33nHv88cfdlClTZDxpXgIPWZfL6IugwmH8abwRFHyvXr3EOzEMozpULkTA8MhffPFFaVfHO6DCAeQKxb7ccsu5LbbYQrLoUewoeeuzbhjVQW+9//77IldPP/20dB/VaFihek0dUT5R4CS3otB32GEH0W0bdN/ALdNsGdmnvsSi0DnFlIemuMtGXeZeffVVUexRD6FYVLnjtfMS9t9/f7fffvvZJBOGkQciZIT+HnnkEWlzf+utt7KGtYJiJ+rVunVraZtnjHcUe9IhQcNoKNAV9JprrnETJ04U51SN46heQ0ep0lZ0n3w6EJ2G/DEo1OZbbO6OO/Y4kcP6Ui+FTqiPsPpVV10liTqE+vxKg4ekgiDcQL9aFioQEnmwVHgoLs9CJUSbBCEN2v74zjr1LoD9sW4233xzyfxlGEzCFoZh5AbjGtmkjY+8FSom9S5ADeaWLVtKKJAR5xhljpyWuMOBhtEQQPc8/PDDbtSoUeKgam4KqE5DNnAqGdgJncZ3FDRNxqr00Y8///yz++abb9znn3/uvvjiCzGsdTpjNQQ4F5FompgPOOAAt9pqq4lMFkPRCp0bvemmm9y///1v984778jN+w/Ng3Xs2FEybWkHp/sNv/XBfU+A43hIMnEJZ7z33nuSbEDo8JlnnpEXrNNAagXEefDWjzzySHkBrDcMIzcodoaRfeihh9z48ePFa8dgjnrtGNtEwki4+9vf/ua6detWdOViGA0JZIGhlen+ybwJJGn7DiWKl+YqHEqaq9Zee22ZJwGFru3hyBDH6CfGANEyksLfffddOf8999zjPvvsM9Ghen70F3oRYxpndffddy+uGQyFXlfmz58fbLPNNkHoLQfhjQfhzWSX8KGC9dZbL7jrrruC8EGCUNFnjqob4csNQmsmCL2K4Oijjw5CSygIPf0q1wofONhkk02C1157LXOUYRg1EVYgIr+XXnqpyGlYQQWhwq4iVyxh5RJ06tQpOOmkk4LQS8kcbRiVyxNPPBGsu+66UvZ9vYZOa9++fTB06NBgzpw5QaikRY6KAX0YGtfBxIkTgy233DJo3rx5Ffnje5s2bYJDDz00CD37zFGFUyeFjpJ9+eWXg+233z4IPfDsTfDw3BhKPvTYg9D6CELrXx6aY4qFYzkHL/D5558Pjj322GCVVVaRF67X5j5C7z+YMGFCsHDhwsyRhmHkA7n6/fffg3nz5gWhJxIccMABQehpBE2aNKlSuSDXyNeyyy4rlc8111wThF6GHGsYlQKO5xVXXBGsuOKKWb1G2UfPrLzyysFxxx0XvPTSS+JgopBr02m1bUenIUOff/55cP311we9e/cWGVMjgk9+I5fvvfde5qjCKFihc5Mo86233rqKQsV66dixo7yQTz75JLN3Mvz000/B008/Hey+++7ines98E9Ya621gttuuy2zp2EYhfLjjz8Gzz77bHDEEUcELVu2zOmxI2N489ttt50Y7VRGhtGQUcV62WWXiTLXco9CXX755YP9998/mDp1avDzzz9njiiMunrvH330UXDxxRcHbdu2rWJQEAHfaaedgrfffjuzZ+0UpNBVmW+66aZVhJ0QeLdu3YLZs2dn9iwNX331VbDXXntVCfnz2a5du+Cee+4pOsxvGI0RKrUFCxYEDz/8cLDqqqtmKxV/Qb4w5Gn6wlunPjCMhgwO4pgxY4LWrVtn9Qj6DeV+4oknSmi8GIqNYM2YMSNYe+21qzQt4zATEUfpF2IoFKTQP/7442DnnXeu4hVz0f32269O1kOcYDURAsQz1wqITyqc8ePHS8jfMIz84Jk/+OCDwemnny6eNxUbcu0bychUixYtJCx4/vnnB3PnzpWK0DAaMjTj3nDDDaIv1EmlrJNXQqS3rl65T7EKHcd51qxZwcCBA7POKkvTpk2Dgw46SJqya6NWhY7wosw5qSrzZs2aBYcddphY9WmC0ib5rnPnzlXCJSj5V155JbOXYRg+5JoQYu/fv79UaHjefuQNGWIdyTndu3cP7r77bgmxF1tRGUa58eSTTwbrrLNO1hmkzHft2jW4//776x3hrY8ziVInafXwww+XdnS9N5q7SJSrzdCoUaFzY5dcckk1ZY61UC5WOi9g7NixEir0LS3aP8yTMIxFUBGQ0HbnnXcGe+yxh3jjhPNUrlnUG8BLGTx4cDBz5kyTIaPi+OGHH6rkYaE3NLKLPqkvcUSHv/zyS9Fhmq+GbGJgo+tqMjhqVOjTpk2T7FcVeMJxZLK/8847mT3KAx5w5MiRQatWrbL3SlIDXXMs9G40ZlDktHcPGzZMuqFRifneOAsGML1U8FguuOACiW7VJ+RoGOUKofZTTz1Vkj9RksgCbeY039Y1mS0fXKO+YFiQm7bhhhtmowjcK0npNTVz16jQ8cT9kAQVAsIehxUTN19//XUwaNAguU+tqNZff30LvRuNEozc6dOnS/Io3offNq4LHjpWP+3nU6ZMkWRTSyg1KhlC7TTRoteQB8LaGLvkk8RFXE4kehb91aFDh6wRTuj9tNNOy+xRnbwK/eFHHpZkGBV+vF+SCMoZLBr6qWvFRfPAGWecIf0HDaPSwTN4//33RU6JrFH+o0qcioGwOl1NMdip4OKszAyjXKG/OU1JlH/kgHEX8Hjr2te7NuLONbn88suzEQUMEdr6X3zxxczWquRU6IxQ06dPn6xVwIkGDBggjfXlDCGT6667Tv5RWnnhpTPanGFUKhisr7/+unS16dGjh2TIquzqQkWAN9KzZ0/pd0tSnClyozFBn3KizMgG8sB3ujnHHXGOO8pFL7N+/fplo2w0j5Eg99PC6vktORX6Aw88IBaBVgZUBOPGjctsLRwqGm6GPnSF9unj5WJJYTx8//33dX7ZhDvoYqMVGl7KiBEjyrKZwDCKhfJMWSfPZeONN5acEULouTxywnRkqxNWR6YMo7GBvAwZMiSbZIaXzkhsdYXzMMLif//7X+lGlkuv5FLoJOIx8BpLMfkpJLMy8AzyzMLoqDSpRak2VyJTxDHTDDOnQfjwMq3iNttsI7/rAhNA7LTTTjLBw1lnnSXnrg0mZ9ljjz3kGCZeCR8+s6UwQsvLDR48WCaTh9CocP/5z39caFjIb8OIg1B2ZMIg5ISJF95++y2ZpIhZlShzSfHrr7/KxA5MjLT33nvLDGnMe87kK2FFIveFzIYVlkzHeMQRR7grrrhCplJl/uXQOM+cyTAaD2+//bbMOIiMIB8rrrii6Jm6Eipwd9FFF4ls9ejRQ+ZKj8L5ff73v/+5kSNHus0228xtuummbubMmZkthbPjjju6DTbYQGYu5R5Cg8I99thj8jw+1RQ6CvWFF16QgyC0+t3xxx+fVZB1YeWVV5YZaVDkXLwQpcp0dVSMVEwbbbSRa9KkSWZLYfAyeXFrrbWWzBLFeahkJ02alNnDqCSYkpDZjPg/1wWU8LBhw9w555wjs47VlQ8++MCdeOKJUikMGDBAlCvLXnvt5QYOHChCz7SJccJUxcccc4zMgsa177//frmGKvLQOxd56dq1q0xpfNttt7mLL75YpmRkRqhoRWMYjQWmENZ6AjlBOTKzWV1Bp/Tv31/041dffSUzs0WJyhn7odfQrejEzp07Z7YUDrOLHnTQQfLJ+THsmTmRmUh9qil0vGqsDh6cA9u1a+e23377oqZQ5OK8OLxmKtBc1owPlgyVEF4Pc6dTcRVTCfHS8PCxZgAvH6vop59+kt9GZcC8+Uwz+M9//tP9+OOPmbWFgSA8+eSTbvr06dkpDAsBrxxFuu2227prrrnGPf3001Kuf/75F/GSUboI2tlnny2CjyCrcVxXuC+M4eeff94NGTJE5PCWW25xzz77rMgI26mcll56aakktthiC3faaaeJQX7ggQfKNKh46obRmMHonTFjhugB9Bp6AWWOjikGHEZ0DIb0o48+KoaCT1RnoVPffPNNWc+0q23atMlsqRtbbbWVzL+OzPMcRB2iOrWaQp82bVo2NM4NoFSXWmqpohQrFybkjndPGBIrqSYII8yaNUsqQML8xb5wDAg8pebNm8tvKj7mWMeoMCoDvGqMPwSlrsocKJsINmUF4SgEyuWUKVPccccdJ1GfNddc0/3jH/9w1157rbvrrrvcHXfc4a688kp3yCGHiDH7yiuvuEMPPVRkqq589NFH4mXjiRNWv/HGGyUagUHB/bJgZFM54LXfcMMNbsKECe7UU0+VOZsNw1jEhx9+KMa/Gu7oI/QSsl8MRK3Ri9QheN0vvvhiZktu5syZI3Ort2zZUowBji8GmstQ6lpnoadpSvOpotCpLLA4cOeBC2+yySbyvdBKL8o666zjOnToINbMfffdV82a8XnggQdE6eJVEL7khRUDxgfhel6gWjOESOfOnZvZw2ioYBhinOGJXnLJJVKoEdRiyicKsS5ljLJ7+eWXizLHwr/++uvdySefLGH39ddf322++eZuv/32c5deeqm79dZb3aqrrirNRyh6vPe6gAf+8ssvu4kTJ8p1NaweBaNk3XXXlba5Yg1gw6hUkBkUKs29GOTIO3KCMV4faD9HTyHXzzzzjOjOXHB99BrRAbxrFHKxIOvUMzjYwDVxJPwIYJXaDA8Ai0N36NSpk+vSpYt8L8ZDB6wJKl/CglS+JNzlAi+LsAj70Aa43nrrZbbUHe51mWWWkUQ+rgu80Pnz58t3o2FC+SCs3L17d/GEESbKql+gC4Uykk+ZI4Scm/JCuE7Pj3J9/fXXXfv27d2FF14oRmOucyBwCO5RRx0lUaInnnhCwuB1gSYjPH887379+kmIj/Zxv+kLQ4YEuRNOOEHa7TGY+R1NlDGMxorKiCaqohT79OlT59ysKORoYUQja7NnzxYPPBc4H0QRuW6vXr0kl6VY0KVrrLGGGAZAvUT7vN+OXqU2wotFoaonQLsc2YD1hfZGKkEsirFjx2YjAD7vvvuuhCiBSrtVq1byvRiorFmILvAigWvzfEbDhTJBqIzkkL///e/ZxEcNpdUVykjU6+U3IXKywwmX014NVAh45ByDF04Zrcm7R/h22203acfGWKUpqa5gGOyyyy6S0Y7ckMC35ZZbSuhNr82zI9Q0BfBe9t9/fzdixAjxGopJ9jOMSgL5IKKmRi71BTJUXwjb0yxMFBsjP19+GHKLU4Bhf/jhh2fWFgd1Dzlt6GS+A3lhfvJtlRoJa0ItGQ7Amoijm0uzZs0kQYhKCKVK+2AUGvhpQ8ejxjvXsEJ9ILqAQqeSxprh+YyGy2qrrSZKjW5Y//rXv8QrRaAoV1HFXBvsj8JDIHwPnwS0o48+Wnpl4CX37dtXzk/YG0sYmUDJUjGoUOWD9m08a86PFV8stIkTzscTJ3w3ZswYsdTxMlSxY7Ai2E899ZS8H3JIMEhIyOH6dX0/hlEJoMhR6CrjyC31CNQmvzWB3O25556i2DHY/XZ0lTWazWjC5h5oesa4ry/UBb5BH408V1HoKFouzoNyAG0E6uHW5+E5VtscSE7Ae9CH1k88DCrY+rYz+NCGroYB/1Dz0CsLDT/Xp2xiwVMGWfDMaRMnfIZSJyFNBQdlyXeUaKFdOLXc84mHrmW9PmDwoqynTp3q/v3vf4tXTk8S7kvfA89E09n48ePddttt5w4++GB33XXXiVGRr63PMCoR9BkKD9lDfomcFSq/tYFRTZs2TvDkyZNFufq89NJL4qSigImc1RfkG/n3FTrPR4ROqaLQtf2NAzlAvZ84IDxB2zgPT8WikQDAkiFbj5dOBURYIQ78NkfObW3olYUqMP3MRy5FyjGUDTX46IpGmzcG5ymnnCLesC/4KEI1buuCnoPyHodCVzBW6V8+evRoN27cOHfuuedKoo/fNoiBjEzffvvt7qSTTnKDBg1yZ5xxhjRvGUZjAEeO6JrKHgrdl5H6gH4cOnSoOKok3WmTMaBH6RJLLg7JscX0ec+F3r+v19CfSlZbswELQ8NzusQFbehUOJz/8ccfz1pNLNrpnzZS2hniMiI4j/88cVeqRrqglFmiZTa65AIvlvJOrwo8WQZPQpnTf5tuZ9GmJhQz6xBUv4KoCfYhw5ZjOLY2w6MYaM4ilMf947VjjJCsR9MAwq/vh6YFDOnLLrtMkoJQ7CTqEXng/gyjEqHsI+sKOiEu/QK0x+OAorjpRqvXIsrHCI7IIFE6enrVF63vcCz0Gfhd5fkynzkrKF6GVpZxQHiQCghl/txzz8mNUNHQHso1yBokES+O63EOvCqt1EAVvFE/4ioP9UX/l9wPSknLam0L++n+5FUQXqe5iWRN2ttyJZOhkLHEsYaxxP3z5YPzsC/lnPb4mvaNA4wOFDpDHd96661iHOMdEIVABrg+MkEYkBHkyJ4nfE9/d96DyYZRaSB7Wv8D35GBuGQR/UJODefFeKceQY5o3sWAxpvGwNbeVvWBe+Z5ovfu/84qdJQdg2Fwg6AHc6P+CykWzs8oOR07dhQlfvPNN8t56fRPex9WB4lzPHgc19NzqPfBb7qyaajCKJ44/j9xoFYqCovyw/+WdbkW7lkXflPONPRG+JpxzjkPSSwYm1FIRtl6661FJuj7ifJHRmp6F3j8LJyXY7luknAvvAM8BsZ+pp8+XdlIjiNCxjtiH+6bSo22N5Lo6FZKRv6oUaNEHg2jUqDMk2Huy75+jwPC7jiiGPsYxXjlyBcjk5IsR6SM7mpx6B29b2TX12u+sVClhkHZqkIHKi090LcCioWHJ9GICo7sWywYkgmoWAhJMEBGnJCVzMMrVGpG5UCZZCnGs0QQKOs08+DVoqRJXEEIL7jggmrzDrA/gx0hoCS43XnnnVXKVhS2MX8Abdh4yfSdLzUIOs1cZL1jpGBEE25nYA2NXPHu6KpKX1nC8FQ+NDug6JHLOOTeMNICRYrBziflHYMcGY8TEuOYs4Tz0oWNcDs9UdCdhNvj6PoNyCL1ijaNA8+EI65UUeiEu30rnhuMZu7VF21zoO2ORB48Il4ySXM6iE1cUJlqpYtlpt0VjMpAlQ3ltRgwMGl/pl853vrw4cNl7AKSxlCC0YkPMDqZiAVBZfYk2qzzKTxC7YS+8eyZNTCOLiv1gd4j++yzj4xaR2VDlz+61fnyjgGPzJBTwNCW5BKQUGczFRoNFQzXtm3bZss4zWA0q0E+2a0rnJ+eJpyP7q7IPSF3IgPIfrH1UxTOr/3OVaHr8ylVFDpZ6Fj1HMgBPDgHxwmVCJNMoGjxzhm4A2VLRUpIPA64fxasJQwSvnONuA0GozwoxkNXKHNEjABDk0xw8jzwrvFSfVB+JJ/RNx3ZoE/8ggULMlsXQVmjL/vgwYOlrZpw97777ivHpolWKkQkdt55ZxmsholjGMoWL55nRka4fyo9msHI/GeAHbx2ur7ZOA5GQwPPnIgUn5Rt9A56IU5QqvRJJ88GfcbcCugd9E19h5iNQtRs3rx5VRQ6UUOlWsjdz8ZFgOO2zqk8GaBewwRcC0ummLlp88E/Dq8f71+7x/HgcWQaGuWHhtPqCgrMh3MQkkaB4Z0zmxoZ7UDzEEO/3nvvvTIXMgqadjL219HkKHcYqYSsaYvGcqZtjW5lDAiTK9kuLXh2QoEobIamPf/88+W5Uez6Lqk0tCcAnjrbjz32WBlHgqxewyh3qPc1fwT5JArFvOjohzihuZjQO3LFNaiTyMuJ1jH1AXlkRDrychTkdfnl84TcUbLclHoTeOdMLhEnVBZ444ygxcMSEWA2qbjaGYB/HN4R9054lGvimZhCr0wQ2rpCGUHBRgWbEDl5HpRHJkdhGFX2YQhHlN9hhx0moXnayTAWUXaaRIfAofhZxzYUPh49xzELGuGycgQPhogCyprnj1ZCvCvkCK8dxY7yzzXao2GUG5RlmlrVi6Uc0xxGWY4THFWasdBn6BvqD/ScGsdxQD2Ek61NgZwb52KppfIkxbED465rCJKHZwQ3BJolLogEMBY2iQRkCFJBxvng3Ct93dWL4Nw0J1jIvbLQsQ1oH8YirgsYrRiVGHnRYxkjnsxvupphETMsMddiPUM4MjQxA0XQHYXFb8OiSYl1lGsS4TiGhfJXjOGRJBggRCCYMIkBMhgfny6lUSNHw3ok+BCloB2+PpMnGUYpIX8FWUfOKfMoc8ZgiFOnAZOBIfPUETipccsInj8TVGleGDlA5LpU0Z3hQ1XhpZdeClZdddUg3EmWZZZZJgitgiA8SWaP+AhfbhBWHplf8bFgwYJgl112CcJKW56hSZMmQVhhJfIMRuOEshsavJlfDYvffvst+OCDD4LRo0cHoRcRNG/ePAiVdhB6M1m553ezZs2C0OAJjjnmmOCRRx4Jvv/++8wZDKPh8MsvvwSHHnqolGct26HxGnzzzTeZPeIlKT3z6quvBqEDE4SGichq6GSIbvapFuDHe8ayCB9cftOlhcSZqNUeB1wjGt6LAzr4v/HGG1lLhryA+kxobxhRKLt1jQqkSSjr8klCEOPVkxhHdz3GmyaEh3yzD/JIoiBRBaZvxXtnEBpyBZAjw2hoEHGmvJPPAnjpTKaS1BDISdULEyZMyCbEcQ16jNFc5lNNmzLaFElrGnZHyBmalX7jDQEe9qGHHsomDqDECbkQ4jeMxgaKmsxYBphhxjYGuGEuefqdaw8QjBPCd+SZoLhR5CS+0Z2PZjF/4ArDaIgQDu/UqVPWqaMpDT2RBOoMxwnNfnSH0z70dLNlEjM1UpRqCp0Hxpv1B2GhQiC7t5yydPOB1eUP+kEG/ZAhQ2LrEmcYDQEM27lz58rkLXQ5Y9hl2t9I5lPZUG8cpT1s2DDJ6ifpjeQef7AKw2jooAcOGnyQKEKMWIxZeqSQPF3ukGCLTiPZVr1znFQmMqtmPIQPV43woOD444/PtkGzdO7cOZg9e3Zmj/KEtsHQapE2Bu6Zz+233z4IK7HMHoZR+cyZMyfYdtttg44dOwahBV+lbZyF3+SVhIo8GDNmTPD555832HwAwygU8kbIGVH9QO5IaOiWfW7VCy+8ILJK2z/33rJly+Ciiy4SPR0lZwN2+LDSdYchK/kOhLAvvPDCsu1/itfBbDe0jWDFAM0HTD6BdWYYlQphdX8gGEJxhMzxPvywOqFzuvDsvvvuMswr/c8ZDY4uNlj9hlHJEHWm7JMLQnSKbqTIAKHsJHLE4oDJoIiyMa4Feo2mMTLpiTaobq7CIr2em8svv1wsfKwZlvBFBCeffHIQVhKZPcqHZ599VqwYvdfwwYMddthBvA/DqFTmzp0bDB8+POjbt2+wwgorBEsttVQVjxyLnp4qXbt2DUKDPJg+fbpFrIxGy0cffRRstNFGQWjcipygJ/DaiWrFRS7PuRjQs0ceeWSVKNvKK68cTJ48ObNHdWpU6ChDlCKuvlYQoTUfTJgwIbabjoNvv/022GmnnaQy4x55eB58xowZmT0MozJA7mhaorsKirx169ZV5FMXFDkGOF1QQy88CL31spJZw0iLqVOnioGLMkdWaFqmiSqubplxyBlNYDfddFOw/PLLZ2Ua/XbUUUfVeJ81KnR46qmnpL8blYZaNBtuuGHw+OOPl0UFgcU1aNAgqby4PxY8EtoYDKOS+Oyzz0TITzrpJDFYaQdXy52F7wg9njr9bDG8P/7448zRhmEo55xzjhjDqjOQm8MPP1xkrL7UVy9y/IMPPhist9562fZ+9G737t2DWbNmZfbKTa0KHUth3LhxQdu2bbMnR7mTcIPr/78EBoYpFF7+PvvsIwqce9N/zJ577hl88cUXmb0Mo2FDWb700kuDnj17isWOR+Ercso+yh1FPnDgQIlM/fjjj6nKpmGUM5988kmw1157VWlSJkkOpf7dd99l9io9qm/XWmutbFI6so4Bf99999Uq07UqdCDEd/bZZ4tFow/PwkVuuOGGYOHChZk9SwNZiYxoR0a7H2bnn0Ol9/bbb1tlZjRoCKtNmzZN5Ktbt27BcsstlzWodaHMUwn16dNH9nvzzTczRxuGURuMvIa+UB3CgjwNGDAgeOONN0re8+OHH34IrrzyyqBTp05ZWecTPXvjjTfKiHe1UZBCh/nz5wdnnnlm0KJFiyreAb8ZVvXdd98tSQieRAHCjrQN+hUcw/rxjyjVfRhGktBVZdddd5XIGOE2X+Z00UjZPffcU5aJqoZRzuCootR79+5dxRtGwZMod9ddd8k+SYO+wgmlfVxzYrgPPtu1axdcccUVBUfcClbowMNdcsklVRrqWXgZ66+/fo3Zd3GAsiabt1WrVlUqODIW+/XrV21cW8NoqOAdfPXVV2K8Ilt+s5KWe75T9tdZZ51gxIgR1qPDMOoAipQFpU77tDZlsfCdBPDddtst+PDDDzNHJMPtt98uUTjNvEe2MeJXWWUV2VaXfvKL/yMk04OtVsIKxW2wwQbyGb4Emf0lPIf0j9N+sExNx+hTLKGlI8eFN5i7z1wNcM7QIpF+7wxTed1117mTTjpJprRkfHngnFyHeWcvu+wy6TdvGJVAKNgyqhXy1r9/fxlTgXWA3CEbyB6fCxYskKlameKV8SJYF1YIcjzH1FX2DKMxoHqJ8dAZF53hzZltMDSmRYbQM0xXil5D5tA1jOUQes6ZM/xJITKmupIxU7744gsZK4J5Fa6++mqRW67LeUJjQsaLYMrlfffdt05zkCyGVs98LwhuiMkcHnnkEZm0BQWuip2bQdlT+TCFHHO1hhaOTP7OROxaIeV7eL2V3377zX322WcyBSqT0WM88AL0OsC5+EcwPzWDY7Rr184GxzAqEso8FQxDMDOc6wMPPCATNSATDAuJTIJWBsgak6swIQXTKzLhkil2w8iNytcHH3zgbrjhBnfLLbeIkcw6QHZQ5MgRg7r07dtX5kVgQCbkDbnSxYffnFsXBrJh0jDmVWBSJCZKQqZR5Gxnfwa96dWrl0xnzDWaNm1a7bw1UWeF7sNDjxgxQsZ5Z0QbbsyHF4GXgOIdMGCAvAgsD0ZuU+9dXxoPi5XCPLXjxo1zs2bNknX+OXkwzsmxvNwbb7xRJpIxjMYG4zqff/75YvAih75iV5ATZO/II4+UEbJ0coq6VBCG0dh48skn3THHHCPeOU6kD04jyh3FyxwIe+yxh9t4443dSiutJOuQLzxw9sMxJcL8zjvviAOMnkSB4/mj13xDHL3Wpk0b8cgJmhMNKIZ6KXSgInnqqafcrbfeKsPoEXqPnpIbxpLB2tCQBQ/AfjwUn7wEXh4LLyJaOXEOjmdqV4Zz3WeffcRCMozGDJGs5557zk2cONE99thj7ptvvsnKFCBnyF7Lli1dz549xbBmaFgUvWEYufnoo4/cHXfc4caPHy8KGZ2kMoUuUiWM0YzTShMXSpx1yJ/KIIqbY9GT6Dhfr3EOjkOPMQsiEyj16NEj6+wWQ70VusIsTrTjMfUiFQtWCN53HKfnhWENEVpnJjjC67wIwzAWhQy//fZbiWoxNSoGtkbMfPmjslluueXEKB40aJDknuBZGIZRHRTxxx9/7CbfM9ndMOYGmRsBhzPqbNYVFDlKu3Xr1hK1Zpri9ddfX2SzvsSm0BWUOO0EhMNpJ+CFaKKBXirfJXlQoOIhfIHlwjRxBx54oEwVxzrDMGpGE3louiKhlDmUo54BXjteer9+/dyhhx7qunTpIm3vhmFUh9A5zVt47MjX559/LkYzukxlK5deU52G944TSlh95ZVXliQ8FDm5LrpPHMSu0H3w2mn4JzOdF0ASD+3kJPbwqS+CEDwJdHgLKHEqGhQ5CQg8PJWPYRiFg1jjUTz00EPunnvukVkIc3ntyB6eAoqddvaNNtrItW3bNrPVMAwfPHTkimRwQvHoNJq9WEeWPJFp5Au5Yna3NdZYQ/QaUWV0G71WiDbTBJYEiSp0hUvgudOGwHLzzTe7008/XaZ2xGpp1aqVKH6+8yK0jd0wjPqB0UxyKZ4600QieyTm+G2CgMyRrEqyKdnxZNniTRiGkRtkCwMZnYY8kZ2Os4quQ5ZGjRolOSu+XkuakmhNQgo8DG3hPGiLFi3kIVmP4mY97QckveGNmzI3jHjQ5isiYOeee65k8B533HES/ULmtJKhYiKi9tprr7mRI0dK5u4555wjhjaevWEYVUG20Fc0VdFVG72mugv9hq5D9vL1XU+CVDSn32aAlRNnG4JhGNVRGevatas7++yzJYOXAS3ITyHEToXDPnjthBXpFnfBBRe4vffeW5JRSbabN2+enMMwjOrgkIJGpNPQa6kpdK089LdhGKUB74G2vYEDB7rrr7/eTZs2TfrT4lGoh4Fs0tWGdkG6xA0bNky61IwZM0ZC+H643jCMRc4pIBu6lJqyiG1b5WAY6UGGO4qdUDveeq4RF/Ha6Zt74oknyuhzjN5oGMafoNBVl6XlpKYecgfz0A0jPcjWvemmm6SbW7SLm6KjM5511lnu2GOPlREfDcP4E/SYLmmRuodu3rlhlBYUNj1MSICjDZ0BZoYPHy4jPaLQVSYJv5PQ061bN/fPf/5TRqQ74YQTXJ8+fSQ8bxjGn5CHguzokgapeuhpP7xhNBZUxkh2mzRpkoTOGXURr5zBnwipsw+ySa8T+s4efPDB7rzzzpPJYFD4NtSyYeTH12Np6bRUFLo+LJWHJuEYhpEcjG7FxA8MNXn44YdLmzmDYtCHVuWRZDkGwDj++OPdlClT3OjRoyW83qFDB9luGEbNqLOaVti9LELuaVkzhlHpMKAMs7IxdPLdd98twzIzgQvdaoAwIQM7MSgGHvnTTz8t/dWZ8hhP3QxuwygMX1b8BLlSkoq0Yr2oIjdlbhjJwfzOF110kQxNyeAxCpUPg2GgxJlQiTGqr7rqKkt2M4wi8b3yXImlpSAVhe4rcj7VWzAMI14YklLbx4GwOu3jJMJNnz5dBpdheErax80bN4ziQY+pnDWqkDsPS+XhfxqGET86RzMyhjJHkRNWJ9GNwWVMiRtGPES9clXupSR1aU7joQ2jsYAi10W981VXXTWz1TCMOFF9xmcajmpqHjrw0Fg1abU3GEalg4xpJYOcodQNw4ifcoh2lfwOqFyibQ2m1A0jfpAzlSuVN1/BG4YRDyScRuUq17qkKblCR4HzkL4C53sa4QnDqGT8/BQ++Y3smawZRryQq4IBrbKFrPnyVypSDbkDFYxO3WgYRnwgU8iXv5icGUb8IFcodWQM0pK19IP+IfoSDMOIF79SQc7KoZ3PMBoDjUah86DRisYwjPiJhv0sV8UwkqEcZCsVhY4CVyWehhVjGI2FqKyZ8WwYyRBV6GnIWurxNx7awoCGkTymzA0jOcrBOU1Nk1K5+IthGPFDJaMVjcmZYSRH1DFNw1FN1TXWysYqGsMoDSZrhlEa0pC11GPdvgdhGEa8RCsVU+iGkQzlIFupK3SrYAwjOZAvy2w3jOTxdVlaei0Vhe636eliGEYy+BEwi4YZRjL4eg3SkLVUFLr/wFbBGEZyRA1mM54NIxn8OUogDVlLzUP3FbkpdcMwDKMh02j7ofOgaVsyhtFY8OXLjGfDSIaobKUha6klxWklE1XuhmHEB5WK3x/WFLphJEO033mjUug+VskYRjL4BjNyZsazYSRDVLbSkLWyUOiGYSRDOVQyhtEYIClOSctJTUWhRx/WPHTDSAZftlDmNm+CYSQDsqUGM59p6LXUFLopccMoDb5XbnJnGMkQNZ7TIDVzXR+eT/MaDCN5TJkbRnJElXgaSr0sNKnf9mAYRnz4SpzvaXkOhlHpIF8qb2nJWskVOg+Za2xpG2/aMOJFDWWNgCFjVDQma4YRH+i03377TeRMFTpER44rBSVX6PrA/oMuvvjiFnY3jJjJJVfIn8maYcQHMrXkkkuKXKleY91f/vKXKgq+FKQi2TykPmipH9gwGhO+fPkVjmEY8fLHH39U0W1pyFpqCh14YBYLARpGMpjBbBilQ3VaGsocUo29Udmk+fCG0ZgwOTOM5PB1WVpOamoKXR/eD1EYhhEvVCxayeinYRjJk4a8paLQ9UFVkVvI3TCSwTeW+W6yZhjJUA7dr1NT6OY1GEby+BEwkzXDSI5y6D2SasjdMIxkiYbcTe4MIxn8XiRpyVkqCt33GgzDSA5T4oZRGjCe09ZrqbahG4ZRWmyYZcNIBj8alhapeeg+puANIxmQLYuGGUZpSUunlUUbug1FaRjJEK1YTLkbRnKk7ZympkmtYjGM5KGCSbuSMYzGAHLm67U05C61NnR9WF6AVTiGkRxpVzKG0RgoByc1NYWu8N0GuzCM+CEB7ueff65S0fzyyy8mb4aRAMxumDapKPRom3k5vAjDqCR++OEHd8stt7gXXnhBZoHCcOZzxowZbuzYsaLYDcOIjyWWWCLzbZG3nkZuWCoK3accwhSGUUl89dVXbs8993TDhw93c+bMyXZVwzN/55133DHHHOP23Xdf980338h6wzDqT7Q5K43mrdQUOtaLvxiGUX++/fZbN3ToUDd16lRR2NHwOpXMd9995x599FF30UUXuYULF2a2GIZRH5AtdJk6qY1GoUe98rjb9DhfEi8zqbZHQqFJ0NDOm9SgJ0n83yhfv//+e+ZXfNS37D777LOizH/77bcaz0Pb+pQpU9zs2bMza4qjoZWxJP5n0JBkgnKRVP2YxHl5B0m837jfLTKnui2tkPti4T8g/v9ALdCGN2TIEPfTTz9JAaANvUWLFvIC+M4/j5fNtlwvhYITNQrYV1+iX4Hrvmz3H9X/DnqMv17Pp9fyv4OeF/j0tyms97f5++h6FQS+6/ZCzsfi76fr9DuwXc+vv310P/CP0c/o9ujxiu6n7zsfbNNFfwPvVgWMMsB1WPR8uh/oekXvk3P431mA36z30d9s0/ej+4O/Xs+p69kv132BnpdnybUtei7/HHpO3cf/zmf0/vR8/rP++OOPsvjvJx+852WXXdYts8wysj9yp8fp+bgO6LX0N596D5DrUxd/P/2u6/0FdJv/jvW7HqPwXffPtc2Hc+j++um/I34r+t3fH/ju/9ZP0PX+OtBj/ON8dL1/vH7n/rhvfiv6W/eNou8sF/42fXZ+U1a1vgU+uQ5twvo9mufk3wOLf5/+NoXr6TXB/87+eh3/nMCn7qvn12vpMboe+M7+/jrwz8kxProv74Btej32ZxuLfudT71N/L7nkknIMckfEi/XI1c033+x23313OVepSEWh33777aLQ9eENw6g/WskYhpEuGMko9AEDBmTWlIaqpkoJoMKpS9iL/UtRSZXqOpWMvsPoeyzFe8113cZGY39+o+Gg8hpdKgn0XKmfKRUP/dZbb5XEHbrOcHk8i1zUdmt6nH98MY8TPSbf/Si6vaZ7LxS9dn3PEyXXe4j7GrnQd5LrnfrPqvtBrn2j5NvHP09t1OUYvR775dq/tu01oceAf54oui0fuY7xm6tqg+MJH+pSjtT0Xmt6d7ko5J3ECfcVvWaudflgv0KerS776ad+z3VcIeeLbs93Pl2fj0Luuxii19Xr1HY/cYGHPmbMmMYRcn/rrbfctGnTqrRV5CsI+sl2/7t+Ro9lH/+8+uk/pv9dyXVu/9Pf7q/zfyv8jp4Pcl1X23u0Qo2eK9cxoNf1t+tvXTi3npfffI8eA7rO/wQ9Rr8r2tYE0fP55/Hx1+W6Duj9sj66Ldf5wD+PfxywTRfOy6LnYT//WN1H91ei+ymqNKNti+zHwrNEj/HP419DYZ2u94/lu7+/fx7gOwvXfP75590dd9whSW+5ruFD3sr+++/vunXrVu05FL22fz3QdVoW8m2P3kN0P/D30+9+2fX/bwr76TvWY/xPRdcBnxg8/v1Gj81FvvX+MdxLrrKg6H7R6+k+ua7BOVmv7wFq2j+K7uN/6jn5BP8eo9/93z663t/OOVmix+l60PW6n8L36DrQ9ZQxvut7iO7nX6NQ2N8vP7ouH9FrKv4xug/3u/TSS7utt97ade7cWdaVilQUumEYyYCxfMABB7hXXnlFKpZ8kPDUu3dv8SI6dOiQWWsYRkPmT9PPMIwGT9euXd2gQYNcq1at8nrdrG/fvr3s165du8xawzAaOuahG0aF8euvv7oHHnjAXXnllW7mzJnSm4TwIiHLpk2buh49eshocX369JEuN4ZhVAam0A2jQmGcB0aEu/baa2UAme7du7sjjjhCQu1NmjTJ7GUYRqVgCt0wGgHqoRuGUbmYQjcMwzCMCsBMdsMwDMOoAEyhG4ZhGEYFYArdMAzDMCoAU+iGYRiGUQGYQjcMwzCMCsAUumEYhmFUAKbQDcMwDKPB49z/B6XekdGGAZSWAAAAAElFTkSuQmCC"/>
          <p:cNvSpPr>
            <a:spLocks noChangeAspect="1" noChangeArrowheads="1"/>
          </p:cNvSpPr>
          <p:nvPr/>
        </p:nvSpPr>
        <p:spPr bwMode="auto">
          <a:xfrm>
            <a:off x="276225" y="15875"/>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data:image/png;base64,iVBORw0KGgoAAAANSUhEUgAAAfQAAAEQCAYAAABGA4YeAAAAAXNSR0IArs4c6QAAAARnQU1BAACxjwv8YQUAAAAJcEhZcwAADsMAAA7DAcdvqGQAAGLsSURBVHhe7Z0JvFXj+vhfPy4qkiZKUpQ5hIsoQ4QIyXCFENeQIWNldq95SOTiGjKTiopryDxVhshQZMp4TSUzGe9//df3aT/be9bZ+5x99llrr332eb6fzzp77zWvdd7nfYb3ed93sSDEGYZhGIbRoPm/zKdhGIZhGA0YU+iGYRiGUQGYQjcMwzCMCsAUumEYhmFUAKbQDcMwDKMCMIVuGIZhGBWAKXTDMAzDqABMoRuGYRhGBWAK3TAMwzAqAFPohmEYhlEBmEI3DMMwjArAFLphGIZhVACm0A3DMAyjAjCFbhiGYRgVgCl0wzAMw6gATKEbhmEYRgVgCt0wDMMwKgBT6IZhGIZRAZhCNwzDMIwKwBS6YRiGYVQAptANwzAMowIwhW4YhmEYFYApdMMwDMOoAEyhG4ZhGEYFYArdMAzDMCoAU+iGYRiGUQGYQjcMwzCMCsAUumEYhmFUAKbQDcMwDKMCMIVuGIZhGBWAKXTDMAzDqAAWC0Iy3w0jLxSTxRZbLPOr7vz666/u22+/dT/++KP7448/XLNmzVzz5s3dsssuW6/zGkZdqG85Thqtjutzjz///LP74Ycf3E8//STnadq0qcjZ0ksvbbJW4ZiHXsH8/vvvItTvvvuue+mll9yHH34ov+vCb7/95s466yy36qqrukmTJsm6//f//p98FgIKfMSIEa5jx46uQ4cOrmvXrm6ttdZynTp1cu3bt3ebbLKJe+aZZ+ScZlsaSVOXslsXkJMFCxa4119/3b366qvu888/F/mrC99//70bOHCg22WXXURm68p///tft8cee4hssayxxhqyILudO3d2gwYNch9//LHsa7JWmZhCr0AQ1jlz5rjjjjtOhLl79+5uq622ct26dRPBPuSQQ9wrr7xSUOXGPt99951UVr/88ousK6Qy4DgU9U477eRGjx7tvvnmG/HI119/fdejRw9R7uzz8ssvux133NENHTpUDA7DSJK4PdT//e9/7vnnnxdlufrqq7vNN9/cbbPNNmK0rrnmmu6CCy5wX3zxRWbvmuFcyMlXX30lBgIUImscd++994oyf+CBB8SIbt26tdtss83cX//6V7f88stLdGz8+PFuvfXWc5deeqn7+uuvM0cbFUVYYIwKI6xAgn79+gVNmzYNlltuuaB3797BGWecEYTWf9C2bdugSZMmQc+ePYNPPvkkc0R+fv755+DEE08M2rRpE9xxxx2yLvQ85LMmQoMhCCuU4C9/+UvQokWL4Lzzzguee+654P333w8+/fTTYNasWUFYCQVhhRMsueSSst/gwYOD0HjInMEw4uePP/7IfIuHZ599Vsr5sssuG4TGcjBkyJAgVJjB3/72t6B9+/bBCiusEBxwwAFBaAxnjshPqMiDPn36BFtssUXwxhtvZNbWTGgUB//5z3+CddZZJ2jWrFnQpUsXkdNXX31V5AwZRxZvv/32IFTmImutWrUKrr766iA0BDJnMSoFU+gVyNixY0WJhl5wMG7cuKzgIvyPPfZY0KlTpyC02oMzzzxT1tUECn3YsGFVFHroPchnPqg0MSAwKKjQbrnllryVx/fffx8cdNBBotBbtmwZTJo0KbPFMOInToX+66+/igxhJPft2zd48803M1sCKe+TJ08O1lhjjaBjx45Z2akJFPoOO+wQbLXVVsGcOXNkXW3yOW/evGDPPfcMlllmmaBXr17B22+/ndlSnXfeeUeMD5T6WmutJccalYWF3CuI8P8poborr7xSwnAHH3yw23333WUb4W22b7311u6oo45yoVC7Rx55RMLprM8H20hi43ycm3ZBvnM+PmkrpM2QEH7oDcj29957z4WGhOwTeiourHDyhjrDikiaBlZbbTVp3ycsSAJdTfdkGMUSV8id8knYOjSQJeHssMMOk/wQLbdcJ/S23fbbby/l+cknn5Qmq5rKNXKGzITGreyn+/LJttDjljb6UGlL0hv7ct4ZM2ZIWB25Ro7yEXrvLjRAXGiAiNxeddVVdW7nN8obU+gVBJUIAjp37lwXeuiizKkcWK/L//3f/7nevXtLJYSCpmJgfT784zACllhiCVn4TYW23377uf79+4tSZv3iiy/uHn/8cRda/3IPJMQ1adIk7zVYT9v+scce65Zaain3wgsvSMVX0z0ZRrHEVa44D+WU9u6VVlpJ8kKQCT0/n2SV02ZNuWZfZLOm63M8qIz550KmMRpImrv11ltFzlg/ffp0aTPnOn379pX1+WB/jIwDDzxQrvXQQw+JoWBUDqbQK5DtttvO7brrrpJFjhBHF6xzvAYqjeWWWy5zVM1wnFYyVAZUMHjfL774olt55ZXd2LFj3YorrijbpkyZIpXXOuusk72HmuAYIgd463jpGAOGkQQ1ech1BWOZcou8YbxGyznXQuGjzIH9a0KPx9D2vfPXXnvNHXTQQW7mzJlugw02cKeccop0RWN/5BBDG4OCpNPaQIbZl26jGAJk1huVgyn0CgNBve2229y//vUvyXSNQrcVss4RZLJyUaK1QaWC0mUBQupDhgwR74BM2muuuUa8FGBfQoCw6aabymchYAxQ4VGZWba7kRSEqeOCMv/vf//bnX766aJUo7zzzjvu/vvvFy+YrHc89ZpAdjC0MQC4T34jY0cffbT76KOPJJOe5jSVWbaTQc956clSKG3atBFPnv7qX375ZWatUQmYQq9AULxY71GPAUWMpU93MjxzLH1V0vngHFQceNxUMnjP++yzj5xj7bXXdhMmTBBPXGFf2tZ9A6AQqBCpZDhePRrDiBvKV5yonPmyxjUwagmP413TJ5z27ag8RlHZYeE7sjZ8+HBpN6f57Oyzz64WUdMQe11C53jpnJ9jrA29sjCFXuEguCTTjBkzRvp700ZNX/QLL7xQPPRCoNJA+Glz23vvvaWCWWGFFdztt98uyTg+KHFC8FRe9IUvlPnz54vHwPHt2rXLrDWMhgMGL0YziWe77babfKcf+PXXX19Q05YaBiSqMogTbd1vvvmm23jjjd3ll18uuSg+7NuyZUuRcRLlCoUxJVDkGNE0FRiVgyn0CobwHRUDiWskrX322WfS7n3HHXe4vfbaSyz1QkCZo2xR4IQA+U1bd74BM7gelQWVEUl3hfDWW2/JNTiOdnfDaEiQIHrFFVeIwXvZZZeJkiUUjzKvSzicJqf333/fnX/++e7pp58WOUPBM+BMLmjWwuCeNWuWyHshEL5HodM8FzXIjYaNKfQKhQrgxBNPlK5rjGSFR42Xft1117kNN9ywYGXuQ1sdSTm0wdEGf+ihh0plEwWFTvs9ngAjV1G51QSVy6hRo6RCYiQ5U+hGQ4GyTZIpoy+eccYZ0m7OqIyPPvqoO/nkk2WkxtpC7bmgnZwub7TTExHDIM/VFIX3TlSLaNjs2bMza/PDOagHMMrJeDcPvbIwhV6B4C1QAdx8881igdN1jFA7bXp1VeRUWCwo83333VeSfO677z5pF6Tf+bnnnlutokGZ0/ectsCrr75a9ssH56abG5UWIcX999+/qArQMApB25zjAkWKV05/9HXXXdeNHDlS8kroilkMyBkGLfMnTJw40Z133nmuVatWkrPy4IMPVkvqQ6FvtNFG0qzGGA4LFy7MbKkOsnbLLbdIBACjHIPcqCxMoVcgDOqC4mUACQT4tNNOy5nxXih4AHST6dWrl2SjU1nhkVD53H333W7q1KmZPReB0UD7H+2HtO2h1POFA2k7xzunew/daZiYwjCSoi6JmrVBExERL5qWCH3j+dJXnFB2MWDIYnCg0OkOR68Pup8yNjyhdzLqo2Owk29CFjxyiQHwn//8J7OlOnQxRRYxtAcPHiwDzRiVhSn0CoNKBq+ZiuuSSy5xW265pVQM6mlHl0KgouEc2jUHRU62fM+ePSW0j9Hgt5XjRVBZ4GXwSds7lRFKWyHMTgYw4XkMgi222EK605E8VOh9GUaakEPCpCgM0oTM0esDojJWl/KMMcyANBpJ4Nwnn3KyjAD3xhtvuBtuuEHC5QrnZkIYEvE4jmgcip0+5grt8s8++6w74YQT3AcffCCTuNAUh1zX5d6M8mfxf4RkvhsVAKFr+oVTMaB4CbWTXPPUU09J2G7atGmiQFnwLKiEahrwAsVLeyDtc/369ctWWlQ0tMsz9CRhR8Ll9Emnbf3iiy+W9bQnovDpV861CQfi5XNvJPEcfvjh0r5PxULokP3ZjwqIYTQNo5xBrohQqWJEaVJ+WY98kUDKbxba2elVUlPIn6YrkliROWRNo2qt27QWrx/ZZXAZZnFDPjCQ6ZeObDN1KkmvJLwhe8xmyOhx3BsDPR1xxBEi7xjl5KlQT9C1DjnGuzcqhLAgGhUEsyqFijwIPXRZwgokCBVo9lOX0JoPNtpoo2DBggWZI3MTevzB0KFDZZKV8ePHy7rQA89+hp6JTKoSVlZBWNkEoQcQNG/ePHtN7iGsVOT3jjvuGIQKXo596KGH5JxsY9F7DSuu4KSTTpJ9DKOcOf3006W8+rKmi8pZaCzL7IZ77bVXEHrNmSNzgyxuu+22MslKqHxlncoakxiFBrBMwtK/f3+ZUXHu3LlBqIxF3rkO10WWQqUdhH5adkKkkSNHyj3498m9tWjRIrjxxhtlH6MyWIw/Gd1uVAAPP/ywhAFpJ9NkNax0/TeHwizfQ8GWDNzjjz9e2sfzgbdAsg2eASNVkSFPSJ3jgWQcuusQ4iO8TxieoA/X4Lrsy3fuB++eec/x5vEQrr32WmkbZDthRDxzsnt33nlnN2DAADm/YZQrN910k7RLU4Yp5ypbLAoyQKSMfBLySrTZKhecB1niGNq4iYCpHPGJx09+TKiM5Vx41uecc47IDfuAXpv5FZAj1jN+BMchY/794Z1zHSJrRmVgCr2CQYlSycQNFUhNFVOxUOFQWRlGQ8M3cuMkCZnQKl+NAKNysKS4CiYJZQ5UXklgtqXRUElCmScFityUeWViCt2oM0lVBn72rmEY5kUbdcMUulE2mIduJI2VMaOSMYVu1BmrFA3DMMoPU+hG2WDhRSNpzBg1KhlT6EbZYArdSBpL6DQqGVPoRtlglaKRNFbGjErGFHoZ0JAqGR0oJk5Ph/PRZz7u8xp/Yu91UTmjJ0US7yKp6FJD6g5npI+VljKg0AqmlAov33WoYBj7Pa6KRq9Dn/k4z2sYUVC6lK9CyhiyxlIoddnXp7brxGkoFHuPRsPBas8yoFAl/corr7ixY8dmfiUHM6cxOxoTreQizkrmoosukglkwNrQk4MyZhV64UqNaUiZ5KRQin23TJhy1113ZX4lB9MX33nnne7bb7/NrDEqEVPoZUAhlQGhQmY9YyY1ZjBLEhQs46y/9957mTVViUvxzp07V67z2GOP2aAyRkkoRNaYxYwpgZmqlOmIkwIji7I/atSovMZzXCDLI0eOdG+99VZmjVGJmEIvAwpRkFjY7777rkxVSmWTlLdFWzbXYDpGJorIFT2IQ6Fz/8zN/PXXX8vkL19++WViz2QYSiHhdsri+++/L9OhshRCMTLBxEdMGYyXfvXVV+cs/3HIBDLMdZC3Cy+8UIxnk7XKxBR6GVBIZfDqq6/KvMaEwydOnOg+/vjjzJZ4YT7lq666SmZPe+CBB2S+8ihxKHRCf2PGjBEP6O2333b33HOPVTIJwv8sjv9bQ6e2d0AZRM6Yw3/evHkSetdZC+MGw5mZ0BYuXOjuuOMOkb0kWLBggfvXv/4lssZsjDQlYLgblYcp9DKgkElUCJfhzaoHre3OcXP77be7zz77TK6D0iXEnwQYKEw9yXVYLrnkEgu7J4gp80XU9h4ogxjMKFlmFZw8ebL77rvvMlvzU8z7HT16tBgNlH+U+dSpUzNb4uX+++93s2fPlmdjIT+m0Lwdo2FhCr0MqK0ywKJ+6aWXpIIBvPRp06ZJyC5OaGfjWlRmQEVDRRB3NIDKhEqGygzwijAinnnmGfltGElRm6yhzJEDyj7lFO/26aefzmyNDyJfGOXaRs8n62ha86mvIfb5559L7g15NzyPht/JXzEqD1PoZc5PP/0kme1+GzOVzSOPPCLr4gQj4fXXX89eh89PPvlEjIk4IZxJqNGvvHgmQp3RCs0wSgVK7/rrr5fIlMoARvNtt90Wa3Ic56KJiTwV9ZT5RP7mz58vv+MCo+G5554T+QI1nmfOnJl9RqNyMIVe5qDQUaq+N44gEqKLOxxOBaPeuUK48d577401HI5Cp/L0KxS+k4BE4p8RP9a/v3YwkJEBjYQBipZyiQEaF8gY8usbCZR/IgM33nhjZs0i6qt0NfHUhwjfhAkTzHiuQEzKy5wHH3xQLOyoYFPpkFQWVzcUFCnniwo5lj0hO+4hDgizn3rqqVLJRBU6FVqcFadhRMkXwka54p0Too6WS7qU4aXTnS0OaNbCG4/KNMl39GB54403MmvqB01l3Hc0qQ+Znj59unv88ccza4xKwRR6mYMXTsZ5LggN3n333Zlf9eO0006TcJ+GABUqHa5DAk8c4O1jPETb/7kOngvboxWdYcRFvrKFMUkzVjRCBSjA1157TbqXxUE+4wDZ08z6OMBAIRKQK7pGnXLppZdmfhmVgin0Mua+++6T0eEQdDyLZZdd1rVs2dItscQSsh2lOGPGjHq3u7388svSnUW986ZNm7p27dq5pZdeWkK1XId9SJCDYhUu90lXOB1EY6mllnIrr7yya968uVyHipNwvHkORlJoW3IUIkModVhyySVdp06dXMeOHWU4YmSPiFKhfdJr4qmnnsomuFLm27Rp4zp37izX5DrIIO3b9ZVpkt54JsLroLKGbHMd3gORgKR6yxjpYAq9TMErPuOMM7LWNQJ/2GGHSbey9u3bS2WAokfJ1sdzoAKh3Y6QI4qaCmyLLbZw48aNc+uvv750qWP9F198IUlr3E+xCp2wPaFG7pvzUpHRlrfffvtJhcN5eW6SAJPq+2sYUfCW6cqlBi1GM90oL7vsMteqVStRgOSy0PSUL1pWCJzjnHPOyeaPYDDvv//+ItMY0CprRAPq05SGssYZYHAcvnPerl27ikxvs802WVkjPwaZjkbLjIaLKfQyIBrmBjJR/fa8tm3buoEDB7o+ffq43XbbTRQ829inPmF3Khm8YvVclltuOTd06FC3+eabu7333lsqHa5DZUcokHa5XPdbCAwgQ4XI+bh/KrONNtpInqd169ayDyFPhsPMNaCNYdQXlScfFB9yhAxgKPfq1UuWLbfc0m244Yai0DFkGTuhPuOuk3RHFADvnHOutNJKbt9993WbbLKJ23PPPbOy9umnn9brOhjDGARqfCyzzDKSt8J19tlnH7f88svLc3IfRMx4fqMyMIVeBkQVJMqTdja8VVDhZ8HaRhEilIB1jaJlsJliIDlGlSfXwTtZffXV5TqHHHKIhB0RfioaurQRMixGoZM9TD6AGg5UMmussYY0H2y11Vbur3/9q0QHuA7hxkmTJomxYRQP75pQMREcmmao5LU/cmMl+uw0/5x99tlZL5Uy2KVLF2neQsZ22mkn+Y5soCBJWtPxE+oC50emtfsp5Z4QuMr04MGD5Tfr2ZdkWELiuQyQ2qCZjnwAjBDuG2O5W7ducp0BAwaIkYKXDhjZTzzxhHw3Gj6m0MuAaCVDeJtRo1T5IXyEpVdYYQX5vdpqq4lnq4qWwS8YC7oYmIFJLXmus+OOO0p4DmjbxoPAmwbC8oTDcyXZ1AYTXWi7IBXLBhts4DbbbDP5zXUxHogOUAHhOTCYR1JDYTYG+J/SlHLwwQe7vn37um233VaUE+8ZpeR3mWrM0J49a9YskTXKHgp2hx12cE2aNBH54r2haCmzKFoSOovJ8UBGOU7D+i1atBBvecUVV5TfGM5EBJA16gMUP0lrxcgaMorRQd2A18//f5111pFtPBcyjeEOlAMMDaNCCP/pRsosXLgw820RN998cxAKXBBWMEFosQdrrrlmEFY4ma2LOPfcc4NQWGWfsOIJQgUffPDBB5mthRF6bUG7du3keJZVVlklCCu4zNZFvPbaa0GHDh2y12nfvn0QVkyZrYXBfa233nryLJwjVNzBqFGjgrDiyuwRyPNtsskmQVihybXCCi8IjYDMVqMuhMoj2HrrrYPQs5T3zfvUhd+s32WXXYLQe88c0XgIDZ3MtyAIlVlwxhlnBE2bNpV3w+fAgQOrlEu+77XXXkGzZs1kH8rnkUceGYSefWaPwpg4cWLQtm3b7Dl69epVTaZDA0z24X8UGhBBaFgHoZee2VoYb731VtCpU6fs/z00/kXOfd5///0g9NKz+4SGexA6EJmtRkPGPPQyIBSqzLdFo1XhbWt2Khb1sGHDxFvw6devnwsVbdZLp22bjNWot58PLHMdHx64B7xzwuA+eCfbbbddNpGGZgBGuSrUc8DzYTxsBrjg3rhfkuHCSrLKc7OedkRC8UBbOtfBWzcKh//PoYceKk0peOn8z3z4zXr6QjMXfa5uWo0FyiRJYdqmjTz94x//qFIu+R4qcImO4aVT7mmiqstwyMgyk6NoExqRLxJcozJNMirhfsLuyArt+nVp4sL753+q3jn3S7QhdAgyeywC73zTTTcV7x2oC6hztNnBaLikqtApdIUW1rrAOaMVWRygnJLAPy9t4YSmVfnR9hV6W5mtf7LuuutK6Ezb96gsyGzVSqM2uAYj0KliRpESAgw9EfmtEBrs37+/hAa5HyoNsn21C1ttsD9JN6qY6TZzzDHHSFZvFAyKtddeW56H+6KbEGO+15ckyhjlq5hwaG3Ut+zSk0AnvYnin5dKnHbaQv+P+UhKJpJ4t+DfLzkFhMKBUPfOO+/sVl11Vfntg6IlGRXjmndIlzDGSygUDAdySPTayC7njEJTGoYubffIAP8jyr/eY21gnHMtFDPHI7u0mUdlGlknDE9vGeBdY9hQbuoD76Y+ZTcfyEQSMpzEOSGp8xbCYuE/IP7/QC3QfWLEiBHiKVDwWPzb0HW58Pf3LVxdzzqtFHU/Rdcp+l3387cBvzmfbgfdzz9Gt0Gu80S36yf7IeQIIELFffObLFW+Y2EjkIzghuKOggDTDQUjgOPwImg/Y11NsO+1117r/vnPf0pbHfeBd4ICpQ0xCv+nv/3tb+LVcW9UbCeddJI7/fTTJYmoJuhTSxIfE0LwzNwj/WPpEhcFb/H888+XtkMMAZ6fBB4MCLyamsCQweshkYh7xMvherrwf2Txf/uwLvrJwruJCqhfxqLoMf55lOg24Luu99Hf0W36nU/uwVd87IsSINFLr6GfPnoO3hHvFSML2Ff3968JrI+u8+9Fie6jsF4XH13nX9f/HpU/xV/HJ4uu00/drudRWdPtlDe8Z9bxHi6++GKJbuSCnBbyEchSp1zST50oCL1PaoJrnHjiiTI9qtZ3yAMee64yjUxjWCA3/G/JK+FY8h9qgrJAPgxyqTJNtI0s9lVWWSWz1yJ4dhJO//73v0v0jOfnmY466ijx8DVhLh/kERx99NFyr8ipypK+e84VlS/Q/wn3yn6KlmOO0X18+L/puYFP3U+/qzyyAL8V3U/xjwfdHr0O6D56fn+b3q9+AvtxHurrK664QgynkhLeSMm56aabpE0qfBHShhPnUsw5o8fwu1SLf11/YRttzbSr1QRtgKHFLceEghiE3nRmS35C5SdthezPcbTFDx8+PLM1N3fffbe0n+t9hwo5+PjjjzNb83PWWWcFocch16ENvab7CwUhCI2KoGPHjtn3QFs67Y+1wT60HWo7fUNa9Flzbcu3+Mfo91wLIh5dcu0XXaLXqWmb/m4oi/8sLKECkvI8e/bsTGmqzvz580VmQgNWzkH9NWzYsMzW/MyaNSsIvXEpl1wrVOLB+PHjM1tzc8EFF4jMcB2ut9tuu2W25CdU0EFojEgegN7fmWeemdmam1DZZ2Va3wHt67UxcuRIyfHhGI7Nt7C9tn3iXKL/1zQX6q17770388ZKR8lD7uE1s5YQS9wUc87oMXpvpVjygfdEW/Mee+yRWVMdjqe/uN+FDS+brF3fQvXh3TO4Cwv7h4IgXjPt9Pnuh/WE/f3BL7DSCe/6HqIP16ebGx6A5gMQ+qNve757CwVBwpF4P+r5a3svn7nuj3W0NdJvl7ZDv2w1lEXJtS3fovjf4yR6HZ9c99CQliiUtR49ekh3zXwQvqZnBl415RTPlNEVabbKdU6gmYk2cGSFMo9M06RUk7fNfvT+0AFt+E1uDIPN5JMbrs92IgbcF8cRaRsyZEjee2M9dYcOUsVvxqMgPwAZygX7ENJHppFH7od1+Ra217ZPnEuS1PUa+k5LTckVOoUNAeLTB0XBS+BTFwSgHBbuVxf9TZubfup3/3e+Rfdj4Vz+c+sn61HSl19+eY2hZt4hbez04eY4ChDKk5B29P0qKOBRo0ZJuxz7kxiD4NNXNd8xrKeCIRFPk9aorKjQ8h2DIDOWtA5aw7NRUdEWyfdccD+Equha5VdoGCgarswFFR79rKnMgPPzDnnfPJ8uhBLzLdH/U65F/2fRpZD/e77FP1bPVegSvQ8tQ3XBL3P+4t9jdNFr57oH//50e65zlGqJ3iPP6i+so6ydcMIJsn8+OI/fhY2ySvfSmiZSoekD5ceIbIDsMAKdylAu+H+stdZabuONN85eB5nGqM0HMk0XRYwL5IVnIr+G5oCaZBojhUGdtMkF+alp7nfOzfgQNJ+pIa+yFl30/x/9fxSz+OfT77VdJ9d6PU63Rffxf/vbo9f3Fy1DvAf/XfOd9aUmlTZ0hjpEidCOw4NTwGm74Vb8lxJ9SbluVbfrNn6jQPjkeIie16embVEo0HpO/xi++/emv3Odl/W6L5+cE+GgYIAeyzvZfffdaxR+4Fnp483kKrRpcX8oeQQPTzcK7e0kuWnWOR4xlQH92msDxXn44YdnE6nw7CdOnCjeTRS8ZtroaP/m+XgODJQDDzww+6xR2A8hQHmToKfHUvFw7KBBgzJ7/gnbGaKT8kMPAZTz4MGDxZviXbDwnFo55qOQbf4+nFPPy/8s1/86H/muxXqWXOfT9fpd0e/6yf+IHJVChs7FaKQ9lyxov/zpZ657UPR+/LIbJXo85FqXC8p1sRVi9D51AW0v9sGIJHJEhV0TGLHIGTktKGvOQxmnt4gqRZ9nnnlGyiJGLeUQz5w+3zUZ6cCzU0fSHo5M884w2mlLz5W0x/mRDf73/D+Q+1tvvdX17Nkzs0d+kGVyAxgFD8iloS1ex4jw4V5OPvlkOTfvglya4447LttGr2VCFyXX/1z/H7pNj80FzwT5yhlEj/XPr9/Bvw7vOdc5cx3jf/ro+TjXhRdemI3YUGcx3sMuu+yS2bNEhBcvOWFhlXbfsJBLG1GXLl0yW4xioH2Pfui8S94p7WdXXXVVEFZemT0WEQqhtPvRjhcWQmnXGzBggPRbLoRQ0Uo7XWjBynX43G+//ar1ow8VXTBhwoQg9GbkOqHQSPv23LlzM3vkJvQQMt+CIPTu5T61jNBHPaxQMlv/JDQcgm222SZ7T7TtzZw5M7O18UG/5dCYkXfOu8+38L769esXfPrpp5kjjUL473//K/UVZY33yNgNjNUQVuiZPRZBmzb916nn2I+2bdrGQ+WU2aNmkEnGbtD/Y2h0BNdcc0216yDT559/fraPO/tvtdVWwZdffpnZo2aQuWOOOSZbd4QGcRAq+GoyDQ8//HCw9tpry3VU1mqT6cYEYwvo/4sciMmTJ2e2lI6Sh9yV8KGzn4RDjeJhxqaDDjoo2z2F0BnDwUa7sNHdRtujAc+EjHhCjoXA+YkaqIeB5cxIW2rdK6zHuybbFvCauQ7dcmoCj1fBu2DEOsoH1i/3TvgyCs0LDG3KNfHounfvXq0vfWOCZ6cs0ITC+1A588ETxavCOyfKYhQOHiyZy7xDIOyeqw83bdF0A6PXAf8D2qrxesMKP7NHzSCTRxxxRLZuJFuecRk0H0Vh3HfyYYhOAfv37t07OzdCbRBepqscn8BzcD5mV/RBNlmPBwqULcanqE2mGxOhkZOVt1C3ymepSU2h6wPzqSEVo3h23XXXKu3OhNJISlN4z6r8+E7FQvguVxi7Jug/S590rZjoz47w+8qYNm+dxYlCTmXG5BB1gYRAurZpxUmFRoVCqFOhMmV8eK3MMDR4nlzhz8YC/xeas8hfoGLnXfhKnd/090cJYZwVqmCMP8HY1DJG6JnJhGjCUjCY6T6KbCBrhKZJKs0Vxq4JuqwSulWZRq58mQZkAoMaoxclixF87LHHZrYWBu315AYgq9wvRkI04ZV+9NQfaqBQ15x11lmZrQYgSyprfPpyVypSU+g+FEajfqBkyVpFqBFKlBxJa3wHKp4rr7xSBBLwzmkPo59rXUBpYjyoRc/5EH5NSON6tLOTdEclxH5UTIxVXRtUKApePcdxnwgKZQRjhPZChTYqPHcMB56bdnOS7tIQpHKCd07b3fjx4+V9qKfOe9x+++2ljR3vSv+HRt3A0PTbsolE0V6usoY8YNCSx0CZRjbpt13XSCReNjKtRhcRNwaa0esgX0z7yvSvgCxjONdVpnVcCTVSkGUMBa0ruB5jVpCtr5EwvPpc7fmNGb/e0f9RqUlFofvenBEPeLIku2HRAwqcxDidhY0ZmDTblkqGxDmmUyyGAw44IJtwhzJl0A0qNNBRsdS6xzvHO1FPuyaiipisYoaopEKjzFChUFHynYRKZorCcweS7lBiND8Yi6Bi998HFTFKggrcKB4UGUOq8j6BMkhzEImgQHSMBDJASRKir6lLXD6QU1+mUbR0z9QmLka6Y6AbZA0ZQZ5zJagWAsMuM4GLGs8odJrNgO6g1B/a00SbHTC6jdxQR6Wh51JvQ4e0rJlKgvfJNKR4Dwgl75TQGVm1WPB0l0EgWU9FQZit2PZTwnN4z3gcnA8PhdHd8MrxCmnnozBzT7TVYjxElXUufA8dOP8pp5ySHQqT81KhEWonzE87JQYF21BUhJgLMRwaE9H3od6eUTy8U6JQlEvKLAqQcDhjQGA0o9zVoMXQJBpSjBFFueZYeqCoUYvRgExzHbLrNR8GWSETvliDlkgYo0Gql875qTP4ZCpWZA5Z5z4waKhnCpHpxgTvhyX6vZSkptDTfvBKhHYt2pA1lIrnwJjTtJfiQVPJIISEzfF8i7WwOY4uOHjfnA/PgaEq6TqmbedAEh2VERZ9IeSqIKg48NSpRLl/vPJzzjlHxq1nelUqOe4Ho4EueEZ1eK/IWBoeQ6VCExK5CipDGM1050KZ6zzmKHsGeMF4LhYMVZIXUbj8Hwnj02ZPtzY8aCJxgBePrBQr09wrzTOaUIqRQnSP4UsJ8xPu55moW+gnn2suhsZOWeiy8AZKTljws1M7hhW1TPFnxMO8efOCsBLIdqvhM7Sq5ZMlFMggFFwZ/rVYQoUtx2+22WZVrsP/Uq/Fdeh2Q7eyQgkrkcy3PwmVeDB69GgZBlevw7nDiku+c73OnTsH06ZNyxxh+NAliffFu+Mz9CwzWxonlKe4CL3yIFTYWRmg/IeecvY3Zfa8886TrmXFgkyE3rHUkZR1zrvEEktIdziux7VCr1qmw62PTEPoAASHHHKInFdljXM3adJEvnPd1VdfXbruGdUJHY/s/wj9NmnSpMyW0pGah66ED29hwBhhdCiS1kKhlN/h/1g8Mz5ZCAEWkwznw/k4nna0UEnIOs6NB63XIsRItxsSguoDZQMvn1AiZYVzEwHAM+E77Zh48KHxkDnC8OEdKby/xk6cUQqak2i3Vlmj/BOt4p3zrolMMXSzbi8GPGWaxuhdEirV7DpySLge4L0z0l19ZBqQWXpA0JQAPAeJcUQF+I73z+Q1hUbcGht+2eJ9xVnWCiV1hQ5+pWPUH7qtIHTRChzlSDsbS33Q/xeZu/T7jlZYXJduZ4WMVOWTT+Gg0Gkfz9UOSfNBr169sm1/Rs2YUo8PjGMUNmHx6HvF0KX9W0dRKxaVNaYcxjiOXgfZQ56RkThAoXO+XDJNM0OuqZyNRWBoKWnptFQUOpamFkxT5vFDX1QyvtV7VrCwGeISi74+qKfQsmVLN3ToUKnYfPjfUsGg1OtCtLJSSPjJNd4890FbHoaDRXlyk++dNla07MYB50Jp00but13zzmnTJp+FshsHtFvnUqYYsozHXl+ZVpBlTfjz4Vl5TuoWIzd+2eJ7GnVSKgrdV+JW4cQPnixh9+hczQhpfRJ0FP9/xghwnNNfR0EmSS2q6OsDfcz9/u+A0JBxa/1ha4b/jb80ZvxKNw4Ih2Mk6+iJQPnv0qVLLF6z/r9IMKULm6+42UZTVLHdT/NBeJ+kWX1XXAfDBBmsb1i/sZCWnKWi0BV96LiFzHCiUAmRqZXIJ5npcVjYvuWJJ7LhhhtmQ3T8T6nkmFwlbuj761ecXPviiy/O/DLy4RvQjT0ilkRFu+WWW1YZPRGD+qijjpLv9cW/XxR3dAY1IgRxe80YDdGwO014zOBm5CfaZp6GrKWqSfWB00geqHS0XzYhOSoA7dKWqx26rvgVCqFGKjQNh2PJM6pUEmOEk/hGtxquQ+VJdx4LAdaO/r8auzJPCpQdw7pS9imXKF7yOuLAd3a4zs477yxRKv6nyDJKNg6Z9kGRM0CNDiXN9YYPH17vBNdKR+UM+O7/LhWpu8ZUMqbQk4ER3WhjRqkTRosj3J4LKi+ULRUakQGGhUwCKhS8dIwIvlO5GTUTrVTSqGQaA4TdMWKJINEMFZdBG/1/MbQro86hZAnpk5SaBAw5q0NJMyokzV1GzfCu9P/FZxqR59QUuu8tWMg9GRjUgpm3GNmNrmpxJehEoa38+OOPFyXL9eJsO/fBc6AdEU8FIyIpA6WSMK+8NDCoEZEqFDmjKFK5x0FUodNmfuCBB0pb9plnnplY7w68fuY6J/GVEeTw1o2aQY/p/ystnZaaJvUtGat0kkEVIIqPhJYkIbxPGz3jQScJ2b5UaGuuuWaV9nSjdsxwTg4UHl3Y+CQhLknwlvHOibolCc0I1B82xkPdiRpipSIVCfctGVPmycE7Vu/cT3BJAtoO6VqWtOFA2SG8efDBB6cmNA0VZM3eWTJQLskMZ/azuLzzfNCMdu655yYWcVN4Jsa0iCsfoNLxDWbkzP9dKlJR6FQsviK3NvRkoEDR3WXttdfOrEkWrhNXf9iaIBGOsLtRO1GDOY1KpjFABU5iaCnmE0Cmk2o7j0IkrNgJXxobfu8fykMaxnPJpZsKhhF1otaMP8qOYRj1RyfJiWKyZhjxwpC/yJUqcvScDplbSkqu0HlYlLn/oLwI37oxDKP+0MwSNZyRO5M1w4gXet5ElTfyh8yVklTib9GHLPVDG0ZjAYWu8lVqb8EwGhNqPCNnyJxvTJeKVBQ6+JVL0kkkhtFYieanmPFsGMmgA/4An2nIWmoK3X9wwzCSIdq8ZQmohpEMOp2t6rQ0ImKpKXTDMJLH9xT4tLC7YSSDbyynJWupKHT/QflulYxhJA9ypsrdMIx4QaGrPksrEpaKQo9WKmkkDxhGYyBqMJtCN4xkURlLQ9ZS0aRqySjWL9YwDMNoyKDXVImn5aSWhYduGEYyIGu+x2CyZxjJEJW1NEhFofveOVglYxjJYNEvwygN5dB0nMod8OC+Erc2dMNIhqixbMazYSSDNiUjY1GntVSk7qGn+fCG0dhIK/vWMCod1WOq1NPAXGPDqGA0GqYVjBnPhpEM5SBbZaHQ07JmDKPS0TCgLiZrhpEMftOxylupSS3krg+b1oMbRmMABW7yZRjJ4zdnpSVzqXvoVuEYRnIgX+aVG0by+B56WjKXmofuYxWOYSQPFY4Zz4aRDGo8+0upSUWha6KOksaDG0ZjwFfgfPe9CMMw4qMcZKsspNu8BsNIhqixbMazYSSL6rNG46EbhlEa8Bo0ImbeuWEkB6My+s5pGmM+pCLhVC66gA12YRjJ48ucYRjx4uu1tKLOJVfoKO8//vhDvvPQ+uA25rRhxAty5lcs+t0MaMOID+Tq119/zcoXn8jY77//XnJZK7lCJ+y3xBJLZH79yeKLL575ZhhGHCBnLL5nriF4wzDiAdlaaqmlsjIGfEf2Si1rqUg2FgyLX9EYhhE/v/zyS1bOMJrNOzeMZPBlKy29lopC52F9y8U8BsOIj4ULF7qZM2e6a6+91s2YMUNCf74RbRhGciBjKHfkrdSkptBBKxnDMOrPTz/95J544gl33HHHuT333NMNHz7cvfzyy1Xa8sx4NoxkSVOnlYV0m1I3jOJAdn744Qf31FNPuX79+rl99tnH3Xzzze6jjz6S9Shz+Mtf/uLatm3rWrRoIb8Nw4gXX4+lpdNSUeg8rD4w3npaD28YDRUNq1988cVus802c/3793fTp093CxYsyPYioc28efPmrnv37u744493kyZNEq/dMIz48cPsvo4rJWXhoVu7nmEUxvfffy9h9KOOOsodeOCB7uyzz3Zvv/22eOMocmRpySWXdO3atXMDBw50V199tRs3bpw766yz3HrrreeWXnrpzJkMw6g0UvPQlbQsGcNoKKCov/rqKzd58mS31VZbud69e7vbbrvNvfnmm5LFjvzgjTdp0sR16NDB9enTx913333uuuuuc/vuu6/r0qWLKXLDSBjfMU1Lp6XqofMCWKwrjWFUhyS3Dz/80F1++eVujz32cAcddJB7/fXXxRtXmUGRt2nTxvXt21eS4chsnzBhgttwww1NiRtGCWnUCl2VuS6GYfzJCy+8IEocb5tw+bRp00SR++NFk7G+0korueuvv96NGTNG9ttxxx3FUzcMo7RgZKs+QzbTUOqpKXT/YU2hG0ZVVlhhBdezZ0+37LLLSuWQz/BlyMmXXnrJzZ8/PzWvwDCMP5uPdUlDr6Wi0HlQf6hXU+iGUZVOnTq5k08+2d15553uwgsvdJtssolbZpllpPuZygve+pdffulGjx7tBg0a5EaMGOGmTp0qGfCGYZQWX6elRWoKXT9NmRtGbhgLeo011pCMdhT1Y4895v7+979LBruO0Y5SJ/P9tddek4x2BpTZZptt3I033uh+/PHHzJkMw0ga1Wdp6rTUFLouhBNt9CrDqBlk5K9//askyN19993usMMOc6uvvrpr2rRptr2ObHg8dvqnkyC38847S6Y73dpIsDMMIzl0/AfVa2mw+D9CMt8Tgwf95JNP3OzZs92TTz7p7r//fuly89tvv2XbG9q3b+++/vprSSygH60fWjQMYxGE9eiaRtc1EuboW468oMh1CkcWZOvTTz+VEeRYGNMd2VpllVVkf8MwigcZI0l17ty5ksPy4IMPukcffdR9++23VXqgIIc0gaHgSVZNWtEvFt5Y7Jk0PAThvjfeeEO60DCwBWFBzdCNXlItGj4JJZIItPXWW0u7IKNctWrVqtr0dIZhLAKDmTHczz33XDdnzpwqsqZohbLxxhu7U0891fXo0UN+l0O7n2GUOyhpxnyYN2+ee/75593YsWPlEz3n6zVV5ugqFuQL5xQjevnll5fBnnbddVeJrjVr1ky2xUmsCv27775zzz33nHv88cfdlClTZDxpXgIPWZfL6IugwmH8abwRFHyvXr3EOzEMozpULkTA8MhffPFFaVfHO6DCAeQKxb7ccsu5LbbYQrLoUewoeeuzbhjVQW+9//77IldPP/20dB/VaFihek0dUT5R4CS3otB32GEH0W0bdN/ALdNsGdmnvsSi0DnFlIemuMtGXeZeffVVUexRD6FYVLnjtfMS9t9/f7fffvvZJBOGkQciZIT+HnnkEWlzf+utt7KGtYJiJ+rVunVraZtnjHcUe9IhQcNoKNAV9JprrnETJ04U51SN46heQ0ep0lZ0n3w6EJ2G/DEo1OZbbO6OO/Y4kcP6Ui+FTqiPsPpVV10liTqE+vxKg4ekgiDcQL9aFioQEnmwVHgoLs9CJUSbBCEN2v74zjr1LoD9sW4233xzyfxlGEzCFoZh5AbjGtmkjY+8FSom9S5ADeaWLVtKKJAR5xhljpyWuMOBhtEQQPc8/PDDbtSoUeKgam4KqE5DNnAqGdgJncZ3FDRNxqr00Y8///yz++abb9znn3/uvvjiCzGsdTpjNQQ4F5FompgPOOAAt9pqq4lMFkPRCp0bvemmm9y///1v984778jN+w/Ng3Xs2FEybWkHp/sNv/XBfU+A43hIMnEJZ7z33nuSbEDo8JlnnpEXrNNAagXEefDWjzzySHkBrDcMIzcodoaRfeihh9z48ePFa8dgjnrtGNtEwki4+9vf/ua6detWdOViGA0JZIGhlen+ybwJJGn7DiWKl+YqHEqaq9Zee22ZJwGFru3hyBDH6CfGANEyksLfffddOf8999zjPvvsM9Ghen70F3oRYxpndffddy+uGQyFXlfmz58fbLPNNkHoLQfhjQfhzWSX8KGC9dZbL7jrrruC8EGCUNFnjqob4csNQmsmCL2K4Oijjw5CSygIPf0q1wofONhkk02C1157LXOUYRg1EVYgIr+XXnqpyGlYQQWhwq4iVyxh5RJ06tQpOOmkk4LQS8kcbRiVyxNPPBGsu+66UvZ9vYZOa9++fTB06NBgzpw5QaikRY6KAX0YGtfBxIkTgy233DJo3rx5Ffnje5s2bYJDDz00CD37zFGFUyeFjpJ9+eWXg+233z4IPfDsTfDw3BhKPvTYg9D6CELrXx6aY4qFYzkHL/D5558Pjj322GCVVVaRF67X5j5C7z+YMGFCsHDhwsyRhmHkA7n6/fffg3nz5gWhJxIccMABQehpBE2aNKlSuSDXyNeyyy4rlc8111wThF6GHGsYlQKO5xVXXBGsuOKKWb1G2UfPrLzyysFxxx0XvPTSS+JgopBr02m1bUenIUOff/55cP311we9e/cWGVMjgk9+I5fvvfde5qjCKFihc5Mo86233rqKQsV66dixo7yQTz75JLN3Mvz000/B008/Hey+++7ines98E9Ya621gttuuy2zp2EYhfLjjz8Gzz77bHDEEUcELVu2zOmxI2N489ttt50Y7VRGhtGQUcV62WWXiTLXco9CXX755YP9998/mDp1avDzzz9njiiMunrvH330UXDxxRcHbdu2rWJQEAHfaaedgrfffjuzZ+0UpNBVmW+66aZVhJ0QeLdu3YLZs2dn9iwNX331VbDXXntVCfnz2a5du+Cee+4pOsxvGI0RKrUFCxYEDz/8cLDqqqtmKxV/Qb4w5Gn6wlunPjCMhgwO4pgxY4LWrVtn9Qj6DeV+4oknSmi8GIqNYM2YMSNYe+21qzQt4zATEUfpF2IoFKTQP/7442DnnXeu4hVz0f32269O1kOcYDURAsQz1wqITyqc8ePHS8jfMIz84Jk/+OCDwemnny6eNxUbcu0bychUixYtJCx4/vnnB3PnzpWK0DAaMjTj3nDDDaIv1EmlrJNXQqS3rl65T7EKHcd51qxZwcCBA7POKkvTpk2Dgw46SJqya6NWhY7wosw5qSrzZs2aBYcddphY9WmC0ib5rnPnzlXCJSj5V155JbOXYRg+5JoQYu/fv79UaHjefuQNGWIdyTndu3cP7r77bgmxF1tRGUa58eSTTwbrrLNO1hmkzHft2jW4//776x3hrY8ziVInafXwww+XdnS9N5q7SJSrzdCoUaFzY5dcckk1ZY61UC5WOi9g7NixEir0LS3aP8yTMIxFUBGQ0HbnnXcGe+yxh3jjhPNUrlnUG8BLGTx4cDBz5kyTIaPi+OGHH6rkYaE3NLKLPqkvcUSHv/zyS9Fhmq+GbGJgo+tqMjhqVOjTpk2T7FcVeMJxZLK/8847mT3KAx5w5MiRQatWrbL3SlIDXXMs9G40ZlDktHcPGzZMuqFRifneOAsGML1U8FguuOACiW7VJ+RoGOUKofZTTz1Vkj9RksgCbeY039Y1mS0fXKO+YFiQm7bhhhtmowjcK0npNTVz16jQ8cT9kAQVAsIehxUTN19//XUwaNAguU+tqNZff30LvRuNEozc6dOnS/Io3offNq4LHjpWP+3nU6ZMkWRTSyg1KhlC7TTRoteQB8LaGLvkk8RFXE4kehb91aFDh6wRTuj9tNNOy+xRnbwK/eFHHpZkGBV+vF+SCMoZLBr6qWvFRfPAGWecIf0HDaPSwTN4//33RU6JrFH+o0qcioGwOl1NMdip4OKszAyjXKG/OU1JlH/kgHEX8Hjr2te7NuLONbn88suzEQUMEdr6X3zxxczWquRU6IxQ06dPn6xVwIkGDBggjfXlDCGT6667Tv5RWnnhpTPanGFUKhisr7/+unS16dGjh2TIquzqQkWAN9KzZ0/pd0tSnClyozFBn3KizMgG8sB3ujnHHXGOO8pFL7N+/fplo2w0j5Eg99PC6vktORX6Aw88IBaBVgZUBOPGjctsLRwqGm6GPnSF9unj5WJJYTx8//33dX7ZhDvoYqMVGl7KiBEjyrKZwDCKhfJMWSfPZeONN5acEULouTxywnRkqxNWR6YMo7GBvAwZMiSbZIaXzkhsdYXzMMLif//7X+lGlkuv5FLoJOIx8BpLMfkpJLMy8AzyzMLoqDSpRak2VyJTxDHTDDOnQfjwMq3iNttsI7/rAhNA7LTTTjLBw1lnnSXnrg0mZ9ljjz3kGCZeCR8+s6UwQsvLDR48WCaTh9CocP/5z39caFjIb8OIg1B2ZMIg5ISJF95++y2ZpIhZlShzSfHrr7/KxA5MjLT33nvLDGnMe87kK2FFIveFzIYVlkzHeMQRR7grrrhCplJl/uXQOM+cyTAaD2+//bbMOIiMIB8rrrii6Jm6Eipwd9FFF4ls9ejRQ+ZKj8L5ff73v/+5kSNHus0228xtuummbubMmZkthbPjjju6DTbYQGYu5R5Cg8I99thj8jw+1RQ6CvWFF16QgyC0+t3xxx+fVZB1YeWVV5YZaVDkXLwQpcp0dVSMVEwbbbSRa9KkSWZLYfAyeXFrrbWWzBLFeahkJ02alNnDqCSYkpDZjPg/1wWU8LBhw9w555wjs47VlQ8++MCdeOKJUikMGDBAlCvLXnvt5QYOHChCz7SJccJUxcccc4zMgsa177//frmGKvLQOxd56dq1q0xpfNttt7mLL75YpmRkRqhoRWMYjQWmENZ6AjlBOTKzWV1Bp/Tv31/041dffSUzs0WJyhn7odfQrejEzp07Z7YUDrOLHnTQQfLJ+THsmTmRmUh9qil0vGqsDh6cA9u1a+e23377oqZQ5OK8OLxmKtBc1owPlgyVEF4Pc6dTcRVTCfHS8PCxZgAvH6vop59+kt9GZcC8+Uwz+M9//tP9+OOPmbWFgSA8+eSTbvr06dkpDAsBrxxFuu2227prrrnGPf3001Kuf/75F/GSUboI2tlnny2CjyCrcVxXuC+M4eeff94NGTJE5PCWW25xzz77rMgI26mcll56aakktthiC3faaaeJQX7ggQfKNKh46obRmMHonTFjhugB9Bp6AWWOjikGHEZ0DIb0o48+KoaCT1RnoVPffPNNWc+0q23atMlsqRtbbbWVzL+OzPMcRB2iOrWaQp82bVo2NM4NoFSXWmqpohQrFybkjndPGBIrqSYII8yaNUsqQML8xb5wDAg8pebNm8tvKj7mWMeoMCoDvGqMPwSlrsocKJsINmUF4SgEyuWUKVPccccdJ1GfNddc0/3jH/9w1157rbvrrrvcHXfc4a688kp3yCGHiDH7yiuvuEMPPVRkqq589NFH4mXjiRNWv/HGGyUagUHB/bJgZFM54LXfcMMNbsKECe7UU0+VOZsNw1jEhx9+KMa/Gu7oI/QSsl8MRK3Ri9QheN0vvvhiZktu5syZI3Ort2zZUowBji8GmstQ6lpnoadpSvOpotCpLLA4cOeBC2+yySbyvdBKL8o666zjOnToINbMfffdV82a8XnggQdE6eJVEL7khRUDxgfhel6gWjOESOfOnZvZw2ioYBhinOGJXnLJJVKoEdRiyicKsS5ljLJ7+eWXizLHwr/++uvdySefLGH39ddf322++eZuv/32c5deeqm79dZb3aqrrirNRyh6vPe6gAf+8ssvu4kTJ8p1NaweBaNk3XXXlba5Yg1gw6hUkBkUKs29GOTIO3KCMV4faD9HTyHXzzzzjOjOXHB99BrRAbxrFHKxIOvUMzjYwDVxJPwIYJXaDA8Ai0N36NSpk+vSpYt8L8ZDB6wJKl/CglS+JNzlAi+LsAj70Aa43nrrZbbUHe51mWWWkUQ+rgu80Pnz58t3o2FC+SCs3L17d/GEESbKql+gC4Uykk+ZI4Scm/JCuE7Pj3J9/fXXXfv27d2FF14oRmOucyBwCO5RRx0lUaInnnhCwuB1gSYjPH887379+kmIj/Zxv+kLQ4YEuRNOOEHa7TGY+R1NlDGMxorKiCaqohT79OlT59ysKORoYUQja7NnzxYPPBc4H0QRuW6vXr0kl6VY0KVrrLGGGAZAvUT7vN+OXqU2wotFoaonQLsc2YD1hfZGKkEsirFjx2YjAD7vvvuuhCiBSrtVq1byvRiorFmILvAigWvzfEbDhTJBqIzkkL///e/ZxEcNpdUVykjU6+U3IXKywwmX014NVAh45ByDF04Zrcm7R/h22203acfGWKUpqa5gGOyyyy6S0Y7ckMC35ZZbSuhNr82zI9Q0BfBe9t9/fzdixAjxGopJ9jOMSgL5IKKmRi71BTJUXwjb0yxMFBsjP19+GHKLU4Bhf/jhh2fWFgd1Dzlt6GS+A3lhfvJtlRoJa0ItGQ7Amoijm0uzZs0kQYhKCKVK+2AUGvhpQ8ejxjvXsEJ9ILqAQqeSxprh+YyGy2qrrSZKjW5Y//rXv8QrRaAoV1HFXBvsj8JDIHwPnwS0o48+Wnpl4CX37dtXzk/YG0sYmUDJUjGoUOWD9m08a86PFV8stIkTzscTJ3w3ZswYsdTxMlSxY7Ai2E899ZS8H3JIMEhIyOH6dX0/hlEJoMhR6CrjyC31CNQmvzWB3O25556i2DHY/XZ0lTWazWjC5h5oesa4ry/UBb5BH408V1HoKFouzoNyAG0E6uHW5+E5VtscSE7Ae9CH1k88DCrY+rYz+NCGroYB/1Dz0CsLDT/Xp2xiwVMGWfDMaRMnfIZSJyFNBQdlyXeUaKFdOLXc84mHrmW9PmDwoqynTp3q/v3vf4tXTk8S7kvfA89E09n48ePddttt5w4++GB33XXXiVGRr63PMCoR9BkKD9lDfomcFSq/tYFRTZs2TvDkyZNFufq89NJL4qSigImc1RfkG/n3FTrPR4ROqaLQtf2NAzlAvZ84IDxB2zgPT8WikQDAkiFbj5dOBURYIQ78NkfObW3olYUqMP3MRy5FyjGUDTX46IpGmzcG5ymnnCLesC/4KEI1buuCnoPyHodCVzBW6V8+evRoN27cOHfuuedKoo/fNoiBjEzffvvt7qSTTnKDBg1yZ5xxhjRvGUZjAEeO6JrKHgrdl5H6gH4cOnSoOKok3WmTMaBH6RJLLg7JscX0ec+F3r+v19CfSlZbswELQ8NzusQFbehUOJz/8ccfz1pNLNrpnzZS2hniMiI4j/88cVeqRrqglFmiZTa65AIvlvJOrwo8WQZPQpnTf5tuZ9GmJhQz6xBUv4KoCfYhw5ZjOLY2w6MYaM4ilMf947VjjJCsR9MAwq/vh6YFDOnLLrtMkoJQ7CTqEXng/gyjEqHsI+sKOiEu/QK0x+OAorjpRqvXIsrHCI7IIFE6enrVF63vcCz0Gfhd5fkynzkrKF6GVpZxQHiQCghl/txzz8mNUNHQHso1yBokES+O63EOvCqt1EAVvFE/4ioP9UX/l9wPSknLam0L++n+5FUQXqe5iWRN2ttyJZOhkLHEsYaxxP3z5YPzsC/lnPb4mvaNA4wOFDpDHd96661iHOMdEIVABrg+MkEYkBHkyJ4nfE9/d96DyYZRaSB7Wv8D35GBuGQR/UJODefFeKceQY5o3sWAxpvGwNbeVvWBe+Z5ovfu/84qdJQdg2Fwg6AHc6P+CykWzs8oOR07dhQlfvPNN8t56fRPex9WB4lzPHgc19NzqPfBb7qyaajCKJ44/j9xoFYqCovyw/+WdbkW7lkXflPONPRG+JpxzjkPSSwYm1FIRtl6661FJuj7ifJHRmp6F3j8LJyXY7luknAvvAM8BsZ+pp8+XdlIjiNCxjtiH+6bSo22N5Lo6FZKRv6oUaNEHg2jUqDMk2Huy75+jwPC7jiiGPsYxXjlyBcjk5IsR6SM7mpx6B29b2TX12u+sVClhkHZqkIHKi090LcCioWHJ9GICo7sWywYkgmoWAhJMEBGnJCVzMMrVGpG5UCZZCnGs0QQKOs08+DVoqRJXEEIL7jggmrzDrA/gx0hoCS43XnnnVXKVhS2MX8Abdh4yfSdLzUIOs1cZL1jpGBEE25nYA2NXPHu6KpKX1nC8FQ+NDug6JHLOOTeMNICRYrBziflHYMcGY8TEuOYs4Tz0oWNcDs9UdCdhNvj6PoNyCL1ijaNA8+EI65UUeiEu30rnhuMZu7VF21zoO2ORB48Il4ySXM6iE1cUJlqpYtlpt0VjMpAlQ3ltRgwMGl/pl853vrw4cNl7AKSxlCC0YkPMDqZiAVBZfYk2qzzKTxC7YS+8eyZNTCOLiv1gd4j++yzj4xaR2VDlz+61fnyjgGPzJBTwNCW5BKQUGczFRoNFQzXtm3bZss4zWA0q0E+2a0rnJ+eJpyP7q7IPSF3IgPIfrH1UxTOr/3OVaHr8ylVFDpZ6Fj1HMgBPDgHxwmVCJNMoGjxzhm4A2VLRUpIPA64fxasJQwSvnONuA0GozwoxkNXKHNEjABDk0xw8jzwrvFSfVB+JJ/RNx3ZoE/8ggULMlsXQVmjL/vgwYOlrZpw97777ivHpolWKkQkdt55ZxmsholjGMoWL55nRka4fyo9msHI/GeAHbx2ur7ZOA5GQwPPnIgUn5Rt9A56IU5QqvRJJ88GfcbcCugd9E19h5iNQtRs3rx5VRQ6UUOlWsjdz8ZFgOO2zqk8GaBewwRcC0ummLlp88E/Dq8f71+7x/HgcWQaGuWHhtPqCgrMh3MQkkaB4Z0zmxoZ7UDzEEO/3nvvvTIXMgqadjL219HkKHcYqYSsaYvGcqZtjW5lDAiTK9kuLXh2QoEobIamPf/88+W5Uez6Lqk0tCcAnjrbjz32WBlHgqxewyh3qPc1fwT5JArFvOjohzihuZjQO3LFNaiTyMuJ1jH1AXlkRDrychTkdfnl84TcUbLclHoTeOdMLhEnVBZ444ygxcMSEWA2qbjaGYB/HN4R9054lGvimZhCr0wQ2rpCGUHBRgWbEDl5HpRHJkdhGFX2YQhHlN9hhx0moXnayTAWUXaaRIfAofhZxzYUPh49xzELGuGycgQPhogCyprnj1ZCvCvkCK8dxY7yzzXao2GUG5RlmlrVi6Uc0xxGWY4THFWasdBn6BvqD/ScGsdxQD2Ek61NgZwb52KppfIkxbED465rCJKHZwQ3BJolLogEMBY2iQRkCFJBxvng3Ct93dWL4Nw0J1jIvbLQsQ1oH8YirgsYrRiVGHnRYxkjnsxvupphETMsMddiPUM4MjQxA0XQHYXFb8OiSYl1lGsS4TiGhfJXjOGRJBggRCCYMIkBMhgfny6lUSNHw3ok+BCloB2+PpMnGUYpIX8FWUfOKfMoc8ZgiFOnAZOBIfPUETipccsInj8TVGleGDlA5LpU0Z3hQ1XhpZdeClZdddUg3EmWZZZZJgitgiA8SWaP+AhfbhBWHplf8bFgwYJgl112CcJKW56hSZMmQVhhJfIMRuOEshsavJlfDYvffvst+OCDD4LRo0cHoRcRNG/ePAiVdhB6M1m553ezZs2C0OAJjjnmmOCRRx4Jvv/++8wZDKPh8MsvvwSHHnqolGct26HxGnzzzTeZPeIlKT3z6quvBqEDE4SGichq6GSIbvapFuDHe8ayCB9cftOlhcSZqNUeB1wjGt6LAzr4v/HGG1lLhryA+kxobxhRKLt1jQqkSSjr8klCEOPVkxhHdz3GmyaEh3yzD/JIoiBRBaZvxXtnEBpyBZAjw2hoEHGmvJPPAnjpTKaS1BDISdULEyZMyCbEcQ16jNFc5lNNmzLaFElrGnZHyBmalX7jDQEe9qGHHsomDqDECbkQ4jeMxgaKmsxYBphhxjYGuGEuefqdaw8QjBPCd+SZoLhR5CS+0Z2PZjF/4ArDaIgQDu/UqVPWqaMpDT2RBOoMxwnNfnSH0z70dLNlEjM1UpRqCp0Hxpv1B2GhQiC7t5yydPOB1eUP+kEG/ZAhQ2LrEmcYDQEM27lz58rkLXQ5Y9hl2t9I5lPZUG8cpT1s2DDJ6ifpjeQef7AKw2jooAcOGnyQKEKMWIxZeqSQPF3ukGCLTiPZVr1znFQmMqtmPIQPV43woOD444/PtkGzdO7cOZg9e3Zmj/KEtsHQapE2Bu6Zz+233z4IK7HMHoZR+cyZMyfYdtttg44dOwahBV+lbZyF3+SVhIo8GDNmTPD555832HwAwygU8kbIGVH9QO5IaOiWfW7VCy+8ILJK2z/33rJly+Ciiy4SPR0lZwN2+LDSdYchK/kOhLAvvPDCsu1/itfBbDe0jWDFAM0HTD6BdWYYlQphdX8gGEJxhMzxPvywOqFzuvDsvvvuMswr/c8ZDY4uNlj9hlHJEHWm7JMLQnSKbqTIAKHsJHLE4oDJoIiyMa4Feo2mMTLpiTaobq7CIr2em8svv1wsfKwZlvBFBCeffHIQVhKZPcqHZ599VqwYvdfwwYMddthBvA/DqFTmzp0bDB8+POjbt2+wwgorBEsttVQVjxyLnp4qXbt2DUKDPJg+fbpFrIxGy0cffRRstNFGQWjcipygJ/DaiWrFRS7PuRjQs0ceeWSVKNvKK68cTJ48ObNHdWpU6ChDlCKuvlYQoTUfTJgwIbabjoNvv/022GmnnaQy4x55eB58xowZmT0MozJA7mhaorsKirx169ZV5FMXFDkGOF1QQy88CL31spJZw0iLqVOnioGLMkdWaFqmiSqubplxyBlNYDfddFOw/PLLZ2Ua/XbUUUfVeJ81KnR46qmnpL8blYZaNBtuuGHw+OOPl0UFgcU1aNAgqby4PxY8EtoYDKOS+Oyzz0TITzrpJDFYaQdXy52F7wg9njr9bDG8P/7448zRhmEo55xzjhjDqjOQm8MPP1xkrL7UVy9y/IMPPhist9562fZ+9G737t2DWbNmZfbKTa0KHUth3LhxQdu2bbMnR7mTcIPr/78EBoYpFF7+PvvsIwqce9N/zJ577hl88cUXmb0Mo2FDWb700kuDnj17isWOR+Ercso+yh1FPnDgQIlM/fjjj6nKpmGUM5988kmw1157VWlSJkkOpf7dd99l9io9qm/XWmutbFI6so4Bf99999Uq07UqdCDEd/bZZ4tFow/PwkVuuOGGYOHChZk9SwNZiYxoR0a7H2bnn0Ol9/bbb1tlZjRoCKtNmzZN5Ktbt27BcsstlzWodaHMUwn16dNH9nvzzTczRxuGURuMvIa+UB3CgjwNGDAgeOONN0re8+OHH34IrrzyyqBTp05ZWecTPXvjjTfKiHe1UZBCh/nz5wdnnnlm0KJFiyreAb8ZVvXdd98tSQieRAHCjrQN+hUcw/rxjyjVfRhGktBVZdddd5XIGOE2X+Z00UjZPffcU5aJqoZRzuCootR79+5dxRtGwZMod9ddd8k+SYO+wgmlfVxzYrgPPtu1axdcccUVBUfcClbowMNdcsklVRrqWXgZ66+/fo3Zd3GAsiabt1WrVlUqODIW+/XrV21cW8NoqOAdfPXVV2K8Ilt+s5KWe75T9tdZZ51gxIgR1qPDMOoAipQFpU77tDZlsfCdBPDddtst+PDDDzNHJMPtt98uUTjNvEe2MeJXWWUV2VaXfvKL/yMk04OtVsIKxW2wwQbyGb4Emf0lPIf0j9N+sExNx+hTLKGlI8eFN5i7z1wNcM7QIpF+7wxTed1117mTTjpJprRkfHngnFyHeWcvu+wy6TdvGJVAKNgyqhXy1r9/fxlTgXWA3CEbyB6fCxYskKlameKV8SJYF1YIcjzH1FX2DKMxoHqJ8dAZF53hzZltMDSmRYbQM0xXil5D5tA1jOUQes6ZM/xJITKmupIxU7744gsZK4J5Fa6++mqRW67LeUJjQsaLYMrlfffdt05zkCyGVs98LwhuiMkcHnnkEZm0BQWuip2bQdlT+TCFHHO1hhaOTP7OROxaIeV7eL2V3377zX322WcyBSqT0WM88AL0OsC5+EcwPzWDY7Rr184GxzAqEso8FQxDMDOc6wMPPCATNSATDAuJTIJWBsgak6swIQXTKzLhkil2w8iNytcHH3zgbrjhBnfLLbeIkcw6QHZQ5MgRg7r07dtX5kVgQCbkDbnSxYffnFsXBrJh0jDmVWBSJCZKQqZR5Gxnfwa96dWrl0xnzDWaNm1a7bw1UWeF7sNDjxgxQsZ5Z0QbbsyHF4GXgOIdMGCAvAgsD0ZuU+9dXxoPi5XCPLXjxo1zs2bNknX+OXkwzsmxvNwbb7xRJpIxjMYG4zqff/75YvAih75iV5ATZO/II4+UEbJ0coq6VBCG0dh48skn3THHHCPeOU6kD04jyh3FyxwIe+yxh9t4443dSiutJOuQLzxw9sMxJcL8zjvviAOMnkSB4/mj13xDHL3Wpk0b8cgJmhMNKIZ6KXSgInnqqafcrbfeKsPoEXqPnpIbxpLB2tCQBQ/AfjwUn7wEXh4LLyJaOXEOjmdqV4Zz3WeffcRCMozGDJGs5557zk2cONE99thj7ptvvsnKFCBnyF7Lli1dz549xbBmaFgUvWEYufnoo4/cHXfc4caPHy8KGZ2kMoUuUiWM0YzTShMXSpx1yJ/KIIqbY9GT6Dhfr3EOjkOPMQsiEyj16NEj6+wWQ70VusIsTrTjMfUiFQtWCN53HKfnhWENEVpnJjjC67wIwzAWhQy//fZbiWoxNSoGtkbMfPmjslluueXEKB40aJDknuBZGIZRHRTxxx9/7CbfM9ndMOYGmRsBhzPqbNYVFDlKu3Xr1hK1Zpri9ddfX2SzvsSm0BWUOO0EhMNpJ+CFaKKBXirfJXlQoOIhfIHlwjRxBx54oEwVxzrDMGpGE3louiKhlDmUo54BXjteer9+/dyhhx7qunTpIm3vhmFUh9A5zVt47MjX559/LkYzukxlK5deU52G944TSlh95ZVXliQ8FDm5LrpPHMSu0H3w2mn4JzOdF0ASD+3kJPbwqS+CEDwJdHgLKHEqGhQ5CQg8PJWPYRiFg1jjUTz00EPunnvukVkIc3ntyB6eAoqddvaNNtrItW3bNrPVMAwfPHTkimRwQvHoNJq9WEeWPJFp5Au5Yna3NdZYQ/QaUWV0G71WiDbTBJYEiSp0hUvgudOGwHLzzTe7008/XaZ2xGpp1aqVKH6+8yK0jd0wjPqB0UxyKZ4600QieyTm+G2CgMyRrEqyKdnxZNniTRiGkRtkCwMZnYY8kZ2Os4quQ5ZGjRolOSu+XkuakmhNQgo8DG3hPGiLFi3kIVmP4mY97QckveGNmzI3jHjQ5isiYOeee65k8B533HES/ULmtJKhYiKi9tprr7mRI0dK5u4555wjhjaevWEYVUG20Fc0VdFVG72mugv9hq5D9vL1XU+CVDSn32aAlRNnG4JhGNVRGevatas7++yzJYOXAS3ITyHEToXDPnjthBXpFnfBBRe4vffeW5JRSbabN2+enMMwjOrgkIJGpNPQa6kpdK089LdhGKUB74G2vYEDB7rrr7/eTZs2TfrT4lGoh4Fs0tWGdkG6xA0bNky61IwZM0ZC+H643jCMRc4pIBu6lJqyiG1b5WAY6UGGO4qdUDveeq4RF/Ha6Zt74oknyuhzjN5oGMafoNBVl6XlpKYecgfz0A0jPcjWvemmm6SbW7SLm6KjM5511lnu2GOPlREfDcP4E/SYLmmRuodu3rlhlBYUNj1MSICjDZ0BZoYPHy4jPaLQVSYJv5PQ061bN/fPf/5TRqQ74YQTXJ8+fSQ8bxjGn5CHguzokgapeuhpP7xhNBZUxkh2mzRpkoTOGXURr5zBnwipsw+ySa8T+s4efPDB7rzzzpPJYFD4NtSyYeTH12Np6bRUFLo+LJWHJuEYhpEcjG7FxA8MNXn44YdLmzmDYtCHVuWRZDkGwDj++OPdlClT3OjRoyW83qFDB9luGEbNqLOaVti9LELuaVkzhlHpMKAMs7IxdPLdd98twzIzgQvdaoAwIQM7MSgGHvnTTz8t/dWZ8hhP3QxuwygMX1b8BLlSkoq0Yr2oIjdlbhjJwfzOF110kQxNyeAxCpUPg2GgxJlQiTGqr7rqKkt2M4wi8b3yXImlpSAVhe4rcj7VWzAMI14YklLbx4GwOu3jJMJNnz5dBpdheErax80bN4ziQY+pnDWqkDsPS+XhfxqGET86RzMyhjJHkRNWJ9GNwWVMiRtGPES9clXupSR1aU7joQ2jsYAi10W981VXXTWz1TCMOFF9xmcajmpqHjrw0Fg1abU3GEalg4xpJYOcodQNw4ifcoh2lfwOqFyibQ2m1A0jfpAzlSuVN1/BG4YRDyScRuUq17qkKblCR4HzkL4C53sa4QnDqGT8/BQ++Y3smawZRryQq4IBrbKFrPnyVypSDbkDFYxO3WgYRnwgU8iXv5icGUb8IFcodWQM0pK19IP+IfoSDMOIF79SQc7KoZ3PMBoDjUah86DRisYwjPiJhv0sV8UwkqEcZCsVhY4CVyWehhVjGI2FqKyZ8WwYyRBV6GnIWurxNx7awoCGkTymzA0jOcrBOU1Nk1K5+IthGPFDJaMVjcmZYSRH1DFNw1FN1TXWysYqGsMoDSZrhlEa0pC11GPdvgdhGEa8RCsVU+iGkQzlIFupK3SrYAwjOZAvy2w3jOTxdVlaei0Vhe636eliGEYy+BEwi4YZRjL4eg3SkLVUFLr/wFbBGEZyRA1mM54NIxn8OUogDVlLzUP3FbkpdcMwDKMh02j7ofOgaVsyhtFY8OXLjGfDSIaobKUha6klxWklE1XuhmHEB5WK3x/WFLphJEO033mjUug+VskYRjL4BjNyZsazYSRDVLbSkLWyUOiGYSRDOVQyhtEYIClOSctJTUWhRx/WPHTDSAZftlDmNm+CYSQDsqUGM59p6LXUFLopccMoDb5XbnJnGMkQNZ7TIDVzXR+eT/MaDCN5TJkbRnJElXgaSr0sNKnf9mAYRnz4SpzvaXkOhlHpIF8qb2nJWskVOg+Za2xpG2/aMOJFDWWNgCFjVDQma4YRH+i03377TeRMFTpER44rBSVX6PrA/oMuvvjiFnY3jJjJJVfIn8maYcQHMrXkkkuKXKleY91f/vKXKgq+FKQi2TykPmipH9gwGhO+fPkVjmEY8fLHH39U0W1pyFpqCh14YBYLARpGMpjBbBilQ3VaGsocUo29Udmk+fCG0ZgwOTOM5PB1WVpOamoKXR/eD1EYhhEvVCxayeinYRjJk4a8paLQ9UFVkVvI3TCSwTeW+W6yZhjJUA7dr1NT6OY1GEby+BEwkzXDSI5y6D2SasjdMIxkiYbcTe4MIxn8XiRpyVkqCt33GgzDSA5T4oZRGjCe09ZrqbahG4ZRWmyYZcNIBj8alhapeeg+puANIxmQLYuGGUZpSUunlUUbug1FaRjJEK1YTLkbRnKk7ZympkmtYjGM5KGCSbuSMYzGAHLm67U05C61NnR9WF6AVTiGkRxpVzKG0RgoByc1NYWu8N0GuzCM+CEB7ueff65S0fzyyy8mb4aRAMxumDapKPRom3k5vAjDqCR++OEHd8stt7gXXnhBZoHCcOZzxowZbuzYsaLYDcOIjyWWWCLzbZG3nkZuWCoK3accwhSGUUl89dVXbs8993TDhw93c+bMyXZVwzN/55133DHHHOP23Xdf980338h6wzDqT7Q5K43mrdQUOtaLvxiGUX++/fZbN3ToUDd16lRR2NHwOpXMd9995x599FF30UUXuYULF2a2GIZRH5AtdJk6qY1GoUe98rjb9DhfEi8zqbZHQqFJ0NDOm9SgJ0n83yhfv//+e+ZXfNS37D777LOizH/77bcaz0Pb+pQpU9zs2bMza4qjoZWxJP5n0JBkgnKRVP2YxHl5B0m837jfLTKnui2tkPti4T8g/v9ALdCGN2TIEPfTTz9JAaANvUWLFvIC+M4/j5fNtlwvhYITNQrYV1+iX4Hrvmz3H9X/DnqMv17Pp9fyv4OeF/j0tyms97f5++h6FQS+6/ZCzsfi76fr9DuwXc+vv310P/CP0c/o9ujxiu6n7zsfbNNFfwPvVgWMMsB1WPR8uh/oekXvk3P431mA36z30d9s0/ej+4O/Xs+p69kv132BnpdnybUtei7/HHpO3cf/zmf0/vR8/rP++OOPsvjvJx+852WXXdYts8wysj9yp8fp+bgO6LX0N596D5DrUxd/P/2u6/0FdJv/jvW7HqPwXffPtc2Hc+j++um/I34r+t3fH/ju/9ZP0PX+OtBj/ON8dL1/vH7n/rhvfiv6W/eNou8sF/42fXZ+U1a1vgU+uQ5twvo9mufk3wOLf5/+NoXr6TXB/87+eh3/nMCn7qvn12vpMboe+M7+/jrwz8kxProv74Btej32ZxuLfudT71N/L7nkknIMckfEi/XI1c033+x23313OVepSEWh33777aLQ9eENw6g/WskYhpEuGMko9AEDBmTWlIaqpkoJoMKpS9iL/UtRSZXqOpWMvsPoeyzFe8113cZGY39+o+Gg8hpdKgn0XKmfKRUP/dZbb5XEHbrOcHk8i1zUdmt6nH98MY8TPSbf/Si6vaZ7LxS9dn3PEyXXe4j7GrnQd5LrnfrPqvtBrn2j5NvHP09t1OUYvR775dq/tu01oceAf54oui0fuY7xm6tqg+MJH+pSjtT0Xmt6d7ko5J3ECfcVvWaudflgv0KerS776ad+z3VcIeeLbs93Pl2fj0Luuxii19Xr1HY/cYGHPmbMmMYRcn/rrbfctGnTqrRV5CsI+sl2/7t+Ro9lH/+8+uk/pv9dyXVu/9Pf7q/zfyv8jp4Pcl1X23u0Qo2eK9cxoNf1t+tvXTi3npfffI8eA7rO/wQ9Rr8r2tYE0fP55/Hx1+W6Duj9sj66Ldf5wD+PfxywTRfOy6LnYT//WN1H91ei+ymqNKNti+zHwrNEj/HP419DYZ2u94/lu7+/fx7gOwvXfP75590dd9whSW+5ruFD3sr+++/vunXrVu05FL22fz3QdVoW8m2P3kN0P/D30+9+2fX/bwr76TvWY/xPRdcBnxg8/v1Gj81FvvX+MdxLrrKg6H7R6+k+ua7BOVmv7wFq2j+K7uN/6jn5BP8eo9/93z663t/OOVmix+l60PW6n8L36DrQ9ZQxvut7iO7nX6NQ2N8vP7ouH9FrKv4xug/3u/TSS7utt97ade7cWdaVilQUumEYyYCxfMABB7hXXnlFKpZ8kPDUu3dv8SI6dOiQWWsYRkPmT9PPMIwGT9euXd2gQYNcq1at8nrdrG/fvr3s165du8xawzAaOuahG0aF8euvv7oHHnjAXXnllW7mzJnSm4TwIiHLpk2buh49eshocX369JEuN4ZhVAam0A2jQmGcB0aEu/baa2UAme7du7sjjjhCQu1NmjTJ7GUYRqVgCt0wGgHqoRuGUbmYQjcMwzCMCsBMdsMwDMOoAEyhG4ZhGEYFYArdMAzDMCoAU+iGYRiGUQGYQjcMwzCMCsAUumEYhmFUAKbQDcMwDKPB49z/B6XekdGGAZSWAAAAAElFTkSuQmCC"/>
          <p:cNvSpPr>
            <a:spLocks noChangeAspect="1" noChangeArrowheads="1"/>
          </p:cNvSpPr>
          <p:nvPr/>
        </p:nvSpPr>
        <p:spPr bwMode="auto">
          <a:xfrm>
            <a:off x="428625" y="168275"/>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1" name="Picture 7"/>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1304612" y="1193195"/>
            <a:ext cx="2679863" cy="146224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pic>
        <p:nvPicPr>
          <p:cNvPr id="1026" name="Picture 2"/>
          <p:cNvPicPr>
            <a:picLocks noChangeAspect="1" noChangeArrowheads="1"/>
          </p:cNvPicPr>
          <p:nvPr/>
        </p:nvPicPr>
        <p:blipFill>
          <a:blip r:embed="rId6">
            <a:extLst>
              <a:ext uri="{28A0092B-C50C-407E-A947-70E740481C1C}">
                <a14:useLocalDpi xmlns="" xmlns:a14="http://schemas.microsoft.com/office/drawing/2010/main" val="0"/>
              </a:ext>
            </a:extLst>
          </a:blip>
          <a:srcRect/>
          <a:stretch>
            <a:fillRect/>
          </a:stretch>
        </p:blipFill>
        <p:spPr bwMode="auto">
          <a:xfrm>
            <a:off x="-421957" y="3467100"/>
            <a:ext cx="4005263" cy="1219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1852687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9"/>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pPr lvl="0"/>
            <a:r>
              <a:rPr lang="en-US" dirty="0" smtClean="0"/>
              <a:t>Nodal analysis </a:t>
            </a:r>
            <a:endParaRPr dirty="0"/>
          </a:p>
        </p:txBody>
      </p:sp>
      <p:sp>
        <p:nvSpPr>
          <p:cNvPr id="266" name="Google Shape;266;p29"/>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a:p>
        </p:txBody>
      </p:sp>
      <p:grpSp>
        <p:nvGrpSpPr>
          <p:cNvPr id="277" name="Google Shape;277;p29"/>
          <p:cNvGrpSpPr/>
          <p:nvPr/>
        </p:nvGrpSpPr>
        <p:grpSpPr>
          <a:xfrm>
            <a:off x="2690196" y="3085548"/>
            <a:ext cx="3599586" cy="1395785"/>
            <a:chOff x="4908100" y="878665"/>
            <a:chExt cx="3599586" cy="1395785"/>
          </a:xfrm>
        </p:grpSpPr>
        <p:cxnSp>
          <p:nvCxnSpPr>
            <p:cNvPr id="278" name="Google Shape;278;p29"/>
            <p:cNvCxnSpPr/>
            <p:nvPr/>
          </p:nvCxnSpPr>
          <p:spPr>
            <a:xfrm>
              <a:off x="4908100" y="1023250"/>
              <a:ext cx="1715100" cy="0"/>
            </a:xfrm>
            <a:prstGeom prst="straightConnector1">
              <a:avLst/>
            </a:prstGeom>
            <a:noFill/>
            <a:ln w="9525" cap="flat" cmpd="sng">
              <a:solidFill>
                <a:schemeClr val="lt1"/>
              </a:solidFill>
              <a:prstDash val="solid"/>
              <a:round/>
              <a:headEnd type="none" w="sm" len="sm"/>
              <a:tailEnd type="none" w="sm" len="sm"/>
            </a:ln>
          </p:spPr>
        </p:cxnSp>
        <p:sp>
          <p:nvSpPr>
            <p:cNvPr id="279" name="Google Shape;279;p29"/>
            <p:cNvSpPr txBox="1"/>
            <p:nvPr/>
          </p:nvSpPr>
          <p:spPr>
            <a:xfrm>
              <a:off x="6640486" y="889950"/>
              <a:ext cx="1867200" cy="1384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sz="1200" dirty="0" smtClean="0">
                  <a:solidFill>
                    <a:schemeClr val="lt1"/>
                  </a:solidFill>
                  <a:latin typeface="Muli"/>
                  <a:ea typeface="Muli"/>
                  <a:cs typeface="Muli"/>
                  <a:sym typeface="Muli"/>
                </a:rPr>
                <a:t>Nodal Analysis Formula</a:t>
              </a:r>
              <a:endParaRPr sz="1200" dirty="0">
                <a:solidFill>
                  <a:schemeClr val="lt1"/>
                </a:solidFill>
                <a:latin typeface="Muli"/>
                <a:ea typeface="Muli"/>
                <a:cs typeface="Muli"/>
                <a:sym typeface="Muli"/>
              </a:endParaRPr>
            </a:p>
            <a:p>
              <a:pPr marL="0" lvl="0" indent="0" algn="l" rtl="0">
                <a:spcBef>
                  <a:spcPts val="0"/>
                </a:spcBef>
                <a:spcAft>
                  <a:spcPts val="0"/>
                </a:spcAft>
                <a:buNone/>
              </a:pPr>
              <a:endParaRPr sz="1200" dirty="0">
                <a:solidFill>
                  <a:schemeClr val="lt1"/>
                </a:solidFill>
                <a:latin typeface="Muli"/>
                <a:ea typeface="Muli"/>
                <a:cs typeface="Muli"/>
                <a:sym typeface="Muli"/>
              </a:endParaRPr>
            </a:p>
            <a:p>
              <a:pPr lvl="0">
                <a:spcAft>
                  <a:spcPts val="1600"/>
                </a:spcAft>
              </a:pPr>
              <a:r>
                <a:rPr lang="en-US" sz="800" dirty="0">
                  <a:solidFill>
                    <a:schemeClr val="lt1"/>
                  </a:solidFill>
                  <a:latin typeface="Muli"/>
                  <a:ea typeface="Muli"/>
                  <a:cs typeface="Muli"/>
                  <a:sym typeface="Muli"/>
                </a:rPr>
                <a:t>For this circuit, there are 3 total nodes we need to consider. Which are marked a, b &amp; c. In this case we are considering node c to be the reference node which has a voltage of 0V. And the node a is directly connected to the voltage source Va. Therefore, node a has voltage equal to the voltage source.</a:t>
              </a:r>
              <a:endParaRPr sz="800" dirty="0">
                <a:solidFill>
                  <a:schemeClr val="lt1"/>
                </a:solidFill>
                <a:latin typeface="Muli"/>
                <a:ea typeface="Muli"/>
                <a:cs typeface="Muli"/>
                <a:sym typeface="Muli"/>
              </a:endParaRPr>
            </a:p>
          </p:txBody>
        </p:sp>
        <p:sp>
          <p:nvSpPr>
            <p:cNvPr id="280" name="Google Shape;280;p29"/>
            <p:cNvSpPr/>
            <p:nvPr/>
          </p:nvSpPr>
          <p:spPr>
            <a:xfrm>
              <a:off x="6451580" y="923307"/>
              <a:ext cx="198600" cy="1983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9"/>
            <p:cNvSpPr txBox="1"/>
            <p:nvPr/>
          </p:nvSpPr>
          <p:spPr>
            <a:xfrm>
              <a:off x="6438445" y="878665"/>
              <a:ext cx="247500" cy="312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800" dirty="0">
                  <a:solidFill>
                    <a:schemeClr val="dk1"/>
                  </a:solidFill>
                  <a:latin typeface="Lexend Deca"/>
                  <a:ea typeface="Lexend Deca"/>
                  <a:cs typeface="Lexend Deca"/>
                  <a:sym typeface="Lexend Deca"/>
                </a:rPr>
                <a:t>3</a:t>
              </a:r>
              <a:endParaRPr sz="800" dirty="0">
                <a:solidFill>
                  <a:schemeClr val="dk1"/>
                </a:solidFill>
                <a:latin typeface="Lexend Deca"/>
                <a:ea typeface="Lexend Deca"/>
                <a:cs typeface="Lexend Deca"/>
                <a:sym typeface="Lexend Deca"/>
              </a:endParaRPr>
            </a:p>
          </p:txBody>
        </p:sp>
      </p:grpSp>
      <mc:AlternateContent xmlns:mc="http://schemas.openxmlformats.org/markup-compatibility/2006">
        <mc:Choice xmlns="" xmlns:a14="http://schemas.microsoft.com/office/drawing/2010/main" Requires="a14">
          <p:sp>
            <p:nvSpPr>
              <p:cNvPr id="2" name="TextBox 1"/>
              <p:cNvSpPr txBox="1"/>
              <p:nvPr/>
            </p:nvSpPr>
            <p:spPr>
              <a:xfrm>
                <a:off x="-368559" y="3018401"/>
                <a:ext cx="4003225" cy="46916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sz="1200" b="1" i="1" smtClean="0">
                              <a:solidFill>
                                <a:schemeClr val="bg1"/>
                              </a:solidFill>
                            </a:rPr>
                          </m:ctrlPr>
                        </m:fPr>
                        <m:num>
                          <m:sSub>
                            <m:sSubPr>
                              <m:ctrlPr>
                                <a:rPr lang="en-US" sz="1200" b="1" i="1">
                                  <a:solidFill>
                                    <a:schemeClr val="bg1"/>
                                  </a:solidFill>
                                </a:rPr>
                              </m:ctrlPr>
                            </m:sSubPr>
                            <m:e>
                              <m:r>
                                <a:rPr lang="en-US" sz="1200" b="1" i="1">
                                  <a:solidFill>
                                    <a:schemeClr val="bg1"/>
                                  </a:solidFill>
                                </a:rPr>
                                <m:t>𝑽</m:t>
                              </m:r>
                            </m:e>
                            <m:sub>
                              <m:r>
                                <a:rPr lang="en-US" sz="1200" b="1" i="1">
                                  <a:solidFill>
                                    <a:schemeClr val="bg1"/>
                                  </a:solidFill>
                                </a:rPr>
                                <m:t>𝒂</m:t>
                              </m:r>
                            </m:sub>
                          </m:sSub>
                          <m:r>
                            <a:rPr lang="en-US" sz="1200" b="1" i="1">
                              <a:solidFill>
                                <a:schemeClr val="bg1"/>
                              </a:solidFill>
                            </a:rPr>
                            <m:t>−</m:t>
                          </m:r>
                          <m:sSub>
                            <m:sSubPr>
                              <m:ctrlPr>
                                <a:rPr lang="en-US" sz="1200" b="1" i="1">
                                  <a:solidFill>
                                    <a:schemeClr val="bg1"/>
                                  </a:solidFill>
                                </a:rPr>
                              </m:ctrlPr>
                            </m:sSubPr>
                            <m:e>
                              <m:r>
                                <a:rPr lang="en-US" sz="1200" b="1" i="1">
                                  <a:solidFill>
                                    <a:schemeClr val="bg1"/>
                                  </a:solidFill>
                                </a:rPr>
                                <m:t>𝑽</m:t>
                              </m:r>
                            </m:e>
                            <m:sub>
                              <m:r>
                                <a:rPr lang="en-US" sz="1200" b="1" i="1">
                                  <a:solidFill>
                                    <a:schemeClr val="bg1"/>
                                  </a:solidFill>
                                </a:rPr>
                                <m:t>𝒃</m:t>
                              </m:r>
                            </m:sub>
                          </m:sSub>
                        </m:num>
                        <m:den>
                          <m:sSub>
                            <m:sSubPr>
                              <m:ctrlPr>
                                <a:rPr lang="en-US" sz="1200" b="1" i="1">
                                  <a:solidFill>
                                    <a:schemeClr val="bg1"/>
                                  </a:solidFill>
                                </a:rPr>
                              </m:ctrlPr>
                            </m:sSubPr>
                            <m:e>
                              <m:r>
                                <a:rPr lang="en-US" sz="1200" b="1" i="1">
                                  <a:solidFill>
                                    <a:schemeClr val="bg1"/>
                                  </a:solidFill>
                                </a:rPr>
                                <m:t>𝑹</m:t>
                              </m:r>
                            </m:e>
                            <m:sub>
                              <m:r>
                                <a:rPr lang="en-US" sz="1200" b="1" i="1">
                                  <a:solidFill>
                                    <a:schemeClr val="bg1"/>
                                  </a:solidFill>
                                </a:rPr>
                                <m:t>𝟏</m:t>
                              </m:r>
                            </m:sub>
                          </m:sSub>
                        </m:den>
                      </m:f>
                      <m:r>
                        <a:rPr lang="en-US" sz="1200" b="1" i="1">
                          <a:solidFill>
                            <a:schemeClr val="bg1"/>
                          </a:solidFill>
                        </a:rPr>
                        <m:t>−</m:t>
                      </m:r>
                      <m:f>
                        <m:fPr>
                          <m:ctrlPr>
                            <a:rPr lang="en-US" sz="1200" b="1" i="1">
                              <a:solidFill>
                                <a:schemeClr val="bg1"/>
                              </a:solidFill>
                            </a:rPr>
                          </m:ctrlPr>
                        </m:fPr>
                        <m:num>
                          <m:sSub>
                            <m:sSubPr>
                              <m:ctrlPr>
                                <a:rPr lang="en-US" sz="1200" b="1" i="1">
                                  <a:solidFill>
                                    <a:schemeClr val="bg1"/>
                                  </a:solidFill>
                                </a:rPr>
                              </m:ctrlPr>
                            </m:sSubPr>
                            <m:e>
                              <m:r>
                                <a:rPr lang="en-US" sz="1200" b="1" i="1">
                                  <a:solidFill>
                                    <a:schemeClr val="bg1"/>
                                  </a:solidFill>
                                </a:rPr>
                                <m:t>𝑽</m:t>
                              </m:r>
                            </m:e>
                            <m:sub>
                              <m:r>
                                <a:rPr lang="en-US" sz="1200" b="1" i="1">
                                  <a:solidFill>
                                    <a:schemeClr val="bg1"/>
                                  </a:solidFill>
                                </a:rPr>
                                <m:t>𝒃</m:t>
                              </m:r>
                            </m:sub>
                          </m:sSub>
                        </m:num>
                        <m:den>
                          <m:sSub>
                            <m:sSubPr>
                              <m:ctrlPr>
                                <a:rPr lang="en-US" sz="1200" b="1" i="1">
                                  <a:solidFill>
                                    <a:schemeClr val="bg1"/>
                                  </a:solidFill>
                                </a:rPr>
                              </m:ctrlPr>
                            </m:sSubPr>
                            <m:e>
                              <m:r>
                                <a:rPr lang="en-US" sz="1200" b="1" i="1">
                                  <a:solidFill>
                                    <a:schemeClr val="bg1"/>
                                  </a:solidFill>
                                </a:rPr>
                                <m:t>𝑹</m:t>
                              </m:r>
                            </m:e>
                            <m:sub>
                              <m:r>
                                <a:rPr lang="en-US" sz="1200" b="1" i="1">
                                  <a:solidFill>
                                    <a:schemeClr val="bg1"/>
                                  </a:solidFill>
                                </a:rPr>
                                <m:t>𝟐</m:t>
                              </m:r>
                            </m:sub>
                          </m:sSub>
                        </m:den>
                      </m:f>
                      <m:r>
                        <a:rPr lang="en-US" sz="1200" b="1" i="1">
                          <a:solidFill>
                            <a:schemeClr val="bg1"/>
                          </a:solidFill>
                        </a:rPr>
                        <m:t>−</m:t>
                      </m:r>
                      <m:f>
                        <m:fPr>
                          <m:ctrlPr>
                            <a:rPr lang="en-US" sz="1200" b="1" i="1">
                              <a:solidFill>
                                <a:schemeClr val="bg1"/>
                              </a:solidFill>
                            </a:rPr>
                          </m:ctrlPr>
                        </m:fPr>
                        <m:num>
                          <m:sSub>
                            <m:sSubPr>
                              <m:ctrlPr>
                                <a:rPr lang="en-US" sz="1200" b="1" i="1">
                                  <a:solidFill>
                                    <a:schemeClr val="bg1"/>
                                  </a:solidFill>
                                </a:rPr>
                              </m:ctrlPr>
                            </m:sSubPr>
                            <m:e>
                              <m:r>
                                <a:rPr lang="en-US" sz="1200" b="1" i="1">
                                  <a:solidFill>
                                    <a:schemeClr val="bg1"/>
                                  </a:solidFill>
                                </a:rPr>
                                <m:t>𝑽</m:t>
                              </m:r>
                            </m:e>
                            <m:sub>
                              <m:r>
                                <a:rPr lang="en-US" sz="1200" b="1" i="1">
                                  <a:solidFill>
                                    <a:schemeClr val="bg1"/>
                                  </a:solidFill>
                                </a:rPr>
                                <m:t>𝒃</m:t>
                              </m:r>
                            </m:sub>
                          </m:sSub>
                        </m:num>
                        <m:den>
                          <m:sSub>
                            <m:sSubPr>
                              <m:ctrlPr>
                                <a:rPr lang="en-US" sz="1200" b="1" i="1">
                                  <a:solidFill>
                                    <a:schemeClr val="bg1"/>
                                  </a:solidFill>
                                </a:rPr>
                              </m:ctrlPr>
                            </m:sSubPr>
                            <m:e>
                              <m:r>
                                <a:rPr lang="en-US" sz="1200" b="1" i="1">
                                  <a:solidFill>
                                    <a:schemeClr val="bg1"/>
                                  </a:solidFill>
                                </a:rPr>
                                <m:t>𝑹</m:t>
                              </m:r>
                            </m:e>
                            <m:sub>
                              <m:r>
                                <a:rPr lang="en-US" sz="1200" b="1" i="1">
                                  <a:solidFill>
                                    <a:schemeClr val="bg1"/>
                                  </a:solidFill>
                                </a:rPr>
                                <m:t>𝟑</m:t>
                              </m:r>
                            </m:sub>
                          </m:sSub>
                        </m:den>
                      </m:f>
                      <m:r>
                        <a:rPr lang="en-US" sz="1200" b="1" i="1">
                          <a:solidFill>
                            <a:schemeClr val="bg1"/>
                          </a:solidFill>
                        </a:rPr>
                        <m:t>+</m:t>
                      </m:r>
                      <m:sSub>
                        <m:sSubPr>
                          <m:ctrlPr>
                            <a:rPr lang="en-US" sz="1200" b="1" i="1">
                              <a:solidFill>
                                <a:schemeClr val="bg1"/>
                              </a:solidFill>
                            </a:rPr>
                          </m:ctrlPr>
                        </m:sSubPr>
                        <m:e>
                          <m:r>
                            <a:rPr lang="en-US" sz="1200" b="1" i="1">
                              <a:solidFill>
                                <a:schemeClr val="bg1"/>
                              </a:solidFill>
                            </a:rPr>
                            <m:t>𝑰</m:t>
                          </m:r>
                        </m:e>
                        <m:sub>
                          <m:r>
                            <a:rPr lang="en-US" sz="1200" b="1" i="1">
                              <a:solidFill>
                                <a:schemeClr val="bg1"/>
                              </a:solidFill>
                            </a:rPr>
                            <m:t>𝟏</m:t>
                          </m:r>
                        </m:sub>
                      </m:sSub>
                      <m:r>
                        <a:rPr lang="en-US" sz="1200" b="1" i="1">
                          <a:solidFill>
                            <a:schemeClr val="bg1"/>
                          </a:solidFill>
                        </a:rPr>
                        <m:t>=</m:t>
                      </m:r>
                      <m:r>
                        <a:rPr lang="en-US" sz="1200" b="1" i="1">
                          <a:solidFill>
                            <a:schemeClr val="bg1"/>
                          </a:solidFill>
                        </a:rPr>
                        <m:t>𝟎</m:t>
                      </m:r>
                    </m:oMath>
                  </m:oMathPara>
                </a14:m>
                <a:endParaRPr lang="en-US" sz="1200" dirty="0">
                  <a:solidFill>
                    <a:schemeClr val="bg1"/>
                  </a:solidFill>
                </a:endParaRPr>
              </a:p>
            </p:txBody>
          </p:sp>
        </mc:Choice>
        <mc:Fallback>
          <p:sp>
            <p:nvSpPr>
              <p:cNvPr id="2" name="TextBox 1"/>
              <p:cNvSpPr txBox="1">
                <a:spLocks noRot="1" noChangeAspect="1" noMove="1" noResize="1" noEditPoints="1" noAdjustHandles="1" noChangeArrowheads="1" noChangeShapeType="1" noTextEdit="1"/>
              </p:cNvSpPr>
              <p:nvPr/>
            </p:nvSpPr>
            <p:spPr>
              <a:xfrm>
                <a:off x="-368559" y="3018401"/>
                <a:ext cx="4003225" cy="469167"/>
              </a:xfrm>
              <a:prstGeom prst="rect">
                <a:avLst/>
              </a:prstGeom>
              <a:blipFill rotWithShape="1">
                <a:blip r:embed="rId3"/>
                <a:stretch>
                  <a:fillRect/>
                </a:stretch>
              </a:blipFill>
            </p:spPr>
            <p:txBody>
              <a:bodyPr/>
              <a:lstStyle/>
              <a:p>
                <a:r>
                  <a:rPr lang="en-US">
                    <a:noFill/>
                  </a:rPr>
                  <a:t> </a:t>
                </a:r>
              </a:p>
            </p:txBody>
          </p:sp>
        </mc:Fallback>
      </mc:AlternateContent>
      <p:sp>
        <p:nvSpPr>
          <p:cNvPr id="3" name="AutoShape 2" descr="data:image/png;base64,iVBORw0KGgoAAAANSUhEUgAAAfQAAAEQCAYAAABGA4YeAAAAAXNSR0IArs4c6QAAAARnQU1BAACxjwv8YQUAAAAJcEhZcwAADsMAAA7DAcdvqGQAAGLsSURBVHhe7Z0JvFXj+vhfPy4qkiZKUpQ5hIsoQ4QIyXCFENeQIWNldq95SOTiGjKTiopryDxVhshQZMp4TSUzGe9//df3aT/be9bZ+5x99llrr332eb6fzzp77zWvdd7nfYb3ed93sSDEGYZhGIbRoPm/zKdhGIZhGA0YU+iGYRiGUQGYQjcMwzCMCsAUumEYhmFUAKbQDcMwDKMCMIVuGIZhGBWAKXTDMAzDqABMoRuGYRhGBWAK3TAMwzAqAFPohmEYhlEBmEI3DMMwjArAFLphGIZhVACm0A3DMAyjAjCFbhiGYRgVgCl0wzAMw6gATKEbhmEYRgVgCt0wDMMwKgBT6IZhGIZRAZhCNwzDMIwKwBS6YRiGYVQAptANwzAMowIwhW4YhmEYFYApdMMwDMOoAEyhG4ZhGEYFYArdMAzDMCoAU+iGYRiGUQGYQjcMwzCMCsAUumEYhmFUAKbQDcMwDKMCMIVuGIZhGBWAKXTDMAzDqAAWC0Iy3w0jLxSTxRZbLPOr7vz666/u22+/dT/++KP7448/XLNmzVzz5s3dsssuW6/zGkZdqG85Thqtjutzjz///LP74Ycf3E8//STnadq0qcjZ0ksvbbJW4ZiHXsH8/vvvItTvvvuue+mll9yHH34ov+vCb7/95s466yy36qqrukmTJsm6//f//p98FgIKfMSIEa5jx46uQ4cOrmvXrm6ttdZynTp1cu3bt3ebbLKJe+aZZ+ScZlsaSVOXslsXkJMFCxa4119/3b366qvu888/F/mrC99//70bOHCg22WXXURm68p///tft8cee4hssayxxhqyILudO3d2gwYNch9//LHsa7JWmZhCr0AQ1jlz5rjjjjtOhLl79+5uq622ct26dRPBPuSQQ9wrr7xSUOXGPt99951UVr/88ousK6Qy4DgU9U477eRGjx7tvvnmG/HI119/fdejRw9R7uzz8ssvux133NENHTpUDA7DSJK4PdT//e9/7vnnnxdlufrqq7vNN9/cbbPNNmK0rrnmmu6CCy5wX3zxRWbvmuFcyMlXX30lBgIUImscd++994oyf+CBB8SIbt26tdtss83cX//6V7f88stLdGz8+PFuvfXWc5deeqn7+uuvM0cbFUVYYIwKI6xAgn79+gVNmzYNlltuuaB3797BGWecEYTWf9C2bdugSZMmQc+ePYNPPvkkc0R+fv755+DEE08M2rRpE9xxxx2yLvQ85LMmQoMhCCuU4C9/+UvQokWL4Lzzzguee+654P333w8+/fTTYNasWUFYCQVhhRMsueSSst/gwYOD0HjInMEw4uePP/7IfIuHZ599Vsr5sssuG4TGcjBkyJAgVJjB3/72t6B9+/bBCiusEBxwwAFBaAxnjshPqMiDPn36BFtssUXwxhtvZNbWTGgUB//5z3+CddZZJ2jWrFnQpUsXkdNXX31V5AwZRxZvv/32IFTmImutWrUKrr766iA0BDJnMSoFU+gVyNixY0WJhl5wMG7cuKzgIvyPPfZY0KlTpyC02oMzzzxT1tUECn3YsGFVFHroPchnPqg0MSAwKKjQbrnllryVx/fffx8cdNBBotBbtmwZTJo0KbPFMOInToX+66+/igxhJPft2zd48803M1sCKe+TJ08O1lhjjaBjx45Z2akJFPoOO+wQbLXVVsGcOXNkXW3yOW/evGDPPfcMlllmmaBXr17B22+/ndlSnXfeeUeMD5T6WmutJccalYWF3CuI8P8poborr7xSwnAHH3yw23333WUb4W22b7311u6oo45yoVC7Rx55RMLprM8H20hi43ycm3ZBvnM+PmkrpM2QEH7oDcj29957z4WGhOwTeiourHDyhjrDikiaBlZbbTVp3ycsSAJdTfdkGMUSV8id8knYOjSQJeHssMMOk/wQLbdcJ/S23fbbby/l+cknn5Qmq5rKNXKGzITGreyn+/LJttDjljb6UGlL0hv7ct4ZM2ZIWB25Ro7yEXrvLjRAXGiAiNxeddVVdW7nN8obU+gVBJUIAjp37lwXeuiizKkcWK/L//3f/7nevXtLJYSCpmJgfT784zACllhiCVn4TYW23377uf79+4tSZv3iiy/uHn/8cRda/3IPJMQ1adIk7zVYT9v+scce65Zaain3wgsvSMVX0z0ZRrHEVa44D+WU9u6VVlpJ8kKQCT0/n2SV02ZNuWZfZLOm63M8qIz550KmMRpImrv11ltFzlg/ffp0aTPnOn379pX1+WB/jIwDDzxQrvXQQw+JoWBUDqbQK5DtttvO7brrrpJFjhBHF6xzvAYqjeWWWy5zVM1wnFYyVAZUMHjfL774olt55ZXd2LFj3YorrijbpkyZIpXXOuusk72HmuAYIgd463jpGAOGkQQ1ech1BWOZcou8YbxGyznXQuGjzIH9a0KPx9D2vfPXXnvNHXTQQW7mzJlugw02cKeccop0RWN/5BBDG4OCpNPaQIbZl26jGAJk1huVgyn0CgNBve2229y//vUvyXSNQrcVss4RZLJyUaK1QaWC0mUBQupDhgwR74BM2muuuUa8FGBfQoCw6aabymchYAxQ4VGZWba7kRSEqeOCMv/vf//bnX766aJUo7zzzjvu/vvvFy+YrHc89ZpAdjC0MQC4T34jY0cffbT76KOPJJOe5jSVWbaTQc956clSKG3atBFPnv7qX375ZWatUQmYQq9AULxY71GPAUWMpU93MjxzLH1V0vngHFQceNxUMnjP++yzj5xj7bXXdhMmTBBPXGFf2tZ9A6AQqBCpZDhePRrDiBvKV5yonPmyxjUwagmP413TJ5z27ag8RlHZYeE7sjZ8+HBpN6f57Oyzz64WUdMQe11C53jpnJ9jrA29sjCFXuEguCTTjBkzRvp700ZNX/QLL7xQPPRCoNJA+Glz23vvvaWCWWGFFdztt98uyTg+KHFC8FRe9IUvlPnz54vHwPHt2rXLrDWMhgMGL0YziWe77babfKcf+PXXX19Q05YaBiSqMogTbd1vvvmm23jjjd3ll18uuSg+7NuyZUuRcRLlCoUxJVDkGNE0FRiVgyn0CobwHRUDiWskrX322WfS7n3HHXe4vfbaSyz1QkCZo2xR4IQA+U1bd74BM7gelQWVEUl3hfDWW2/JNTiOdnfDaEiQIHrFFVeIwXvZZZeJkiUUjzKvSzicJqf333/fnX/++e7pp58WOUPBM+BMLmjWwuCeNWuWyHshEL5HodM8FzXIjYaNKfQKhQrgxBNPlK5rjGSFR42Xft1117kNN9ywYGXuQ1sdSTm0wdEGf+ihh0plEwWFTvs9ngAjV1G51QSVy6hRo6RCYiQ5U+hGQ4GyTZIpoy+eccYZ0m7OqIyPPvqoO/nkk2WkxtpC7bmgnZwub7TTExHDIM/VFIX3TlSLaNjs2bMza/PDOagHMMrJeDcPvbIwhV6B4C1QAdx8881igdN1jFA7bXp1VeRUWCwo83333VeSfO677z5pF6Tf+bnnnlutokGZ0/ectsCrr75a9ssH56abG5UWIcX999+/qArQMApB25zjAkWKV05/9HXXXdeNHDlS8kroilkMyBkGLfMnTJw40Z133nmuVatWkrPy4IMPVkvqQ6FvtNFG0qzGGA4LFy7MbKkOsnbLLbdIBACjHIPcqCxMoVcgDOqC4mUACQT4tNNOy5nxXih4AHST6dWrl2SjU1nhkVD53H333W7q1KmZPReB0UD7H+2HtO2h1POFA2k7xzunew/daZiYwjCSoi6JmrVBExERL5qWCH3j+dJXnFB2MWDIYnCg0OkOR68Pup8yNjyhdzLqo2Owk29CFjxyiQHwn//8J7OlOnQxRRYxtAcPHiwDzRiVhSn0CoNKBq+ZiuuSSy5xW265pVQM6mlHl0KgouEc2jUHRU62fM+ePSW0j9Hgt5XjRVBZ4GXwSds7lRFKWyHMTgYw4XkMgi222EK605E8VOh9GUaakEPCpCgM0oTM0esDojJWl/KMMcyANBpJ4Nwnn3KyjAD3xhtvuBtuuEHC5QrnZkIYEvE4jmgcip0+5grt8s8++6w74YQT3AcffCCTuNAUh1zX5d6M8mfxf4RkvhsVAKFr+oVTMaB4CbWTXPPUU09J2G7atGmiQFnwLKiEahrwAsVLeyDtc/369ctWWlQ0tMsz9CRhR8Ll9Emnbf3iiy+W9bQnovDpV861CQfi5XNvJPEcfvjh0r5PxULokP3ZjwqIYTQNo5xBrohQqWJEaVJ+WY98kUDKbxba2elVUlPIn6YrkliROWRNo2qt27QWrx/ZZXAZZnFDPjCQ6ZeObDN1KkmvJLwhe8xmyOhx3BsDPR1xxBEi7xjl5KlQT9C1DjnGuzcqhLAgGhUEsyqFijwIPXRZwgokCBVo9lOX0JoPNtpoo2DBggWZI3MTevzB0KFDZZKV8ePHy7rQA89+hp6JTKoSVlZBWNkEoQcQNG/ePHtN7iGsVOT3jjvuGIQKXo596KGH5JxsY9F7DSuu4KSTTpJ9DKOcOf3006W8+rKmi8pZaCzL7IZ77bVXEHrNmSNzgyxuu+22MslKqHxlncoakxiFBrBMwtK/f3+ZUXHu3LlBqIxF3rkO10WWQqUdhH5adkKkkSNHyj3498m9tWjRIrjxxhtlH6MyWIw/Gd1uVAAPP/ywhAFpJ9NkNax0/TeHwizfQ8GWDNzjjz9e2sfzgbdAsg2eASNVkSFPSJ3jgWQcuusQ4iO8TxieoA/X4Lrsy3fuB++eec/x5vEQrr32WmkbZDthRDxzsnt33nlnN2DAADm/YZQrN910k7RLU4Yp5ypbLAoyQKSMfBLySrTZKhecB1niGNq4iYCpHPGJx09+TKiM5Vx41uecc47IDfuAXpv5FZAj1jN+BMchY/794Z1zHSJrRmVgCr2CQYlSycQNFUhNFVOxUOFQWRlGQ8M3cuMkCZnQKl+NAKNysKS4CiYJZQ5UXklgtqXRUElCmScFityUeWViCt2oM0lVBn72rmEY5kUbdcMUulE2mIduJI2VMaOSMYVu1BmrFA3DMMoPU+hG2WDhRSNpzBg1KhlT6EbZYArdSBpL6DQqGVPoRtlglaKRNFbGjErGFHoZ0JAqGR0oJk5Ph/PRZz7u8xp/Yu91UTmjJ0US7yKp6FJD6g5npI+VljKg0AqmlAov33WoYBj7Pa6KRq9Dn/k4z2sYUVC6lK9CyhiyxlIoddnXp7brxGkoFHuPRsPBas8yoFAl/corr7ixY8dmfiUHM6cxOxoTreQizkrmoosukglkwNrQk4MyZhV64UqNaUiZ5KRQin23TJhy1113ZX4lB9MX33nnne7bb7/NrDEqEVPoZUAhlQGhQmY9YyY1ZjBLEhQs46y/9957mTVViUvxzp07V67z2GOP2aAyRkkoRNaYxYwpgZmqlOmIkwIji7I/atSovMZzXCDLI0eOdG+99VZmjVGJmEIvAwpRkFjY7777rkxVSmWTlLdFWzbXYDpGJorIFT2IQ6Fz/8zN/PXXX8vkL19++WViz2QYSiHhdsri+++/L9OhshRCMTLBxEdMGYyXfvXVV+cs/3HIBDLMdZC3Cy+8UIxnk7XKxBR6GVBIZfDqq6/KvMaEwydOnOg+/vjjzJZ4YT7lq666SmZPe+CBB2S+8ihxKHRCf2PGjBEP6O2333b33HOPVTIJwv8sjv9bQ6e2d0AZRM6Yw3/evHkSetdZC+MGw5mZ0BYuXOjuuOMOkb0kWLBggfvXv/4lssZsjDQlYLgblYcp9DKgkElUCJfhzaoHre3OcXP77be7zz77TK6D0iXEnwQYKEw9yXVYLrnkEgu7J4gp80XU9h4ogxjMKFlmFZw8ebL77rvvMlvzU8z7HT16tBgNlH+U+dSpUzNb4uX+++93s2fPlmdjIT+m0Lwdo2FhCr0MqK0ywKJ+6aWXpIIBvPRp06ZJyC5OaGfjWlRmQEVDRRB3NIDKhEqGygzwijAinnnmGfltGElRm6yhzJEDyj7lFO/26aefzmyNDyJfGOXaRs8n62ha86mvIfb5559L7g15NzyPht/JXzEqD1PoZc5PP/0kme1+GzOVzSOPPCLr4gQj4fXXX89eh89PPvlEjIk4IZxJqNGvvHgmQp3RCs0wSgVK7/rrr5fIlMoARvNtt90Wa3Ic56KJiTwV9ZT5RP7mz58vv+MCo+G5554T+QI1nmfOnJl9RqNyMIVe5qDQUaq+N44gEqKLOxxOBaPeuUK48d577401HI5Cp/L0KxS+k4BE4p8RP9a/v3YwkJEBjYQBipZyiQEaF8gY8usbCZR/IgM33nhjZs0i6qt0NfHUhwjfhAkTzHiuQEzKy5wHH3xQLOyoYFPpkFQWVzcUFCnniwo5lj0hO+4hDgizn3rqqVLJRBU6FVqcFadhRMkXwka54p0Too6WS7qU4aXTnS0OaNbCG4/KNMl39GB54403MmvqB01l3Hc0qQ+Znj59unv88ccza4xKwRR6mYMXTsZ5LggN3n333Zlf9eO0006TcJ+GABUqHa5DAk8c4O1jPETb/7kOngvboxWdYcRFvrKFMUkzVjRCBSjA1157TbqXxUE+4wDZ08z6OMBAIRKQK7pGnXLppZdmfhmVgin0Mua+++6T0eEQdDyLZZdd1rVs2dItscQSsh2lOGPGjHq3u7388svSnUW986ZNm7p27dq5pZdeWkK1XId9SJCDYhUu90lXOB1EY6mllnIrr7yya968uVyHipNwvHkORlJoW3IUIkModVhyySVdp06dXMeOHWU4YmSPiFKhfdJr4qmnnsomuFLm27Rp4zp37izX5DrIIO3b9ZVpkt54JsLroLKGbHMd3gORgKR6yxjpYAq9TMErPuOMM7LWNQJ/2GGHSbey9u3bS2WAokfJ1sdzoAKh3Y6QI4qaCmyLLbZw48aNc+uvv750qWP9F198IUlr3E+xCp2wPaFG7pvzUpHRlrfffvtJhcN5eW6SAJPq+2sYUfCW6cqlBi1GM90oL7vsMteqVStRgOSy0PSUL1pWCJzjnHPOyeaPYDDvv//+ItMY0CprRAPq05SGssYZYHAcvnPerl27ikxvs802WVkjPwaZjkbLjIaLKfQyIBrmBjJR/fa8tm3buoEDB7o+ffq43XbbTRQ829inPmF3Khm8YvVclltuOTd06FC3+eabu7333lsqHa5DZUcokHa5XPdbCAwgQ4XI+bh/KrONNtpInqd169ayDyFPhsPMNaCNYdQXlScfFB9yhAxgKPfq1UuWLbfc0m244Yai0DFkGTuhPuOuk3RHFADvnHOutNJKbt9993WbbLKJ23PPPbOy9umnn9brOhjDGARqfCyzzDKSt8J19tlnH7f88svLc3IfRMx4fqMyMIVeBkQVJMqTdja8VVDhZ8HaRhEilIB1jaJlsJliIDlGlSfXwTtZffXV5TqHHHKIhB0RfioaurQRMixGoZM9TD6AGg5UMmussYY0H2y11Vbur3/9q0QHuA7hxkmTJomxYRQP75pQMREcmmao5LU/cmMl+uw0/5x99tlZL5Uy2KVLF2neQsZ22mkn+Y5soCBJWtPxE+oC50emtfsp5Z4QuMr04MGD5Tfr2ZdkWELiuQyQ2qCZjnwAjBDuG2O5W7ducp0BAwaIkYKXDhjZTzzxhHw3Gj6m0MuAaCVDeJtRo1T5IXyEpVdYYQX5vdpqq4lnq4qWwS8YC7oYmIFJLXmus+OOO0p4DmjbxoPAmwbC8oTDcyXZ1AYTXWi7IBXLBhts4DbbbDP5zXUxHogOUAHhOTCYR1JDYTYG+J/SlHLwwQe7vn37um233VaUE+8ZpeR3mWrM0J49a9YskTXKHgp2hx12cE2aNBH54r2haCmzKFoSOovJ8UBGOU7D+i1atBBvecUVV5TfGM5EBJA16gMUP0lrxcgaMorRQd2A18//f5111pFtPBcyjeEOlAMMDaNCCP/pRsosXLgw820RN998cxAKXBBWMEFosQdrrrlmEFY4ma2LOPfcc4NQWGWfsOIJQgUffPDBB5mthRF6bUG7du3keJZVVlklCCu4zNZFvPbaa0GHDh2y12nfvn0QVkyZrYXBfa233nryLJwjVNzBqFGjgrDiyuwRyPNtsskmQVihybXCCi8IjYDMVqMuhMoj2HrrrYPQs5T3zfvUhd+s32WXXYLQe88c0XgIDZ3MtyAIlVlwxhlnBE2bNpV3w+fAgQOrlEu+77XXXkGzZs1kH8rnkUceGYSefWaPwpg4cWLQtm3b7Dl69epVTaZDA0z24X8UGhBBaFgHoZee2VoYb731VtCpU6fs/z00/kXOfd5///0g9NKz+4SGexA6EJmtRkPGPPQyIBSqzLdFo1XhbWt2Khb1sGHDxFvw6devnwsVbdZLp22bjNWot58PLHMdHx64B7xzwuA+eCfbbbddNpGGZgBGuSrUc8DzYTxsBrjg3rhfkuHCSrLKc7OedkRC8UBbOtfBWzcKh//PoYceKk0peOn8z3z4zXr6QjMXfa5uWo0FyiRJYdqmjTz94x//qFIu+R4qcImO4aVT7mmiqstwyMgyk6NoExqRLxJcozJNMirhfsLuyArt+nVp4sL753+q3jn3S7QhdAgyeywC73zTTTcV7x2oC6hztNnBaLikqtApdIUW1rrAOaMVWRygnJLAPy9t4YSmVfnR9hV6W5mtf7LuuutK6Ezb96gsyGzVSqM2uAYj0KliRpESAgw9EfmtEBrs37+/hAa5HyoNsn21C1ttsD9JN6qY6TZzzDHHSFZvFAyKtddeW56H+6KbEGO+15ckyhjlq5hwaG3Ut+zSk0AnvYnin5dKnHbaQv+P+UhKJpJ4t+DfLzkFhMKBUPfOO+/sVl11Vfntg6IlGRXjmndIlzDGSygUDAdySPTayC7njEJTGoYubffIAP8jyr/eY21gnHMtFDPHI7u0mUdlGlknDE9vGeBdY9hQbuoD76Y+ZTcfyEQSMpzEOSGp8xbCYuE/IP7/QC3QfWLEiBHiKVDwWPzb0HW58Pf3LVxdzzqtFHU/Rdcp+l3387cBvzmfbgfdzz9Gt0Gu80S36yf7IeQIIELFffObLFW+Y2EjkIzghuKOggDTDQUjgOPwImg/Y11NsO+1117r/vnPf0pbHfeBd4ICpQ0xCv+nv/3tb+LVcW9UbCeddJI7/fTTJYmoJuhTSxIfE0LwzNwj/WPpEhcFb/H888+XtkMMAZ6fBB4MCLyamsCQweshkYh7xMvherrwf2Txf/uwLvrJwruJCqhfxqLoMf55lOg24Luu99Hf0W36nU/uwVd87IsSINFLr6GfPnoO3hHvFSML2Ff3968JrI+u8+9Fie6jsF4XH13nX9f/HpU/xV/HJ4uu00/drudRWdPtlDe8Z9bxHi6++GKJbuSCnBbyEchSp1zST50oCL1PaoJrnHjiiTI9qtZ3yAMee64yjUxjWCA3/G/JK+FY8h9qgrJAPgxyqTJNtI0s9lVWWSWz1yJ4dhJO//73v0v0jOfnmY466ijx8DVhLh/kERx99NFyr8ipypK+e84VlS/Q/wn3yn6KlmOO0X18+L/puYFP3U+/qzyyAL8V3U/xjwfdHr0O6D56fn+b3q9+AvtxHurrK664QgynkhLeSMm56aabpE0qfBHShhPnUsw5o8fwu1SLf11/YRttzbSr1QRtgKHFLceEghiE3nRmS35C5SdthezPcbTFDx8+PLM1N3fffbe0n+t9hwo5+PjjjzNb83PWWWcFocch16ENvab7CwUhCI2KoGPHjtn3QFs67Y+1wT60HWo7fUNa9Flzbcu3+Mfo91wLIh5dcu0XXaLXqWmb/m4oi/8sLKECkvI8e/bsTGmqzvz580VmQgNWzkH9NWzYsMzW/MyaNSsIvXEpl1wrVOLB+PHjM1tzc8EFF4jMcB2ut9tuu2W25CdU0EFojEgegN7fmWeemdmam1DZZ2Va3wHt67UxcuRIyfHhGI7Nt7C9tn3iXKL/1zQX6q17770388ZKR8lD7uE1s5YQS9wUc87oMXpvpVjygfdEW/Mee+yRWVMdjqe/uN+FDS+brF3fQvXh3TO4Cwv7h4IgXjPt9Pnuh/WE/f3BL7DSCe/6HqIP16ebGx6A5gMQ+qNve757CwVBwpF4P+r5a3svn7nuj3W0NdJvl7ZDv2w1lEXJtS3fovjf4yR6HZ9c99CQliiUtR49ekh3zXwQvqZnBl415RTPlNEVabbKdU6gmYk2cGSFMo9M06RUk7fNfvT+0AFt+E1uDIPN5JMbrs92IgbcF8cRaRsyZEjee2M9dYcOUsVvxqMgPwAZygX7ENJHppFH7od1+Ra217ZPnEuS1PUa+k5LTckVOoUNAeLTB0XBS+BTFwSgHBbuVxf9TZubfup3/3e+Rfdj4Vz+c+sn61HSl19+eY2hZt4hbez04eY4ChDKk5B29P0qKOBRo0ZJuxz7kxiD4NNXNd8xrKeCIRFPk9aorKjQ8h2DIDOWtA5aw7NRUdEWyfdccD+Equha5VdoGCgarswFFR79rKnMgPPzDnnfPJ8uhBLzLdH/U65F/2fRpZD/e77FP1bPVegSvQ8tQ3XBL3P+4t9jdNFr57oH//50e65zlGqJ3iPP6i+so6ydcMIJsn8+OI/fhY2ySvfSmiZSoekD5ceIbIDsMAKdylAu+H+stdZabuONN85eB5nGqM0HMk0XRYwL5IVnIr+G5oCaZBojhUGdtMkF+alp7nfOzfgQNJ+pIa+yFl30/x/9fxSz+OfT77VdJ9d6PU63Rffxf/vbo9f3Fy1DvAf/XfOd9aUmlTZ0hjpEidCOw4NTwGm74Vb8lxJ9SbluVbfrNn6jQPjkeIie16embVEo0HpO/xi++/emv3Odl/W6L5+cE+GgYIAeyzvZfffdaxR+4Fnp483kKrRpcX8oeQQPTzcK7e0kuWnWOR4xlQH92msDxXn44YdnE6nw7CdOnCjeTRS8ZtroaP/m+XgODJQDDzww+6xR2A8hQHmToKfHUvFw7KBBgzJ7/gnbGaKT8kMPAZTz4MGDxZviXbDwnFo55qOQbf4+nFPPy/8s1/86H/muxXqWXOfT9fpd0e/6yf+IHJVChs7FaKQ9lyxov/zpZ657UPR+/LIbJXo85FqXC8p1sRVi9D51AW0v9sGIJHJEhV0TGLHIGTktKGvOQxmnt4gqRZ9nnnlGyiJGLeUQz5w+3zUZ6cCzU0fSHo5M884w2mlLz5W0x/mRDf73/D+Q+1tvvdX17Nkzs0d+kGVyAxgFD8iloS1ex4jw4V5OPvlkOTfvglya4447LttGr2VCFyXX/1z/H7pNj80FzwT5yhlEj/XPr9/Bvw7vOdc5cx3jf/ro+TjXhRdemI3YUGcx3sMuu+yS2bNEhBcvOWFhlXbfsJBLG1GXLl0yW4xioH2Pfui8S94p7WdXXXVVEFZemT0WEQqhtPvRjhcWQmnXGzBggPRbLoRQ0Uo7XWjBynX43G+//ar1ow8VXTBhwoQg9GbkOqHQSPv23LlzM3vkJvQQMt+CIPTu5T61jNBHPaxQMlv/JDQcgm222SZ7T7TtzZw5M7O18UG/5dCYkXfOu8+38L769esXfPrpp5kjjUL473//K/UVZY33yNgNjNUQVuiZPRZBmzb916nn2I+2bdrGQ+WU2aNmkEnGbtD/Y2h0BNdcc0216yDT559/fraPO/tvtdVWwZdffpnZo2aQuWOOOSZbd4QGcRAq+GoyDQ8//HCw9tpry3VU1mqT6cYEYwvo/4sciMmTJ2e2lI6Sh9yV8KGzn4RDjeJhxqaDDjoo2z2F0BnDwUa7sNHdRtujAc+EjHhCjoXA+YkaqIeB5cxIW2rdK6zHuybbFvCauQ7dcmoCj1fBu2DEOsoH1i/3TvgyCs0LDG3KNfHounfvXq0vfWOCZ6cs0ITC+1A588ETxavCOyfKYhQOHiyZy7xDIOyeqw83bdF0A6PXAf8D2qrxesMKP7NHzSCTRxxxRLZuJFuecRk0H0Vh3HfyYYhOAfv37t07OzdCbRBepqscn8BzcD5mV/RBNlmPBwqULcanqE2mGxOhkZOVt1C3ymepSU2h6wPzqSEVo3h23XXXKu3OhNJISlN4z6r8+E7FQvguVxi7Jug/S590rZjoz47w+8qYNm+dxYlCTmXG5BB1gYRAurZpxUmFRoVCqFOhMmV8eK3MMDR4nlzhz8YC/xeas8hfoGLnXfhKnd/090cJYZwVqmCMP8HY1DJG6JnJhGjCUjCY6T6KbCBrhKZJKs0Vxq4JuqwSulWZRq58mQZkAoMaoxclixF87LHHZrYWBu315AYgq9wvRkI04ZV+9NQfaqBQ15x11lmZrQYgSyprfPpyVypSU+g+FEajfqBkyVpFqBFKlBxJa3wHKp4rr7xSBBLwzmkPo59rXUBpYjyoRc/5EH5NSON6tLOTdEclxH5UTIxVXRtUKApePcdxnwgKZQRjhPZChTYqPHcMB56bdnOS7tIQpHKCd07b3fjx4+V9qKfOe9x+++2ljR3vSv+HRt3A0PTbsolE0V6usoY8YNCSx0CZRjbpt13XSCReNjKtRhcRNwaa0esgX0z7yvSvgCxjONdVpnVcCTVSkGUMBa0ruB5jVpCtr5EwvPpc7fmNGb/e0f9RqUlFofvenBEPeLIku2HRAwqcxDidhY0ZmDTblkqGxDmmUyyGAw44IJtwhzJl0A0qNNBRsdS6xzvHO1FPuyaiipisYoaopEKjzFChUFHynYRKZorCcweS7lBiND8Yi6Bi998HFTFKggrcKB4UGUOq8j6BMkhzEImgQHSMBDJASRKir6lLXD6QU1+mUbR0z9QmLka6Y6AbZA0ZQZ5zJagWAsMuM4GLGs8odJrNgO6g1B/a00SbHTC6jdxQR6Wh51JvQ4e0rJlKgvfJNKR4Dwgl75TQGVm1WPB0l0EgWU9FQZit2PZTwnN4z3gcnA8PhdHd8MrxCmnnozBzT7TVYjxElXUufA8dOP8pp5ySHQqT81KhEWonzE87JQYF21BUhJgLMRwaE9H3od6eUTy8U6JQlEvKLAqQcDhjQGA0o9zVoMXQJBpSjBFFueZYeqCoUYvRgExzHbLrNR8GWSETvliDlkgYo0Gql875qTP4ZCpWZA5Z5z4waKhnCpHpxgTvhyX6vZSkptDTfvBKhHYt2pA1lIrnwJjTtJfiQVPJIISEzfF8i7WwOY4uOHjfnA/PgaEq6TqmbedAEh2VERZ9IeSqIKg48NSpRLl/vPJzzjlHxq1nelUqOe4Ho4EueEZ1eK/IWBoeQ6VCExK5CipDGM1050KZ6zzmKHsGeMF4LhYMVZIXUbj8Hwnj02ZPtzY8aCJxgBePrBQr09wrzTOaUIqRQnSP4UsJ8xPu55moW+gnn2suhsZOWeiy8AZKTljws1M7hhW1TPFnxMO8efOCsBLIdqvhM7Sq5ZMlFMggFFwZ/rVYQoUtx2+22WZVrsP/Uq/Fdeh2Q7eyQgkrkcy3PwmVeDB69GgZBlevw7nDiku+c73OnTsH06ZNyxxh+NAliffFu+Mz9CwzWxonlKe4CL3yIFTYWRmg/IeecvY3Zfa8886TrmXFgkyE3rHUkZR1zrvEEktIdziux7VCr1qmw62PTEPoAASHHHKInFdljXM3adJEvnPd1VdfXbruGdUJHY/s/wj9NmnSpMyW0pGah66ED29hwBhhdCiS1kKhlN/h/1g8Mz5ZCAEWkwznw/k4nna0UEnIOs6NB63XIsRItxsSguoDZQMvn1AiZYVzEwHAM+E77Zh48KHxkDnC8OEdKby/xk6cUQqak2i3Vlmj/BOt4p3zrolMMXSzbi8GPGWaxuhdEirV7DpySLge4L0z0l19ZBqQWXpA0JQAPAeJcUQF+I73z+Q1hUbcGht+2eJ9xVnWCiV1hQ5+pWPUH7qtIHTRChzlSDsbS33Q/xeZu/T7jlZYXJduZ4WMVOWTT+Gg0Gkfz9UOSfNBr169sm1/Rs2YUo8PjGMUNmHx6HvF0KX9W0dRKxaVNaYcxjiOXgfZQ56RkThAoXO+XDJNM0OuqZyNRWBoKWnptFQUOpamFkxT5vFDX1QyvtV7VrCwGeISi74+qKfQsmVLN3ToUKnYfPjfUsGg1OtCtLJSSPjJNd4890FbHoaDRXlyk++dNla07MYB50Jp00but13zzmnTJp+FshsHtFvnUqYYsozHXl+ZVpBlTfjz4Vl5TuoWIzd+2eJ7GnVSKgrdV+JW4cQPnixh9+hczQhpfRJ0FP9/xghwnNNfR0EmSS2q6OsDfcz9/u+A0JBxa/1ha4b/jb80ZvxKNw4Ih2Mk6+iJQPnv0qVLLF6z/r9IMKULm6+42UZTVLHdT/NBeJ+kWX1XXAfDBBmsb1i/sZCWnKWi0BV96LiFzHCiUAmRqZXIJ5npcVjYvuWJJ7LhhhtmQ3T8T6nkmFwlbuj761ecXPviiy/O/DLy4RvQjT0ilkRFu+WWW1YZPRGD+qijjpLv9cW/XxR3dAY1IgRxe80YDdGwO014zOBm5CfaZp6GrKWqSfWB00geqHS0XzYhOSoA7dKWqx26rvgVCqFGKjQNh2PJM6pUEmOEk/hGtxquQ+VJdx4LAdaO/r8auzJPCpQdw7pS9imXKF7yOuLAd3a4zs477yxRKv6nyDJKNg6Z9kGRM0CNDiXN9YYPH17vBNdKR+UM+O7/LhWpu8ZUMqbQk4ER3WhjRqkTRosj3J4LKi+ULRUakQGGhUwCKhS8dIwIvlO5GTUTrVTSqGQaA4TdMWKJINEMFZdBG/1/MbQro86hZAnpk5SaBAw5q0NJMyokzV1GzfCu9P/FZxqR59QUuu8tWMg9GRjUgpm3GNmNrmpxJehEoa38+OOPFyXL9eJsO/fBc6AdEU8FIyIpA6WSMK+8NDCoEZEqFDmjKFK5x0FUodNmfuCBB0pb9plnnplY7w68fuY6J/GVEeTw1o2aQY/p/ystnZaaJvUtGat0kkEVIIqPhJYkIbxPGz3jQScJ2b5UaGuuuWaV9nSjdsxwTg4UHl3Y+CQhLknwlvHOibolCc0I1B82xkPdiRpipSIVCfctGVPmycE7Vu/cT3BJAtoO6VqWtOFA2SG8efDBB6cmNA0VZM3eWTJQLskMZ/azuLzzfNCMdu655yYWcVN4Jsa0iCsfoNLxDWbkzP9dKlJR6FQsviK3NvRkoEDR3WXttdfOrEkWrhNXf9iaIBGOsLtRO1GDOY1KpjFABU5iaCnmE0Cmk2o7j0IkrNgJXxobfu8fykMaxnPJpZsKhhF1otaMP8qOYRj1RyfJiWKyZhjxwpC/yJUqcvScDplbSkqu0HlYlLn/oLwI37oxDKP+0MwSNZyRO5M1w4gXet5ElTfyh8yVklTib9GHLPVDG0ZjAYWu8lVqb8EwGhNqPCNnyJxvTJeKVBQ6+JVL0kkkhtFYieanmPFsGMmgA/4An2nIWmoK3X9wwzCSIdq8ZQmohpEMOp2t6rQ0ImKpKXTDMJLH9xT4tLC7YSSDbyynJWupKHT/QflulYxhJA9ypsrdMIx4QaGrPksrEpaKQo9WKmkkDxhGYyBqMJtCN4xkURlLQ9ZS0aRqySjWL9YwDMNoyKDXVImn5aSWhYduGEYyIGu+x2CyZxjJEJW1NEhFofveOVglYxjJYNEvwygN5dB0nMod8OC+Erc2dMNIhqixbMazYSSDNiUjY1GntVSk7qGn+fCG0dhIK/vWMCod1WOq1NPAXGPDqGA0GqYVjBnPhpEM5SBbZaHQ07JmDKPS0TCgLiZrhpEMftOxylupSS3krg+b1oMbRmMABW7yZRjJ4zdnpSVzqXvoVuEYRnIgX+aVG0by+B56WjKXmofuYxWOYSQPFY4Zz4aRDGo8+0upSUWha6KOksaDG0ZjwFfgfPe9CMMw4qMcZKsspNu8BsNIhqixbMazYSSL6rNG46EbhlEa8Bo0ImbeuWEkB6My+s5pGmM+pCLhVC66gA12YRjJ48ucYRjx4uu1tKLOJVfoKO8//vhDvvPQ+uA25rRhxAty5lcs+t0MaMOID+Tq119/zcoXn8jY77//XnJZK7lCJ+y3xBJLZH79yeKLL575ZhhGHCBnLL5nriF4wzDiAdlaaqmlsjIGfEf2Si1rqUg2FgyLX9EYhhE/v/zyS1bOMJrNOzeMZPBlKy29lopC52F9y8U8BsOIj4ULF7qZM2e6a6+91s2YMUNCf74RbRhGciBjKHfkrdSkptBBKxnDMOrPTz/95J544gl33HHHuT333NMNHz7cvfzyy1Xa8sx4NoxkSVOnlYV0m1I3jOJAdn744Qf31FNPuX79+rl99tnH3Xzzze6jjz6S9Shz+Mtf/uLatm3rWrRoIb8Nw4gXX4+lpdNSUeg8rD4w3npaD28YDRUNq1988cVus802c/3793fTp093CxYsyPYioc28efPmrnv37u744493kyZNEq/dMIz48cPsvo4rJWXhoVu7nmEUxvfffy9h9KOOOsodeOCB7uyzz3Zvv/22eOMocmRpySWXdO3atXMDBw50V199tRs3bpw766yz3HrrreeWXnrpzJkMw6g0UvPQlbQsGcNoKKCov/rqKzd58mS31VZbud69e7vbbrvNvfnmm5LFjvzgjTdp0sR16NDB9enTx913333uuuuuc/vuu6/r0qWLKXLDSBjfMU1Lp6XqofMCWKwrjWFUhyS3Dz/80F1++eVujz32cAcddJB7/fXXxRtXmUGRt2nTxvXt21eS4chsnzBhgttwww1NiRtGCWnUCl2VuS6GYfzJCy+8IEocb5tw+bRp00SR++NFk7G+0korueuvv96NGTNG9ttxxx3FUzcMo7RgZKs+QzbTUOqpKXT/YU2hG0ZVVlhhBdezZ0+37LLLSuWQz/BlyMmXXnrJzZ8/PzWvwDCMP5uPdUlDr6Wi0HlQf6hXU+iGUZVOnTq5k08+2d15553uwgsvdJtssolbZpllpPuZygve+pdffulGjx7tBg0a5EaMGOGmTp0qGfCGYZQWX6elRWoKXT9NmRtGbhgLeo011pCMdhT1Y4895v7+979LBruO0Y5SJ/P9tddek4x2BpTZZptt3I033uh+/PHHzJkMw0ga1Wdp6rTUFLouhBNt9CrDqBlk5K9//askyN19993usMMOc6uvvrpr2rRptr2ObHg8dvqnkyC38847S6Y73dpIsDMMIzl0/AfVa2mw+D9CMt8Tgwf95JNP3OzZs92TTz7p7r//fuly89tvv2XbG9q3b+++/vprSSygH60fWjQMYxGE9eiaRtc1EuboW468oMh1CkcWZOvTTz+VEeRYGNMd2VpllVVkf8MwigcZI0l17ty5ksPy4IMPukcffdR9++23VXqgIIc0gaHgSVZNWtEvFt5Y7Jk0PAThvjfeeEO60DCwBWFBzdCNXlItGj4JJZIItPXWW0u7IKNctWrVqtr0dIZhLAKDmTHczz33XDdnzpwqsqZohbLxxhu7U0891fXo0UN+l0O7n2GUOyhpxnyYN2+ee/75593YsWPlEz3n6zVV5ugqFuQL5xQjevnll5fBnnbddVeJrjVr1ky2xUmsCv27775zzz33nHv88cfdlClTZDxpXgIPWZfL6IugwmH8abwRFHyvXr3EOzEMozpULkTA8MhffPFFaVfHO6DCAeQKxb7ccsu5LbbYQrLoUewoeeuzbhjVQW+9//77IldPP/20dB/VaFihek0dUT5R4CS3otB32GEH0W0bdN/ALdNsGdmnvsSi0DnFlIemuMtGXeZeffVVUexRD6FYVLnjtfMS9t9/f7fffvvZJBOGkQciZIT+HnnkEWlzf+utt7KGtYJiJ+rVunVraZtnjHcUe9IhQcNoKNAV9JprrnETJ04U51SN46heQ0ep0lZ0n3w6EJ2G/DEo1OZbbO6OO/Y4kcP6Ui+FTqiPsPpVV10liTqE+vxKg4ekgiDcQL9aFioQEnmwVHgoLs9CJUSbBCEN2v74zjr1LoD9sW4233xzyfxlGEzCFoZh5AbjGtmkjY+8FSom9S5ADeaWLVtKKJAR5xhljpyWuMOBhtEQQPc8/PDDbtSoUeKgam4KqE5DNnAqGdgJncZ3FDRNxqr00Y8///yz++abb9znn3/uvvjiCzGsdTpjNQQ4F5FompgPOOAAt9pqq4lMFkPRCp0bvemmm9y///1v984778jN+w/Ng3Xs2FEybWkHp/sNv/XBfU+A43hIMnEJZ7z33nuSbEDo8JlnnpEXrNNAagXEefDWjzzySHkBrDcMIzcodoaRfeihh9z48ePFa8dgjnrtGNtEwki4+9vf/ua6detWdOViGA0JZIGhlen+ybwJJGn7DiWKl+YqHEqaq9Zee22ZJwGFru3hyBDH6CfGANEyksLfffddOf8999zjPvvsM9Ghen70F3oRYxpndffddy+uGQyFXlfmz58fbLPNNkHoLQfhjQfhzWSX8KGC9dZbL7jrrruC8EGCUNFnjqob4csNQmsmCL2K4Oijjw5CSygIPf0q1wofONhkk02C1157LXOUYRg1EVYgIr+XXnqpyGlYQQWhwq4iVyxh5RJ06tQpOOmkk4LQS8kcbRiVyxNPPBGsu+66UvZ9vYZOa9++fTB06NBgzpw5QaikRY6KAX0YGtfBxIkTgy233DJo3rx5Ffnje5s2bYJDDz00CD37zFGFUyeFjpJ9+eWXg+233z4IPfDsTfDw3BhKPvTYg9D6CELrXx6aY4qFYzkHL/D5558Pjj322GCVVVaRF67X5j5C7z+YMGFCsHDhwsyRhmHkA7n6/fffg3nz5gWhJxIccMABQehpBE2aNKlSuSDXyNeyyy4rlc8111wThF6GHGsYlQKO5xVXXBGsuOKKWb1G2UfPrLzyysFxxx0XvPTSS+JgopBr02m1bUenIUOff/55cP311we9e/cWGVMjgk9+I5fvvfde5qjCKFihc5Mo86233rqKQsV66dixo7yQTz75JLN3Mvz000/B008/Hey+++7ines98E9Ya621gttuuy2zp2EYhfLjjz8Gzz77bHDEEUcELVu2zOmxI2N489ttt50Y7VRGhtGQUcV62WWXiTLXco9CXX755YP9998/mDp1avDzzz9njiiMunrvH330UXDxxRcHbdu2rWJQEAHfaaedgrfffjuzZ+0UpNBVmW+66aZVhJ0QeLdu3YLZs2dn9iwNX331VbDXXntVCfnz2a5du+Cee+4pOsxvGI0RKrUFCxYEDz/8cLDqqqtmKxV/Qb4w5Gn6wlunPjCMhgwO4pgxY4LWrVtn9Qj6DeV+4oknSmi8GIqNYM2YMSNYe+21qzQt4zATEUfpF2IoFKTQP/7442DnnXeu4hVz0f32269O1kOcYDURAsQz1wqITyqc8ePHS8jfMIz84Jk/+OCDwemnny6eNxUbcu0bychUixYtJCx4/vnnB3PnzpWK0DAaMjTj3nDDDaIv1EmlrJNXQqS3rl65T7EKHcd51qxZwcCBA7POKkvTpk2Dgw46SJqya6NWhY7wosw5qSrzZs2aBYcddphY9WmC0ib5rnPnzlXCJSj5V155JbOXYRg+5JoQYu/fv79UaHjefuQNGWIdyTndu3cP7r77bgmxF1tRGUa58eSTTwbrrLNO1hmkzHft2jW4//776x3hrY8ziVInafXwww+XdnS9N5q7SJSrzdCoUaFzY5dcckk1ZY61UC5WOi9g7NixEir0LS3aP8yTMIxFUBGQ0HbnnXcGe+yxh3jjhPNUrlnUG8BLGTx4cDBz5kyTIaPi+OGHH6rkYaE3NLKLPqkvcUSHv/zyS9Fhmq+GbGJgo+tqMjhqVOjTpk2T7FcVeMJxZLK/8847mT3KAx5w5MiRQatWrbL3SlIDXXMs9G40ZlDktHcPGzZMuqFRifneOAsGML1U8FguuOACiW7VJ+RoGOUKofZTTz1Vkj9RksgCbeY039Y1mS0fXKO+YFiQm7bhhhtmowjcK0npNTVz16jQ8cT9kAQVAsIehxUTN19//XUwaNAguU+tqNZff30LvRuNEozc6dOnS/Io3offNq4LHjpWP+3nU6ZMkWRTSyg1KhlC7TTRoteQB8LaGLvkk8RFXE4kehb91aFDh6wRTuj9tNNOy+xRnbwK/eFHHpZkGBV+vF+SCMoZLBr6qWvFRfPAGWecIf0HDaPSwTN4//33RU6JrFH+o0qcioGwOl1NMdip4OKszAyjXKG/OU1JlH/kgHEX8Hjr2te7NuLONbn88suzEQUMEdr6X3zxxczWquRU6IxQ06dPn6xVwIkGDBggjfXlDCGT6667Tv5RWnnhpTPanGFUKhisr7/+unS16dGjh2TIquzqQkWAN9KzZ0/pd0tSnClyozFBn3KizMgG8sB3ujnHHXGOO8pFL7N+/fplo2w0j5Eg99PC6vktORX6Aw88IBaBVgZUBOPGjctsLRwqGm6GPnSF9unj5WJJYTx8//33dX7ZhDvoYqMVGl7KiBEjyrKZwDCKhfJMWSfPZeONN5acEULouTxywnRkqxNWR6YMo7GBvAwZMiSbZIaXzkhsdYXzMMLif//7X+lGlkuv5FLoJOIx8BpLMfkpJLMy8AzyzMLoqDSpRak2VyJTxDHTDDOnQfjwMq3iNttsI7/rAhNA7LTTTjLBw1lnnSXnrg0mZ9ljjz3kGCZeCR8+s6UwQsvLDR48WCaTh9CocP/5z39caFjIb8OIg1B2ZMIg5ISJF95++y2ZpIhZlShzSfHrr7/KxA5MjLT33nvLDGnMe87kK2FFIveFzIYVlkzHeMQRR7grrrhCplJl/uXQOM+cyTAaD2+//bbMOIiMIB8rrrii6Jm6Eipwd9FFF4ls9ejRQ+ZKj8L5ff73v/+5kSNHus0228xtuummbubMmZkthbPjjju6DTbYQGYu5R5Cg8I99thj8jw+1RQ6CvWFF16QgyC0+t3xxx+fVZB1YeWVV5YZaVDkXLwQpcp0dVSMVEwbbbSRa9KkSWZLYfAyeXFrrbWWzBLFeahkJ02alNnDqCSYkpDZjPg/1wWU8LBhw9w555wjs47VlQ8++MCdeOKJUikMGDBAlCvLXnvt5QYOHChCz7SJccJUxcccc4zMgsa177//frmGKvLQOxd56dq1q0xpfNttt7mLL75YpmRkRqhoRWMYjQWmENZ6AjlBOTKzWV1Bp/Tv31/041dffSUzs0WJyhn7odfQrejEzp07Z7YUDrOLHnTQQfLJ+THsmTmRmUh9qil0vGqsDh6cA9u1a+e23377oqZQ5OK8OLxmKtBc1owPlgyVEF4Pc6dTcRVTCfHS8PCxZgAvH6vop59+kt9GZcC8+Uwz+M9//tP9+OOPmbWFgSA8+eSTbvr06dkpDAsBrxxFuu2227prrrnGPf3001Kuf/75F/GSUboI2tlnny2CjyCrcVxXuC+M4eeff94NGTJE5PCWW25xzz77rMgI26mcll56aakktthiC3faaaeJQX7ggQfKNKh46obRmMHonTFjhugB9Bp6AWWOjikGHEZ0DIb0o48+KoaCT1RnoVPffPNNWc+0q23atMlsqRtbbbWVzL+OzPMcRB2iOrWaQp82bVo2NM4NoFSXWmqpohQrFybkjndPGBIrqSYII8yaNUsqQML8xb5wDAg8pebNm8tvKj7mWMeoMCoDvGqMPwSlrsocKJsINmUF4SgEyuWUKVPccccdJ1GfNddc0/3jH/9w1157rbvrrrvcHXfc4a688kp3yCGHiDH7yiuvuEMPPVRkqq589NFH4mXjiRNWv/HGGyUagUHB/bJgZFM54LXfcMMNbsKECe7UU0+VOZsNw1jEhx9+KMa/Gu7oI/QSsl8MRK3Ri9QheN0vvvhiZktu5syZI3Ort2zZUowBji8GmstQ6lpnoadpSvOpotCpLLA4cOeBC2+yySbyvdBKL8o666zjOnToINbMfffdV82a8XnggQdE6eJVEL7khRUDxgfhel6gWjOESOfOnZvZw2ioYBhinOGJXnLJJVKoEdRiyicKsS5ljLJ7+eWXizLHwr/++uvdySefLGH39ddf322++eZuv/32c5deeqm79dZb3aqrrirNRyh6vPe6gAf+8ssvu4kTJ8p1NaweBaNk3XXXlba5Yg1gw6hUkBkUKs29GOTIO3KCMV4faD9HTyHXzzzzjOjOXHB99BrRAbxrFHKxIOvUMzjYwDVxJPwIYJXaDA8Ai0N36NSpk+vSpYt8L8ZDB6wJKl/CglS+JNzlAi+LsAj70Aa43nrrZbbUHe51mWWWkUQ+rgu80Pnz58t3o2FC+SCs3L17d/GEESbKql+gC4Uykk+ZI4Scm/JCuE7Pj3J9/fXXXfv27d2FF14oRmOucyBwCO5RRx0lUaInnnhCwuB1gSYjPH887379+kmIj/Zxv+kLQ4YEuRNOOEHa7TGY+R1NlDGMxorKiCaqohT79OlT59ysKORoYUQja7NnzxYPPBc4H0QRuW6vXr0kl6VY0KVrrLGGGAZAvUT7vN+OXqU2wotFoaonQLsc2YD1hfZGKkEsirFjx2YjAD7vvvuuhCiBSrtVq1byvRiorFmILvAigWvzfEbDhTJBqIzkkL///e/ZxEcNpdUVykjU6+U3IXKywwmX014NVAh45ByDF04Zrcm7R/h22203acfGWKUpqa5gGOyyyy6S0Y7ckMC35ZZbSuhNr82zI9Q0BfBe9t9/fzdixAjxGopJ9jOMSgL5IKKmRi71BTJUXwjb0yxMFBsjP19+GHKLU4Bhf/jhh2fWFgd1Dzlt6GS+A3lhfvJtlRoJa0ItGQ7Amoijm0uzZs0kQYhKCKVK+2AUGvhpQ8ejxjvXsEJ9ILqAQqeSxprh+YyGy2qrrSZKjW5Y//rXv8QrRaAoV1HFXBvsj8JDIHwPnwS0o48+Wnpl4CX37dtXzk/YG0sYmUDJUjGoUOWD9m08a86PFV8stIkTzscTJ3w3ZswYsdTxMlSxY7Ai2E899ZS8H3JIMEhIyOH6dX0/hlEJoMhR6CrjyC31CNQmvzWB3O25556i2DHY/XZ0lTWazWjC5h5oesa4ry/UBb5BH408V1HoKFouzoNyAG0E6uHW5+E5VtscSE7Ae9CH1k88DCrY+rYz+NCGroYB/1Dz0CsLDT/Xp2xiwVMGWfDMaRMnfIZSJyFNBQdlyXeUaKFdOLXc84mHrmW9PmDwoqynTp3q/v3vf4tXTk8S7kvfA89E09n48ePddttt5w4++GB33XXXiVGRr63PMCoR9BkKD9lDfomcFSq/tYFRTZs2TvDkyZNFufq89NJL4qSigImc1RfkG/n3FTrPR4ROqaLQtf2NAzlAvZ84IDxB2zgPT8WikQDAkiFbj5dOBURYIQ78NkfObW3olYUqMP3MRy5FyjGUDTX46IpGmzcG5ymnnCLesC/4KEI1buuCnoPyHodCVzBW6V8+evRoN27cOHfuuedKoo/fNoiBjEzffvvt7qSTTnKDBg1yZ5xxhjRvGUZjAEeO6JrKHgrdl5H6gH4cOnSoOKok3WmTMaBH6RJLLg7JscX0ec+F3r+v19CfSlZbswELQ8NzusQFbehUOJz/8ccfz1pNLNrpnzZS2hniMiI4j/88cVeqRrqglFmiZTa65AIvlvJOrwo8WQZPQpnTf5tuZ9GmJhQz6xBUv4KoCfYhw5ZjOLY2w6MYaM4ilMf947VjjJCsR9MAwq/vh6YFDOnLLrtMkoJQ7CTqEXng/gyjEqHsI+sKOiEu/QK0x+OAorjpRqvXIsrHCI7IIFE6enrVF63vcCz0Gfhd5fkynzkrKF6GVpZxQHiQCghl/txzz8mNUNHQHso1yBokES+O63EOvCqt1EAVvFE/4ioP9UX/l9wPSknLam0L++n+5FUQXqe5iWRN2ttyJZOhkLHEsYaxxP3z5YPzsC/lnPb4mvaNA4wOFDpDHd96661iHOMdEIVABrg+MkEYkBHkyJ4nfE9/d96DyYZRaSB7Wv8D35GBuGQR/UJODefFeKceQY5o3sWAxpvGwNbeVvWBe+Z5ovfu/84qdJQdg2Fwg6AHc6P+CykWzs8oOR07dhQlfvPNN8t56fRPex9WB4lzPHgc19NzqPfBb7qyaajCKJ44/j9xoFYqCovyw/+WdbkW7lkXflPONPRG+JpxzjkPSSwYm1FIRtl6661FJuj7ifJHRmp6F3j8LJyXY7luknAvvAM8BsZ+pp8+XdlIjiNCxjtiH+6bSo22N5Lo6FZKRv6oUaNEHg2jUqDMk2Huy75+jwPC7jiiGPsYxXjlyBcjk5IsR6SM7mpx6B29b2TX12u+sVClhkHZqkIHKi090LcCioWHJ9GICo7sWywYkgmoWAhJMEBGnJCVzMMrVGpG5UCZZCnGs0QQKOs08+DVoqRJXEEIL7jggmrzDrA/gx0hoCS43XnnnVXKVhS2MX8Abdh4yfSdLzUIOs1cZL1jpGBEE25nYA2NXPHu6KpKX1nC8FQ+NDug6JHLOOTeMNICRYrBziflHYMcGY8TEuOYs4Tz0oWNcDs9UdCdhNvj6PoNyCL1ijaNA8+EI65UUeiEu30rnhuMZu7VF21zoO2ORB48Il4ySXM6iE1cUJlqpYtlpt0VjMpAlQ3ltRgwMGl/pl853vrw4cNl7AKSxlCC0YkPMDqZiAVBZfYk2qzzKTxC7YS+8eyZNTCOLiv1gd4j++yzj4xaR2VDlz+61fnyjgGPzJBTwNCW5BKQUGczFRoNFQzXtm3bZss4zWA0q0E+2a0rnJ+eJpyP7q7IPSF3IgPIfrH1UxTOr/3OVaHr8ylVFDpZ6Fj1HMgBPDgHxwmVCJNMoGjxzhm4A2VLRUpIPA64fxasJQwSvnONuA0GozwoxkNXKHNEjABDk0xw8jzwrvFSfVB+JJ/RNx3ZoE/8ggULMlsXQVmjL/vgwYOlrZpw97777ivHpolWKkQkdt55ZxmsholjGMoWL55nRka4fyo9msHI/GeAHbx2ur7ZOA5GQwPPnIgUn5Rt9A56IU5QqvRJJ88GfcbcCugd9E19h5iNQtRs3rx5VRQ6UUOlWsjdz8ZFgOO2zqk8GaBewwRcC0ummLlp88E/Dq8f71+7x/HgcWQaGuWHhtPqCgrMh3MQkkaB4Z0zmxoZ7UDzEEO/3nvvvTIXMgqadjL219HkKHcYqYSsaYvGcqZtjW5lDAiTK9kuLXh2QoEobIamPf/88+W5Uez6Lqk0tCcAnjrbjz32WBlHgqxewyh3qPc1fwT5JArFvOjohzihuZjQO3LFNaiTyMuJ1jH1AXlkRDrychTkdfnl84TcUbLclHoTeOdMLhEnVBZ444ygxcMSEWA2qbjaGYB/HN4R9054lGvimZhCr0wQ2rpCGUHBRgWbEDl5HpRHJkdhGFX2YQhHlN9hhx0moXnayTAWUXaaRIfAofhZxzYUPh49xzELGuGycgQPhogCyprnj1ZCvCvkCK8dxY7yzzXao2GUG5RlmlrVi6Uc0xxGWY4THFWasdBn6BvqD/ScGsdxQD2Ek61NgZwb52KppfIkxbED465rCJKHZwQ3BJolLogEMBY2iQRkCFJBxvng3Ct93dWL4Nw0J1jIvbLQsQ1oH8YirgsYrRiVGHnRYxkjnsxvupphETMsMddiPUM4MjQxA0XQHYXFb8OiSYl1lGsS4TiGhfJXjOGRJBggRCCYMIkBMhgfny6lUSNHw3ok+BCloB2+PpMnGUYpIX8FWUfOKfMoc8ZgiFOnAZOBIfPUETipccsInj8TVGleGDlA5LpU0Z3hQ1XhpZdeClZdddUg3EmWZZZZJgitgiA8SWaP+AhfbhBWHplf8bFgwYJgl112CcJKW56hSZMmQVhhJfIMRuOEshsavJlfDYvffvst+OCDD4LRo0cHoRcRNG/ePAiVdhB6M1m553ezZs2C0OAJjjnmmOCRRx4Jvv/++8wZDKPh8MsvvwSHHnqolGct26HxGnzzzTeZPeIlKT3z6quvBqEDE4SGichq6GSIbvapFuDHe8ayCB9cftOlhcSZqNUeB1wjGt6LAzr4v/HGG1lLhryA+kxobxhRKLt1jQqkSSjr8klCEOPVkxhHdz3GmyaEh3yzD/JIoiBRBaZvxXtnEBpyBZAjw2hoEHGmvJPPAnjpTKaS1BDISdULEyZMyCbEcQ16jNFc5lNNmzLaFElrGnZHyBmalX7jDQEe9qGHHsomDqDECbkQ4jeMxgaKmsxYBphhxjYGuGEuefqdaw8QjBPCd+SZoLhR5CS+0Z2PZjF/4ArDaIgQDu/UqVPWqaMpDT2RBOoMxwnNfnSH0z70dLNlEjM1UpRqCp0Hxpv1B2GhQiC7t5yydPOB1eUP+kEG/ZAhQ2LrEmcYDQEM27lz58rkLXQ5Y9hl2t9I5lPZUG8cpT1s2DDJ6ifpjeQef7AKw2jooAcOGnyQKEKMWIxZeqSQPF3ukGCLTiPZVr1znFQmMqtmPIQPV43woOD444/PtkGzdO7cOZg9e3Zmj/KEtsHQapE2Bu6Zz+233z4IK7HMHoZR+cyZMyfYdtttg44dOwahBV+lbZyF3+SVhIo8GDNmTPD555832HwAwygU8kbIGVH9QO5IaOiWfW7VCy+8ILJK2z/33rJly+Ciiy4SPR0lZwN2+LDSdYchK/kOhLAvvPDCsu1/itfBbDe0jWDFAM0HTD6BdWYYlQphdX8gGEJxhMzxPvywOqFzuvDsvvvuMswr/c8ZDY4uNlj9hlHJEHWm7JMLQnSKbqTIAKHsJHLE4oDJoIiyMa4Feo2mMTLpiTaobq7CIr2em8svv1wsfKwZlvBFBCeffHIQVhKZPcqHZ599VqwYvdfwwYMddthBvA/DqFTmzp0bDB8+POjbt2+wwgorBEsttVQVjxyLnp4qXbt2DUKDPJg+fbpFrIxGy0cffRRstNFGQWjcipygJ/DaiWrFRS7PuRjQs0ceeWSVKNvKK68cTJ48ObNHdWpU6ChDlCKuvlYQoTUfTJgwIbabjoNvv/022GmnnaQy4x55eB58xowZmT0MozJA7mhaorsKirx169ZV5FMXFDkGOF1QQy88CL31spJZw0iLqVOnioGLMkdWaFqmiSqubplxyBlNYDfddFOw/PLLZ2Ua/XbUUUfVeJ81KnR46qmnpL8blYZaNBtuuGHw+OOPl0UFgcU1aNAgqby4PxY8EtoYDKOS+Oyzz0TITzrpJDFYaQdXy52F7wg9njr9bDG8P/7448zRhmEo55xzjhjDqjOQm8MPP1xkrL7UVy9y/IMPPhist9562fZ+9G737t2DWbNmZfbKTa0KHUth3LhxQdu2bbMnR7mTcIPr/78EBoYpFF7+PvvsIwqce9N/zJ577hl88cUXmb0Mo2FDWb700kuDnj17isWOR+Ercso+yh1FPnDgQIlM/fjjj6nKpmGUM5988kmw1157VWlSJkkOpf7dd99l9io9qm/XWmutbFI6so4Bf99999Uq07UqdCDEd/bZZ4tFow/PwkVuuOGGYOHChZk9SwNZiYxoR0a7H2bnn0Ol9/bbb1tlZjRoCKtNmzZN5Ktbt27BcsstlzWodaHMUwn16dNH9nvzzTczRxuGURuMvIa+UB3CgjwNGDAgeOONN0re8+OHH34IrrzyyqBTp05ZWecTPXvjjTfKiHe1UZBCh/nz5wdnnnlm0KJFiyreAb8ZVvXdd98tSQieRAHCjrQN+hUcw/rxjyjVfRhGktBVZdddd5XIGOE2X+Z00UjZPffcU5aJqoZRzuCootR79+5dxRtGwZMod9ddd8k+SYO+wgmlfVxzYrgPPtu1axdcccUVBUfcClbowMNdcsklVRrqWXgZ66+/fo3Zd3GAsiabt1WrVlUqODIW+/XrV21cW8NoqOAdfPXVV2K8Ilt+s5KWe75T9tdZZ51gxIgR1qPDMOoAipQFpU77tDZlsfCdBPDddtst+PDDDzNHJMPtt98uUTjNvEe2MeJXWWUV2VaXfvKL/yMk04OtVsIKxW2wwQbyGb4Emf0lPIf0j9N+sExNx+hTLKGlI8eFN5i7z1wNcM7QIpF+7wxTed1117mTTjpJprRkfHngnFyHeWcvu+wy6TdvGJVAKNgyqhXy1r9/fxlTgXWA3CEbyB6fCxYskKlameKV8SJYF1YIcjzH1FX2DKMxoHqJ8dAZF53hzZltMDSmRYbQM0xXil5D5tA1jOUQes6ZM/xJITKmupIxU7744gsZK4J5Fa6++mqRW67LeUJjQsaLYMrlfffdt05zkCyGVs98LwhuiMkcHnnkEZm0BQWuip2bQdlT+TCFHHO1hhaOTP7OROxaIeV7eL2V3377zX322WcyBSqT0WM88AL0OsC5+EcwPzWDY7Rr184GxzAqEso8FQxDMDOc6wMPPCATNSATDAuJTIJWBsgak6swIQXTKzLhkil2w8iNytcHH3zgbrjhBnfLLbeIkcw6QHZQ5MgRg7r07dtX5kVgQCbkDbnSxYffnFsXBrJh0jDmVWBSJCZKQqZR5Gxnfwa96dWrl0xnzDWaNm1a7bw1UWeF7sNDjxgxQsZ5Z0QbbsyHF4GXgOIdMGCAvAgsD0ZuU+9dXxoPi5XCPLXjxo1zs2bNknX+OXkwzsmxvNwbb7xRJpIxjMYG4zqff/75YvAih75iV5ATZO/II4+UEbJ0coq6VBCG0dh48skn3THHHCPeOU6kD04jyh3FyxwIe+yxh9t4443dSiutJOuQLzxw9sMxJcL8zjvviAOMnkSB4/mj13xDHL3Wpk0b8cgJmhMNKIZ6KXSgInnqqafcrbfeKsPoEXqPnpIbxpLB2tCQBQ/AfjwUn7wEXh4LLyJaOXEOjmdqV4Zz3WeffcRCMozGDJGs5557zk2cONE99thj7ptvvsnKFCBnyF7Lli1dz549xbBmaFgUvWEYufnoo4/cHXfc4caPHy8KGZ2kMoUuUiWM0YzTShMXSpx1yJ/KIIqbY9GT6Dhfr3EOjkOPMQsiEyj16NEj6+wWQ70VusIsTrTjMfUiFQtWCN53HKfnhWENEVpnJjjC67wIwzAWhQy//fZbiWoxNSoGtkbMfPmjslluueXEKB40aJDknuBZGIZRHRTxxx9/7CbfM9ndMOYGmRsBhzPqbNYVFDlKu3Xr1hK1Zpri9ddfX2SzvsSm0BWUOO0EhMNpJ+CFaKKBXirfJXlQoOIhfIHlwjRxBx54oEwVxzrDMGpGE3louiKhlDmUo54BXjteer9+/dyhhx7qunTpIm3vhmFUh9A5zVt47MjX559/LkYzukxlK5deU52G944TSlh95ZVXliQ8FDm5LrpPHMSu0H3w2mn4JzOdF0ASD+3kJPbwqS+CEDwJdHgLKHEqGhQ5CQg8PJWPYRiFg1jjUTz00EPunnvukVkIc3ntyB6eAoqddvaNNtrItW3bNrPVMAwfPHTkimRwQvHoNJq9WEeWPJFp5Au5Yna3NdZYQ/QaUWV0G71WiDbTBJYEiSp0hUvgudOGwHLzzTe7008/XaZ2xGpp1aqVKH6+8yK0jd0wjPqB0UxyKZ4600QieyTm+G2CgMyRrEqyKdnxZNniTRiGkRtkCwMZnYY8kZ2Os4quQ5ZGjRolOSu+XkuakmhNQgo8DG3hPGiLFi3kIVmP4mY97QckveGNmzI3jHjQ5isiYOeee65k8B533HES/ULmtJKhYiKi9tprr7mRI0dK5u4555wjhjaevWEYVUG20Fc0VdFVG72mugv9hq5D9vL1XU+CVDSn32aAlRNnG4JhGNVRGevatas7++yzJYOXAS3ITyHEToXDPnjthBXpFnfBBRe4vffeW5JRSbabN2+enMMwjOrgkIJGpNPQa6kpdK089LdhGKUB74G2vYEDB7rrr7/eTZs2TfrT4lGoh4Fs0tWGdkG6xA0bNky61IwZM0ZC+H643jCMRc4pIBu6lJqyiG1b5WAY6UGGO4qdUDveeq4RF/Ha6Zt74oknyuhzjN5oGMafoNBVl6XlpKYecgfz0A0jPcjWvemmm6SbW7SLm6KjM5511lnu2GOPlREfDcP4E/SYLmmRuodu3rlhlBYUNj1MSICjDZ0BZoYPHy4jPaLQVSYJv5PQ061bN/fPf/5TRqQ74YQTXJ8+fSQ8bxjGn5CHguzokgapeuhpP7xhNBZUxkh2mzRpkoTOGXURr5zBnwipsw+ySa8T+s4efPDB7rzzzpPJYFD4NtSyYeTH12Np6bRUFLo+LJWHJuEYhpEcjG7FxA8MNXn44YdLmzmDYtCHVuWRZDkGwDj++OPdlClT3OjRoyW83qFDB9luGEbNqLOaVti9LELuaVkzhlHpMKAMs7IxdPLdd98twzIzgQvdaoAwIQM7MSgGHvnTTz8t/dWZ8hhP3QxuwygMX1b8BLlSkoq0Yr2oIjdlbhjJwfzOF110kQxNyeAxCpUPg2GgxJlQiTGqr7rqKkt2M4wi8b3yXImlpSAVhe4rcj7VWzAMI14YklLbx4GwOu3jJMJNnz5dBpdheErax80bN4ziQY+pnDWqkDsPS+XhfxqGET86RzMyhjJHkRNWJ9GNwWVMiRtGPES9clXupSR1aU7joQ2jsYAi10W981VXXTWz1TCMOFF9xmcajmpqHjrw0Fg1abU3GEalg4xpJYOcodQNw4ifcoh2lfwOqFyibQ2m1A0jfpAzlSuVN1/BG4YRDyScRuUq17qkKblCR4HzkL4C53sa4QnDqGT8/BQ++Y3smawZRryQq4IBrbKFrPnyVypSDbkDFYxO3WgYRnwgU8iXv5icGUb8IFcodWQM0pK19IP+IfoSDMOIF79SQc7KoZ3PMBoDjUah86DRisYwjPiJhv0sV8UwkqEcZCsVhY4CVyWehhVjGI2FqKyZ8WwYyRBV6GnIWurxNx7awoCGkTymzA0jOcrBOU1Nk1K5+IthGPFDJaMVjcmZYSRH1DFNw1FN1TXWysYqGsMoDSZrhlEa0pC11GPdvgdhGEa8RCsVU+iGkQzlIFupK3SrYAwjOZAvy2w3jOTxdVlaei0Vhe636eliGEYy+BEwi4YZRjL4eg3SkLVUFLr/wFbBGEZyRA1mM54NIxn8OUogDVlLzUP3FbkpdcMwDKMh02j7ofOgaVsyhtFY8OXLjGfDSIaobKUha6klxWklE1XuhmHEB5WK3x/WFLphJEO033mjUug+VskYRjL4BjNyZsazYSRDVLbSkLWyUOiGYSRDOVQyhtEYIClOSctJTUWhRx/WPHTDSAZftlDmNm+CYSQDsqUGM59p6LXUFLopccMoDb5XbnJnGMkQNZ7TIDVzXR+eT/MaDCN5TJkbRnJElXgaSr0sNKnf9mAYRnz4SpzvaXkOhlHpIF8qb2nJWskVOg+Za2xpG2/aMOJFDWWNgCFjVDQma4YRH+i03377TeRMFTpER44rBSVX6PrA/oMuvvjiFnY3jJjJJVfIn8maYcQHMrXkkkuKXKleY91f/vKXKgq+FKQi2TykPmipH9gwGhO+fPkVjmEY8fLHH39U0W1pyFpqCh14YBYLARpGMpjBbBilQ3VaGsocUo29Udmk+fCG0ZgwOTOM5PB1WVpOamoKXR/eD1EYhhEvVCxayeinYRjJk4a8paLQ9UFVkVvI3TCSwTeW+W6yZhjJUA7dr1NT6OY1GEby+BEwkzXDSI5y6D2SasjdMIxkiYbcTe4MIxn8XiRpyVkqCt33GgzDSA5T4oZRGjCe09ZrqbahG4ZRWmyYZcNIBj8alhapeeg+puANIxmQLYuGGUZpSUunlUUbug1FaRjJEK1YTLkbRnKk7ZympkmtYjGM5KGCSbuSMYzGAHLm67U05C61NnR9WF6AVTiGkRxpVzKG0RgoByc1NYWu8N0GuzCM+CEB7ueff65S0fzyyy8mb4aRAMxumDapKPRom3k5vAjDqCR++OEHd8stt7gXXnhBZoHCcOZzxowZbuzYsaLYDcOIjyWWWCLzbZG3nkZuWCoK3accwhSGUUl89dVXbs8993TDhw93c+bMyXZVwzN/55133DHHHOP23Xdf980338h6wzDqT7Q5K43mrdQUOtaLvxiGUX++/fZbN3ToUDd16lRR2NHwOpXMd9995x599FF30UUXuYULF2a2GIZRH5AtdJk6qY1GoUe98rjb9DhfEi8zqbZHQqFJ0NDOm9SgJ0n83yhfv//+e+ZXfNS37D777LOizH/77bcaz0Pb+pQpU9zs2bMza4qjoZWxJP5n0JBkgnKRVP2YxHl5B0m837jfLTKnui2tkPti4T8g/v9ALdCGN2TIEPfTTz9JAaANvUWLFvIC+M4/j5fNtlwvhYITNQrYV1+iX4Hrvmz3H9X/DnqMv17Pp9fyv4OeF/j0tyms97f5++h6FQS+6/ZCzsfi76fr9DuwXc+vv310P/CP0c/o9ujxiu6n7zsfbNNFfwPvVgWMMsB1WPR8uh/oekXvk3P431mA36z30d9s0/ej+4O/Xs+p69kv132BnpdnybUtei7/HHpO3cf/zmf0/vR8/rP++OOPsvjvJx+852WXXdYts8wysj9yp8fp+bgO6LX0N596D5DrUxd/P/2u6/0FdJv/jvW7HqPwXffPtc2Hc+j++um/I34r+t3fH/ju/9ZP0PX+OtBj/ON8dL1/vH7n/rhvfiv6W/eNou8sF/42fXZ+U1a1vgU+uQ5twvo9mufk3wOLf5/+NoXr6TXB/87+eh3/nMCn7qvn12vpMboe+M7+/jrwz8kxProv74Btej32ZxuLfudT71N/L7nkknIMckfEi/XI1c033+x23313OVepSEWh33777aLQ9eENw6g/WskYhpEuGMko9AEDBmTWlIaqpkoJoMKpS9iL/UtRSZXqOpWMvsPoeyzFe8113cZGY39+o+Gg8hpdKgn0XKmfKRUP/dZbb5XEHbrOcHk8i1zUdmt6nH98MY8TPSbf/Si6vaZ7LxS9dn3PEyXXe4j7GrnQd5LrnfrPqvtBrn2j5NvHP09t1OUYvR775dq/tu01oceAf54oui0fuY7xm6tqg+MJH+pSjtT0Xmt6d7ko5J3ECfcVvWaudflgv0KerS776ad+z3VcIeeLbs93Pl2fj0Luuxii19Xr1HY/cYGHPmbMmMYRcn/rrbfctGnTqrRV5CsI+sl2/7t+Ro9lH/+8+uk/pv9dyXVu/9Pf7q/zfyv8jp4Pcl1X23u0Qo2eK9cxoNf1t+tvXTi3npfffI8eA7rO/wQ9Rr8r2tYE0fP55/Hx1+W6Duj9sj66Ldf5wD+PfxywTRfOy6LnYT//WN1H91ei+ymqNKNti+zHwrNEj/HP419DYZ2u94/lu7+/fx7gOwvXfP75590dd9whSW+5ruFD3sr+++/vunXrVu05FL22fz3QdVoW8m2P3kN0P/D30+9+2fX/bwr76TvWY/xPRdcBnxg8/v1Gj81FvvX+MdxLrrKg6H7R6+k+ua7BOVmv7wFq2j+K7uN/6jn5BP8eo9/93z663t/OOVmix+l60PW6n8L36DrQ9ZQxvut7iO7nX6NQ2N8vP7ouH9FrKv4xug/3u/TSS7utt97ade7cWdaVilQUumEYyYCxfMABB7hXXnlFKpZ8kPDUu3dv8SI6dOiQWWsYRkPmT9PPMIwGT9euXd2gQYNcq1at8nrdrG/fvr3s165du8xawzAaOuahG0aF8euvv7oHHnjAXXnllW7mzJnSm4TwIiHLpk2buh49eshocX369JEuN4ZhVAam0A2jQmGcB0aEu/baa2UAme7du7sjjjhCQu1NmjTJ7GUYRqVgCt0wGgHqoRuGUbmYQjcMwzCMCsBMdsMwDMOoAEyhG4ZhGEYFYArdMAzDMCoAU+iGYRiGUQGYQjcMwzCMCsAUumEYhmFUAKbQDcMwDKPB49z/B6XekdGGAZSWAAAAAElFTkSuQmCC"/>
          <p:cNvSpPr>
            <a:spLocks noChangeAspect="1" noChangeArrowheads="1"/>
          </p:cNvSpPr>
          <p:nvPr/>
        </p:nvSpPr>
        <p:spPr bwMode="auto">
          <a:xfrm>
            <a:off x="123825" y="-136525"/>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data:image/png;base64,iVBORw0KGgoAAAANSUhEUgAAAfQAAAEQCAYAAABGA4YeAAAAAXNSR0IArs4c6QAAAARnQU1BAACxjwv8YQUAAAAJcEhZcwAADsMAAA7DAcdvqGQAAGLsSURBVHhe7Z0JvFXj+vhfPy4qkiZKUpQ5hIsoQ4QIyXCFENeQIWNldq95SOTiGjKTiopryDxVhshQZMp4TSUzGe9//df3aT/be9bZ+5x99llrr332eb6fzzp77zWvdd7nfYb3ed93sSDEGYZhGIbRoPm/zKdhGIZhGA0YU+iGYRiGUQGYQjcMwzCMCsAUumEYhmFUAKbQDcMwDKMCMIVuGIZhGBWAKXTDMAzDqABMoRuGYRhGBWAK3TAMwzAqAFPohmEYhlEBmEI3DMMwjArAFLphGIZhVACm0A3DMAyjAjCFbhiGYRgVgCl0wzAMw6gATKEbhmEYRgVgCt0wDMMwKgBT6IZhGIZRAZhCNwzDMIwKwBS6YRiGYVQAptANwzAMowIwhW4YhmEYFYApdMMwDMOoAEyhG4ZhGEYFYArdMAzDMCoAU+iGYRiGUQGYQjcMwzCMCsAUumEYhmFUAKbQDcMwDKMCMIVuGIZhGBWAKXTDMAzDqAAWC0Iy3w0jLxSTxRZbLPOr7vz666/u22+/dT/++KP7448/XLNmzVzz5s3dsssuW6/zGkZdqG85Thqtjutzjz///LP74Ycf3E8//STnadq0qcjZ0ksvbbJW4ZiHXsH8/vvvItTvvvuue+mll9yHH34ov+vCb7/95s466yy36qqrukmTJsm6//f//p98FgIKfMSIEa5jx46uQ4cOrmvXrm6ttdZynTp1cu3bt3ebbLKJe+aZZ+ScZlsaSVOXslsXkJMFCxa4119/3b366qvu888/F/mrC99//70bOHCg22WXXURm68p///tft8cee4hssayxxhqyILudO3d2gwYNch9//LHsa7JWmZhCr0AQ1jlz5rjjjjtOhLl79+5uq622ct26dRPBPuSQQ9wrr7xSUOXGPt99951UVr/88ousK6Qy4DgU9U477eRGjx7tvvnmG/HI119/fdejRw9R7uzz8ssvux133NENHTpUDA7DSJK4PdT//e9/7vnnnxdlufrqq7vNN9/cbbPNNmK0rrnmmu6CCy5wX3zxRWbvmuFcyMlXX30lBgIUImscd++994oyf+CBB8SIbt26tdtss83cX//6V7f88stLdGz8+PFuvfXWc5deeqn7+uuvM0cbFUVYYIwKI6xAgn79+gVNmzYNlltuuaB3797BGWecEYTWf9C2bdugSZMmQc+ePYNPPvkkc0R+fv755+DEE08M2rRpE9xxxx2yLvQ85LMmQoMhCCuU4C9/+UvQokWL4Lzzzguee+654P333w8+/fTTYNasWUFYCQVhhRMsueSSst/gwYOD0HjInMEw4uePP/7IfIuHZ599Vsr5sssuG4TGcjBkyJAgVJjB3/72t6B9+/bBCiusEBxwwAFBaAxnjshPqMiDPn36BFtssUXwxhtvZNbWTGgUB//5z3+CddZZJ2jWrFnQpUsXkdNXX31V5AwZRxZvv/32IFTmImutWrUKrr766iA0BDJnMSoFU+gVyNixY0WJhl5wMG7cuKzgIvyPPfZY0KlTpyC02oMzzzxT1tUECn3YsGFVFHroPchnPqg0MSAwKKjQbrnllryVx/fffx8cdNBBotBbtmwZTJo0KbPFMOInToX+66+/igxhJPft2zd48803M1sCKe+TJ08O1lhjjaBjx45Z2akJFPoOO+wQbLXVVsGcOXNkXW3yOW/evGDPPfcMlllmmaBXr17B22+/ndlSnXfeeUeMD5T6WmutJccalYWF3CuI8P8poborr7xSwnAHH3yw23333WUb4W22b7311u6oo45yoVC7Rx55RMLprM8H20hi43ycm3ZBvnM+PmkrpM2QEH7oDcj29957z4WGhOwTeiourHDyhjrDikiaBlZbbTVp3ycsSAJdTfdkGMUSV8id8knYOjSQJeHssMMOk/wQLbdcJ/S23fbbby/l+cknn5Qmq5rKNXKGzITGreyn+/LJttDjljb6UGlL0hv7ct4ZM2ZIWB25Ro7yEXrvLjRAXGiAiNxeddVVdW7nN8obU+gVBJUIAjp37lwXeuiizKkcWK/L//3f/7nevXtLJYSCpmJgfT784zACllhiCVn4TYW23377uf79+4tSZv3iiy/uHn/8cRda/3IPJMQ1adIk7zVYT9v+scce65Zaain3wgsvSMVX0z0ZRrHEVa44D+WU9u6VVlpJ8kKQCT0/n2SV02ZNuWZfZLOm63M8qIz550KmMRpImrv11ltFzlg/ffp0aTPnOn379pX1+WB/jIwDDzxQrvXQQw+JoWBUDqbQK5DtttvO7brrrpJFjhBHF6xzvAYqjeWWWy5zVM1wnFYyVAZUMHjfL774olt55ZXd2LFj3YorrijbpkyZIpXXOuusk72HmuAYIgd463jpGAOGkQQ1ech1BWOZcou8YbxGyznXQuGjzIH9a0KPx9D2vfPXXnvNHXTQQW7mzJlugw02cKeccop0RWN/5BBDG4OCpNPaQIbZl26jGAJk1huVgyn0CgNBve2229y//vUvyXSNQrcVss4RZLJyUaK1QaWC0mUBQupDhgwR74BM2muuuUa8FGBfQoCw6aabymchYAxQ4VGZWba7kRSEqeOCMv/vf//bnX766aJUo7zzzjvu/vvvFy+YrHc89ZpAdjC0MQC4T34jY0cffbT76KOPJJOe5jSVWbaTQc956clSKG3atBFPnv7qX375ZWatUQmYQq9AULxY71GPAUWMpU93MjxzLH1V0vngHFQceNxUMnjP++yzj5xj7bXXdhMmTBBPXGFf2tZ9A6AQqBCpZDhePRrDiBvKV5yonPmyxjUwagmP413TJ5z27ag8RlHZYeE7sjZ8+HBpN6f57Oyzz64WUdMQe11C53jpnJ9jrA29sjCFXuEguCTTjBkzRvp700ZNX/QLL7xQPPRCoNJA+Glz23vvvaWCWWGFFdztt98uyTg+KHFC8FRe9IUvlPnz54vHwPHt2rXLrDWMhgMGL0YziWe77babfKcf+PXXX19Q05YaBiSqMogTbd1vvvmm23jjjd3ll18uuSg+7NuyZUuRcRLlCoUxJVDkGNE0FRiVgyn0CobwHRUDiWskrX322WfS7n3HHXe4vfbaSyz1QkCZo2xR4IQA+U1bd74BM7gelQWVEUl3hfDWW2/JNTiOdnfDaEiQIHrFFVeIwXvZZZeJkiUUjzKvSzicJqf333/fnX/++e7pp58WOUPBM+BMLmjWwuCeNWuWyHshEL5HodM8FzXIjYaNKfQKhQrgxBNPlK5rjGSFR42Xft1117kNN9ywYGXuQ1sdSTm0wdEGf+ihh0plEwWFTvs9ngAjV1G51QSVy6hRo6RCYiQ5U+hGQ4GyTZIpoy+eccYZ0m7OqIyPPvqoO/nkk2WkxtpC7bmgnZwub7TTExHDIM/VFIX3TlSLaNjs2bMza/PDOagHMMrJeDcPvbIwhV6B4C1QAdx8881igdN1jFA7bXp1VeRUWCwo83333VeSfO677z5pF6Tf+bnnnlutokGZ0/ectsCrr75a9ssH56abG5UWIcX999+/qArQMApB25zjAkWKV05/9HXXXdeNHDlS8kroilkMyBkGLfMnTJw40Z133nmuVatWkrPy4IMPVkvqQ6FvtNFG0qzGGA4LFy7MbKkOsnbLLbdIBACjHIPcqCxMoVcgDOqC4mUACQT4tNNOy5nxXih4AHST6dWrl2SjU1nhkVD53H333W7q1KmZPReB0UD7H+2HtO2h1POFA2k7xzunew/daZiYwjCSoi6JmrVBExERL5qWCH3j+dJXnFB2MWDIYnCg0OkOR68Pup8yNjyhdzLqo2Owk29CFjxyiQHwn//8J7OlOnQxRRYxtAcPHiwDzRiVhSn0CoNKBq+ZiuuSSy5xW265pVQM6mlHl0KgouEc2jUHRU62fM+ePSW0j9Hgt5XjRVBZ4GXwSds7lRFKWyHMTgYw4XkMgi222EK605E8VOh9GUaakEPCpCgM0oTM0esDojJWl/KMMcyANBpJ4Nwnn3KyjAD3xhtvuBtuuEHC5QrnZkIYEvE4jmgcip0+5grt8s8++6w74YQT3AcffCCTuNAUh1zX5d6M8mfxf4RkvhsVAKFr+oVTMaB4CbWTXPPUU09J2G7atGmiQFnwLKiEahrwAsVLeyDtc/369ctWWlQ0tMsz9CRhR8Ll9Emnbf3iiy+W9bQnovDpV861CQfi5XNvJPEcfvjh0r5PxULokP3ZjwqIYTQNo5xBrohQqWJEaVJ+WY98kUDKbxba2elVUlPIn6YrkliROWRNo2qt27QWrx/ZZXAZZnFDPjCQ6ZeObDN1KkmvJLwhe8xmyOhx3BsDPR1xxBEi7xjl5KlQT9C1DjnGuzcqhLAgGhUEsyqFijwIPXRZwgokCBVo9lOX0JoPNtpoo2DBggWZI3MTevzB0KFDZZKV8ePHy7rQA89+hp6JTKoSVlZBWNkEoQcQNG/ePHtN7iGsVOT3jjvuGIQKXo596KGH5JxsY9F7DSuu4KSTTpJ9DKOcOf3006W8+rKmi8pZaCzL7IZ77bVXEHrNmSNzgyxuu+22MslKqHxlncoakxiFBrBMwtK/f3+ZUXHu3LlBqIxF3rkO10WWQqUdhH5adkKkkSNHyj3498m9tWjRIrjxxhtlH6MyWIw/Gd1uVAAPP/ywhAFpJ9NkNax0/TeHwizfQ8GWDNzjjz9e2sfzgbdAsg2eASNVkSFPSJ3jgWQcuusQ4iO8TxieoA/X4Lrsy3fuB++eec/x5vEQrr32WmkbZDthRDxzsnt33nlnN2DAADm/YZQrN910k7RLU4Yp5ypbLAoyQKSMfBLySrTZKhecB1niGNq4iYCpHPGJx09+TKiM5Vx41uecc47IDfuAXpv5FZAj1jN+BMchY/794Z1zHSJrRmVgCr2CQYlSycQNFUhNFVOxUOFQWRlGQ8M3cuMkCZnQKl+NAKNysKS4CiYJZQ5UXklgtqXRUElCmScFityUeWViCt2oM0lVBn72rmEY5kUbdcMUulE2mIduJI2VMaOSMYVu1BmrFA3DMMoPU+hG2WDhRSNpzBg1KhlT6EbZYArdSBpL6DQqGVPoRtlglaKRNFbGjErGFHoZ0JAqGR0oJk5Ph/PRZz7u8xp/Yu91UTmjJ0US7yKp6FJD6g5npI+VljKg0AqmlAov33WoYBj7Pa6KRq9Dn/k4z2sYUVC6lK9CyhiyxlIoddnXp7brxGkoFHuPRsPBas8yoFAl/corr7ixY8dmfiUHM6cxOxoTreQizkrmoosukglkwNrQk4MyZhV64UqNaUiZ5KRQin23TJhy1113ZX4lB9MX33nnne7bb7/NrDEqEVPoZUAhlQGhQmY9YyY1ZjBLEhQs46y/9957mTVViUvxzp07V67z2GOP2aAyRkkoRNaYxYwpgZmqlOmIkwIji7I/atSovMZzXCDLI0eOdG+99VZmjVGJmEIvAwpRkFjY7777rkxVSmWTlLdFWzbXYDpGJorIFT2IQ6Fz/8zN/PXXX8vkL19++WViz2QYSiHhdsri+++/L9OhshRCMTLBxEdMGYyXfvXVV+cs/3HIBDLMdZC3Cy+8UIxnk7XKxBR6GVBIZfDqq6/KvMaEwydOnOg+/vjjzJZ4YT7lq666SmZPe+CBB2S+8ihxKHRCf2PGjBEP6O2333b33HOPVTIJwv8sjv9bQ6e2d0AZRM6Yw3/evHkSetdZC+MGw5mZ0BYuXOjuuOMOkb0kWLBggfvXv/4lssZsjDQlYLgblYcp9DKgkElUCJfhzaoHre3OcXP77be7zz77TK6D0iXEnwQYKEw9yXVYLrnkEgu7J4gp80XU9h4ogxjMKFlmFZw8ebL77rvvMlvzU8z7HT16tBgNlH+U+dSpUzNb4uX+++93s2fPlmdjIT+m0Lwdo2FhCr0MqK0ywKJ+6aWXpIIBvPRp06ZJyC5OaGfjWlRmQEVDRRB3NIDKhEqGygzwijAinnnmGfltGElRm6yhzJEDyj7lFO/26aefzmyNDyJfGOXaRs8n62ha86mvIfb5559L7g15NzyPht/JXzEqD1PoZc5PP/0kme1+GzOVzSOPPCLr4gQj4fXXX89eh89PPvlEjIk4IZxJqNGvvHgmQp3RCs0wSgVK7/rrr5fIlMoARvNtt90Wa3Ic56KJiTwV9ZT5RP7mz58vv+MCo+G5554T+QI1nmfOnJl9RqNyMIVe5qDQUaq+N44gEqKLOxxOBaPeuUK48d577401HI5Cp/L0KxS+k4BE4p8RP9a/v3YwkJEBjYQBipZyiQEaF8gY8usbCZR/IgM33nhjZs0i6qt0NfHUhwjfhAkTzHiuQEzKy5wHH3xQLOyoYFPpkFQWVzcUFCnniwo5lj0hO+4hDgizn3rqqVLJRBU6FVqcFadhRMkXwka54p0Too6WS7qU4aXTnS0OaNbCG4/KNMl39GB54403MmvqB01l3Hc0qQ+Znj59unv88ccza4xKwRR6mYMXTsZ5LggN3n333Zlf9eO0006TcJ+GABUqHa5DAk8c4O1jPETb/7kOngvboxWdYcRFvrKFMUkzVjRCBSjA1157TbqXxUE+4wDZ08z6OMBAIRKQK7pGnXLppZdmfhmVgin0Mua+++6T0eEQdDyLZZdd1rVs2dItscQSsh2lOGPGjHq3u7388svSnUW986ZNm7p27dq5pZdeWkK1XId9SJCDYhUu90lXOB1EY6mllnIrr7yya968uVyHipNwvHkORlJoW3IUIkModVhyySVdp06dXMeOHWU4YmSPiFKhfdJr4qmnnsomuFLm27Rp4zp37izX5DrIIO3b9ZVpkt54JsLroLKGbHMd3gORgKR6yxjpYAq9TMErPuOMM7LWNQJ/2GGHSbey9u3bS2WAokfJ1sdzoAKh3Y6QI4qaCmyLLbZw48aNc+uvv750qWP9F198IUlr3E+xCp2wPaFG7pvzUpHRlrfffvtJhcN5eW6SAJPq+2sYUfCW6cqlBi1GM90oL7vsMteqVStRgOSy0PSUL1pWCJzjnHPOyeaPYDDvv//+ItMY0CprRAPq05SGssYZYHAcvnPerl27ikxvs802WVkjPwaZjkbLjIaLKfQyIBrmBjJR/fa8tm3buoEDB7o+ffq43XbbTRQ829inPmF3Khm8YvVclltuOTd06FC3+eabu7333lsqHa5DZUcokHa5XPdbCAwgQ4XI+bh/KrONNtpInqd169ayDyFPhsPMNaCNYdQXlScfFB9yhAxgKPfq1UuWLbfc0m244Yai0DFkGTuhPuOuk3RHFADvnHOutNJKbt9993WbbLKJ23PPPbOy9umnn9brOhjDGARqfCyzzDKSt8J19tlnH7f88svLc3IfRMx4fqMyMIVeBkQVJMqTdja8VVDhZ8HaRhEilIB1jaJlsJliIDlGlSfXwTtZffXV5TqHHHKIhB0RfioaurQRMixGoZM9TD6AGg5UMmussYY0H2y11Vbur3/9q0QHuA7hxkmTJomxYRQP75pQMREcmmao5LU/cmMl+uw0/5x99tlZL5Uy2KVLF2neQsZ22mkn+Y5soCBJWtPxE+oC50emtfsp5Z4QuMr04MGD5Tfr2ZdkWELiuQyQ2qCZjnwAjBDuG2O5W7ducp0BAwaIkYKXDhjZTzzxhHw3Gj6m0MuAaCVDeJtRo1T5IXyEpVdYYQX5vdpqq4lnq4qWwS8YC7oYmIFJLXmus+OOO0p4DmjbxoPAmwbC8oTDcyXZ1AYTXWi7IBXLBhts4DbbbDP5zXUxHogOUAHhOTCYR1JDYTYG+J/SlHLwwQe7vn37um233VaUE+8ZpeR3mWrM0J49a9YskTXKHgp2hx12cE2aNBH54r2haCmzKFoSOovJ8UBGOU7D+i1atBBvecUVV5TfGM5EBJA16gMUP0lrxcgaMorRQd2A18//f5111pFtPBcyjeEOlAMMDaNCCP/pRsosXLgw820RN998cxAKXBBWMEFosQdrrrlmEFY4ma2LOPfcc4NQWGWfsOIJQgUffPDBB5mthRF6bUG7du3keJZVVlklCCu4zNZFvPbaa0GHDh2y12nfvn0QVkyZrYXBfa233nryLJwjVNzBqFGjgrDiyuwRyPNtsskmQVihybXCCi8IjYDMVqMuhMoj2HrrrYPQs5T3zfvUhd+s32WXXYLQe88c0XgIDZ3MtyAIlVlwxhlnBE2bNpV3w+fAgQOrlEu+77XXXkGzZs1kH8rnkUceGYSefWaPwpg4cWLQtm3b7Dl69epVTaZDA0z24X8UGhBBaFgHoZee2VoYb731VtCpU6fs/z00/kXOfd5///0g9NKz+4SGexA6EJmtRkPGPPQyIBSqzLdFo1XhbWt2Khb1sGHDxFvw6devnwsVbdZLp22bjNWot58PLHMdHx64B7xzwuA+eCfbbbddNpGGZgBGuSrUc8DzYTxsBrjg3rhfkuHCSrLKc7OedkRC8UBbOtfBWzcKh//PoYceKk0peOn8z3z4zXr6QjMXfa5uWo0FyiRJYdqmjTz94x//qFIu+R4qcImO4aVT7mmiqstwyMgyk6NoExqRLxJcozJNMirhfsLuyArt+nVp4sL753+q3jn3S7QhdAgyeywC73zTTTcV7x2oC6hztNnBaLikqtApdIUW1rrAOaMVWRygnJLAPy9t4YSmVfnR9hV6W5mtf7LuuutK6Ezb96gsyGzVSqM2uAYj0KliRpESAgw9EfmtEBrs37+/hAa5HyoNsn21C1ttsD9JN6qY6TZzzDHHSFZvFAyKtddeW56H+6KbEGO+15ckyhjlq5hwaG3Ut+zSk0AnvYnin5dKnHbaQv+P+UhKJpJ4t+DfLzkFhMKBUPfOO+/sVl11Vfntg6IlGRXjmndIlzDGSygUDAdySPTayC7njEJTGoYubffIAP8jyr/eY21gnHMtFDPHI7u0mUdlGlknDE9vGeBdY9hQbuoD76Y+ZTcfyEQSMpzEOSGp8xbCYuE/IP7/QC3QfWLEiBHiKVDwWPzb0HW58Pf3LVxdzzqtFHU/Rdcp+l3387cBvzmfbgfdzz9Gt0Gu80S36yf7IeQIIELFffObLFW+Y2EjkIzghuKOggDTDQUjgOPwImg/Y11NsO+1117r/vnPf0pbHfeBd4ICpQ0xCv+nv/3tb+LVcW9UbCeddJI7/fTTJYmoJuhTSxIfE0LwzNwj/WPpEhcFb/H888+XtkMMAZ6fBB4MCLyamsCQweshkYh7xMvherrwf2Txf/uwLvrJwruJCqhfxqLoMf55lOg24Luu99Hf0W36nU/uwVd87IsSINFLr6GfPnoO3hHvFSML2Ff3968JrI+u8+9Fie6jsF4XH13nX9f/HpU/xV/HJ4uu00/drudRWdPtlDe8Z9bxHi6++GKJbuSCnBbyEchSp1zST50oCL1PaoJrnHjiiTI9qtZ3yAMee64yjUxjWCA3/G/JK+FY8h9qgrJAPgxyqTJNtI0s9lVWWSWz1yJ4dhJO//73v0v0jOfnmY466ijx8DVhLh/kERx99NFyr8ipypK+e84VlS/Q/wn3yn6KlmOO0X18+L/puYFP3U+/qzyyAL8V3U/xjwfdHr0O6D56fn+b3q9+AvtxHurrK664QgynkhLeSMm56aabpE0qfBHShhPnUsw5o8fwu1SLf11/YRttzbSr1QRtgKHFLceEghiE3nRmS35C5SdthezPcbTFDx8+PLM1N3fffbe0n+t9hwo5+PjjjzNb83PWWWcFocch16ENvab7CwUhCI2KoGPHjtn3QFs67Y+1wT60HWo7fUNa9Flzbcu3+Mfo91wLIh5dcu0XXaLXqWmb/m4oi/8sLKECkvI8e/bsTGmqzvz580VmQgNWzkH9NWzYsMzW/MyaNSsIvXEpl1wrVOLB+PHjM1tzc8EFF4jMcB2ut9tuu2W25CdU0EFojEgegN7fmWeemdmam1DZZ2Va3wHt67UxcuRIyfHhGI7Nt7C9tn3iXKL/1zQX6q17770388ZKR8lD7uE1s5YQS9wUc87oMXpvpVjygfdEW/Mee+yRWVMdjqe/uN+FDS+brF3fQvXh3TO4Cwv7h4IgXjPt9Pnuh/WE/f3BL7DSCe/6HqIP16ebGx6A5gMQ+qNve757CwVBwpF4P+r5a3svn7nuj3W0NdJvl7ZDv2w1lEXJtS3fovjf4yR6HZ9c99CQliiUtR49ekh3zXwQvqZnBl415RTPlNEVabbKdU6gmYk2cGSFMo9M06RUk7fNfvT+0AFt+E1uDIPN5JMbrs92IgbcF8cRaRsyZEjee2M9dYcOUsVvxqMgPwAZygX7ENJHppFH7od1+Ra217ZPnEuS1PUa+k5LTckVOoUNAeLTB0XBS+BTFwSgHBbuVxf9TZubfup3/3e+Rfdj4Vz+c+sn61HSl19+eY2hZt4hbez04eY4ChDKk5B29P0qKOBRo0ZJuxz7kxiD4NNXNd8xrKeCIRFPk9aorKjQ8h2DIDOWtA5aw7NRUdEWyfdccD+Equha5VdoGCgarswFFR79rKnMgPPzDnnfPJ8uhBLzLdH/U65F/2fRpZD/e77FP1bPVegSvQ8tQ3XBL3P+4t9jdNFr57oH//50e65zlGqJ3iPP6i+so6ydcMIJsn8+OI/fhY2ySvfSmiZSoekD5ceIbIDsMAKdylAu+H+stdZabuONN85eB5nGqM0HMk0XRYwL5IVnIr+G5oCaZBojhUGdtMkF+alp7nfOzfgQNJ+pIa+yFl30/x/9fxSz+OfT77VdJ9d6PU63Rffxf/vbo9f3Fy1DvAf/XfOd9aUmlTZ0hjpEidCOw4NTwGm74Vb8lxJ9SbluVbfrNn6jQPjkeIie16embVEo0HpO/xi++/emv3Odl/W6L5+cE+GgYIAeyzvZfffdaxR+4Fnp483kKrRpcX8oeQQPTzcK7e0kuWnWOR4xlQH92msDxXn44YdnE6nw7CdOnCjeTRS8ZtroaP/m+XgODJQDDzww+6xR2A8hQHmToKfHUvFw7KBBgzJ7/gnbGaKT8kMPAZTz4MGDxZviXbDwnFo55qOQbf4+nFPPy/8s1/86H/muxXqWXOfT9fpd0e/6yf+IHJVChs7FaKQ9lyxov/zpZ657UPR+/LIbJXo85FqXC8p1sRVi9D51AW0v9sGIJHJEhV0TGLHIGTktKGvOQxmnt4gqRZ9nnnlGyiJGLeUQz5w+3zUZ6cCzU0fSHo5M884w2mlLz5W0x/mRDf73/D+Q+1tvvdX17Nkzs0d+kGVyAxgFD8iloS1ex4jw4V5OPvlkOTfvglya4447LttGr2VCFyXX/1z/H7pNj80FzwT5yhlEj/XPr9/Bvw7vOdc5cx3jf/ro+TjXhRdemI3YUGcx3sMuu+yS2bNEhBcvOWFhlXbfsJBLG1GXLl0yW4xioH2Pfui8S94p7WdXXXVVEFZemT0WEQqhtPvRjhcWQmnXGzBggPRbLoRQ0Uo7XWjBynX43G+//ar1ow8VXTBhwoQg9GbkOqHQSPv23LlzM3vkJvQQMt+CIPTu5T61jNBHPaxQMlv/JDQcgm222SZ7T7TtzZw5M7O18UG/5dCYkXfOu8+38L769esXfPrpp5kjjUL473//K/UVZY33yNgNjNUQVuiZPRZBmzb916nn2I+2bdrGQ+WU2aNmkEnGbtD/Y2h0BNdcc0216yDT559/fraPO/tvtdVWwZdffpnZo2aQuWOOOSZbd4QGcRAq+GoyDQ8//HCw9tpry3VU1mqT6cYEYwvo/4sciMmTJ2e2lI6Sh9yV8KGzn4RDjeJhxqaDDjoo2z2F0BnDwUa7sNHdRtujAc+EjHhCjoXA+YkaqIeB5cxIW2rdK6zHuybbFvCauQ7dcmoCj1fBu2DEOsoH1i/3TvgyCs0LDG3KNfHounfvXq0vfWOCZ6cs0ITC+1A588ETxavCOyfKYhQOHiyZy7xDIOyeqw83bdF0A6PXAf8D2qrxesMKP7NHzSCTRxxxRLZuJFuecRk0H0Vh3HfyYYhOAfv37t07OzdCbRBepqscn8BzcD5mV/RBNlmPBwqULcanqE2mGxOhkZOVt1C3ymepSU2h6wPzqSEVo3h23XXXKu3OhNJISlN4z6r8+E7FQvguVxi7Jug/S590rZjoz47w+8qYNm+dxYlCTmXG5BB1gYRAurZpxUmFRoVCqFOhMmV8eK3MMDR4nlzhz8YC/xeas8hfoGLnXfhKnd/090cJYZwVqmCMP8HY1DJG6JnJhGjCUjCY6T6KbCBrhKZJKs0Vxq4JuqwSulWZRq58mQZkAoMaoxclixF87LHHZrYWBu315AYgq9wvRkI04ZV+9NQfaqBQ15x11lmZrQYgSyprfPpyVypSU+g+FEajfqBkyVpFqBFKlBxJa3wHKp4rr7xSBBLwzmkPo59rXUBpYjyoRc/5EH5NSON6tLOTdEclxH5UTIxVXRtUKApePcdxnwgKZQRjhPZChTYqPHcMB56bdnOS7tIQpHKCd07b3fjx4+V9qKfOe9x+++2ljR3vSv+HRt3A0PTbsolE0V6usoY8YNCSx0CZRjbpt13XSCReNjKtRhcRNwaa0esgX0z7yvSvgCxjONdVpnVcCTVSkGUMBa0ruB5jVpCtr5EwvPpc7fmNGb/e0f9RqUlFofvenBEPeLIku2HRAwqcxDidhY0ZmDTblkqGxDmmUyyGAw44IJtwhzJl0A0qNNBRsdS6xzvHO1FPuyaiipisYoaopEKjzFChUFHynYRKZorCcweS7lBiND8Yi6Bi998HFTFKggrcKB4UGUOq8j6BMkhzEImgQHSMBDJASRKir6lLXD6QU1+mUbR0z9QmLka6Y6AbZA0ZQZ5zJagWAsMuM4GLGs8odJrNgO6g1B/a00SbHTC6jdxQR6Wh51JvQ4e0rJlKgvfJNKR4Dwgl75TQGVm1WPB0l0EgWU9FQZit2PZTwnN4z3gcnA8PhdHd8MrxCmnnozBzT7TVYjxElXUufA8dOP8pp5ySHQqT81KhEWonzE87JQYF21BUhJgLMRwaE9H3od6eUTy8U6JQlEvKLAqQcDhjQGA0o9zVoMXQJBpSjBFFueZYeqCoUYvRgExzHbLrNR8GWSETvliDlkgYo0Gql875qTP4ZCpWZA5Z5z4waKhnCpHpxgTvhyX6vZSkptDTfvBKhHYt2pA1lIrnwJjTtJfiQVPJIISEzfF8i7WwOY4uOHjfnA/PgaEq6TqmbedAEh2VERZ9IeSqIKg48NSpRLl/vPJzzjlHxq1nelUqOe4Ho4EueEZ1eK/IWBoeQ6VCExK5CipDGM1050KZ6zzmKHsGeMF4LhYMVZIXUbj8Hwnj02ZPtzY8aCJxgBePrBQr09wrzTOaUIqRQnSP4UsJ8xPu55moW+gnn2suhsZOWeiy8AZKTljws1M7hhW1TPFnxMO8efOCsBLIdqvhM7Sq5ZMlFMggFFwZ/rVYQoUtx2+22WZVrsP/Uq/Fdeh2Q7eyQgkrkcy3PwmVeDB69GgZBlevw7nDiku+c73OnTsH06ZNyxxh+NAliffFu+Mz9CwzWxonlKe4CL3yIFTYWRmg/IeecvY3Zfa8886TrmXFgkyE3rHUkZR1zrvEEktIdziux7VCr1qmw62PTEPoAASHHHKInFdljXM3adJEvnPd1VdfXbruGdUJHY/s/wj9NmnSpMyW0pGah66ED29hwBhhdCiS1kKhlN/h/1g8Mz5ZCAEWkwznw/k4nna0UEnIOs6NB63XIsRItxsSguoDZQMvn1AiZYVzEwHAM+E77Zh48KHxkDnC8OEdKby/xk6cUQqak2i3Vlmj/BOt4p3zrolMMXSzbi8GPGWaxuhdEirV7DpySLge4L0z0l19ZBqQWXpA0JQAPAeJcUQF+I73z+Q1hUbcGht+2eJ9xVnWCiV1hQ5+pWPUH7qtIHTRChzlSDsbS33Q/xeZu/T7jlZYXJduZ4WMVOWTT+Gg0Gkfz9UOSfNBr169sm1/Rs2YUo8PjGMUNmHx6HvF0KX9W0dRKxaVNaYcxjiOXgfZQ56RkThAoXO+XDJNM0OuqZyNRWBoKWnptFQUOpamFkxT5vFDX1QyvtV7VrCwGeISi74+qKfQsmVLN3ToUKnYfPjfUsGg1OtCtLJSSPjJNd4890FbHoaDRXlyk++dNla07MYB50Jp00but13zzmnTJp+FshsHtFvnUqYYsozHXl+ZVpBlTfjz4Vl5TuoWIzd+2eJ7GnVSKgrdV+JW4cQPnixh9+hczQhpfRJ0FP9/xghwnNNfR0EmSS2q6OsDfcz9/u+A0JBxa/1ha4b/jb80ZvxKNw4Ih2Mk6+iJQPnv0qVLLF6z/r9IMKULm6+42UZTVLHdT/NBeJ+kWX1XXAfDBBmsb1i/sZCWnKWi0BV96LiFzHCiUAmRqZXIJ5npcVjYvuWJJ7LhhhtmQ3T8T6nkmFwlbuj761ecXPviiy/O/DLy4RvQjT0ilkRFu+WWW1YZPRGD+qijjpLv9cW/XxR3dAY1IgRxe80YDdGwO014zOBm5CfaZp6GrKWqSfWB00geqHS0XzYhOSoA7dKWqx26rvgVCqFGKjQNh2PJM6pUEmOEk/hGtxquQ+VJdx4LAdaO/r8auzJPCpQdw7pS9imXKF7yOuLAd3a4zs477yxRKv6nyDJKNg6Z9kGRM0CNDiXN9YYPH17vBNdKR+UM+O7/LhWpu8ZUMqbQk4ER3WhjRqkTRosj3J4LKi+ULRUakQGGhUwCKhS8dIwIvlO5GTUTrVTSqGQaA4TdMWKJINEMFZdBG/1/MbQro86hZAnpk5SaBAw5q0NJMyokzV1GzfCu9P/FZxqR59QUuu8tWMg9GRjUgpm3GNmNrmpxJehEoa38+OOPFyXL9eJsO/fBc6AdEU8FIyIpA6WSMK+8NDCoEZEqFDmjKFK5x0FUodNmfuCBB0pb9plnnplY7w68fuY6J/GVEeTw1o2aQY/p/ystnZaaJvUtGat0kkEVIIqPhJYkIbxPGz3jQScJ2b5UaGuuuWaV9nSjdsxwTg4UHl3Y+CQhLknwlvHOibolCc0I1B82xkPdiRpipSIVCfctGVPmycE7Vu/cT3BJAtoO6VqWtOFA2SG8efDBB6cmNA0VZM3eWTJQLskMZ/azuLzzfNCMdu655yYWcVN4Jsa0iCsfoNLxDWbkzP9dKlJR6FQsviK3NvRkoEDR3WXttdfOrEkWrhNXf9iaIBGOsLtRO1GDOY1KpjFABU5iaCnmE0Cmk2o7j0IkrNgJXxobfu8fykMaxnPJpZsKhhF1otaMP8qOYRj1RyfJiWKyZhjxwpC/yJUqcvScDplbSkqu0HlYlLn/oLwI37oxDKP+0MwSNZyRO5M1w4gXet5ElTfyh8yVklTib9GHLPVDG0ZjAYWu8lVqb8EwGhNqPCNnyJxvTJeKVBQ6+JVL0kkkhtFYieanmPFsGMmgA/4An2nIWmoK3X9wwzCSIdq8ZQmohpEMOp2t6rQ0ImKpKXTDMJLH9xT4tLC7YSSDbyynJWupKHT/QflulYxhJA9ypsrdMIx4QaGrPksrEpaKQo9WKmkkDxhGYyBqMJtCN4xkURlLQ9ZS0aRqySjWL9YwDMNoyKDXVImn5aSWhYduGEYyIGu+x2CyZxjJEJW1NEhFofveOVglYxjJYNEvwygN5dB0nMod8OC+Erc2dMNIhqixbMazYSSDNiUjY1GntVSk7qGn+fCG0dhIK/vWMCod1WOq1NPAXGPDqGA0GqYVjBnPhpEM5SBbZaHQ07JmDKPS0TCgLiZrhpEMftOxylupSS3krg+b1oMbRmMABW7yZRjJ4zdnpSVzqXvoVuEYRnIgX+aVG0by+B56WjKXmofuYxWOYSQPFY4Zz4aRDGo8+0upSUWha6KOksaDG0ZjwFfgfPe9CMMw4qMcZKsspNu8BsNIhqixbMazYSSL6rNG46EbhlEa8Bo0ImbeuWEkB6My+s5pGmM+pCLhVC66gA12YRjJ48ucYRjx4uu1tKLOJVfoKO8//vhDvvPQ+uA25rRhxAty5lcs+t0MaMOID+Tq119/zcoXn8jY77//XnJZK7lCJ+y3xBJLZH79yeKLL575ZhhGHCBnLL5nriF4wzDiAdlaaqmlsjIGfEf2Si1rqUg2FgyLX9EYhhE/v/zyS1bOMJrNOzeMZPBlKy29lopC52F9y8U8BsOIj4ULF7qZM2e6a6+91s2YMUNCf74RbRhGciBjKHfkrdSkptBBKxnDMOrPTz/95J544gl33HHHuT333NMNHz7cvfzyy1Xa8sx4NoxkSVOnlYV0m1I3jOJAdn744Qf31FNPuX79+rl99tnH3Xzzze6jjz6S9Shz+Mtf/uLatm3rWrRoIb8Nw4gXX4+lpdNSUeg8rD4w3npaD28YDRUNq1988cVus802c/3793fTp093CxYsyPYioc28efPmrnv37u744493kyZNEq/dMIz48cPsvo4rJWXhoVu7nmEUxvfffy9h9KOOOsodeOCB7uyzz3Zvv/22eOMocmRpySWXdO3atXMDBw50V199tRs3bpw766yz3HrrreeWXnrpzJkMw6g0UvPQlbQsGcNoKKCov/rqKzd58mS31VZbud69e7vbbrvNvfnmm5LFjvzgjTdp0sR16NDB9enTx913333uuuuuc/vuu6/r0qWLKXLDSBjfMU1Lp6XqofMCWKwrjWFUhyS3Dz/80F1++eVujz32cAcddJB7/fXXxRtXmUGRt2nTxvXt21eS4chsnzBhgttwww1NiRtGCWnUCl2VuS6GYfzJCy+8IEocb5tw+bRp00SR++NFk7G+0korueuvv96NGTNG9ttxxx3FUzcMo7RgZKs+QzbTUOqpKXT/YU2hG0ZVVlhhBdezZ0+37LLLSuWQz/BlyMmXXnrJzZ8/PzWvwDCMP5uPdUlDr6Wi0HlQf6hXU+iGUZVOnTq5k08+2d15553uwgsvdJtssolbZpllpPuZygve+pdffulGjx7tBg0a5EaMGOGmTp0qGfCGYZQWX6elRWoKXT9NmRtGbhgLeo011pCMdhT1Y4895v7+979LBruO0Y5SJ/P9tddek4x2BpTZZptt3I033uh+/PHHzJkMw0ga1Wdp6rTUFLouhBNt9CrDqBlk5K9//askyN19993usMMOc6uvvrpr2rRptr2ObHg8dvqnkyC38847S6Y73dpIsDMMIzl0/AfVa2mw+D9CMt8Tgwf95JNP3OzZs92TTz7p7r//fuly89tvv2XbG9q3b+++/vprSSygH60fWjQMYxGE9eiaRtc1EuboW468oMh1CkcWZOvTTz+VEeRYGNMd2VpllVVkf8MwigcZI0l17ty5ksPy4IMPukcffdR9++23VXqgIIc0gaHgSVZNWtEvFt5Y7Jk0PAThvjfeeEO60DCwBWFBzdCNXlItGj4JJZIItPXWW0u7IKNctWrVqtr0dIZhLAKDmTHczz33XDdnzpwqsqZohbLxxhu7U0891fXo0UN+l0O7n2GUOyhpxnyYN2+ee/75593YsWPlEz3n6zVV5ugqFuQL5xQjevnll5fBnnbddVeJrjVr1ky2xUmsCv27775zzz33nHv88cfdlClTZDxpXgIPWZfL6IugwmH8abwRFHyvXr3EOzEMozpULkTA8MhffPFFaVfHO6DCAeQKxb7ccsu5LbbYQrLoUewoeeuzbhjVQW+9//77IldPP/20dB/VaFihek0dUT5R4CS3otB32GEH0W0bdN/ALdNsGdmnvsSi0DnFlIemuMtGXeZeffVVUexRD6FYVLnjtfMS9t9/f7fffvvZJBOGkQciZIT+HnnkEWlzf+utt7KGtYJiJ+rVunVraZtnjHcUe9IhQcNoKNAV9JprrnETJ04U51SN46heQ0ep0lZ0n3w6EJ2G/DEo1OZbbO6OO/Y4kcP6Ui+FTqiPsPpVV10liTqE+vxKg4ekgiDcQL9aFioQEnmwVHgoLs9CJUSbBCEN2v74zjr1LoD9sW4233xzyfxlGEzCFoZh5AbjGtmkjY+8FSom9S5ADeaWLVtKKJAR5xhljpyWuMOBhtEQQPc8/PDDbtSoUeKgam4KqE5DNnAqGdgJncZ3FDRNxqr00Y8///yz++abb9znn3/uvvjiCzGsdTpjNQQ4F5FompgPOOAAt9pqq4lMFkPRCp0bvemmm9y///1v984778jN+w/Ng3Xs2FEybWkHp/sNv/XBfU+A43hIMnEJZ7z33nuSbEDo8JlnnpEXrNNAagXEefDWjzzySHkBrDcMIzcodoaRfeihh9z48ePFa8dgjnrtGNtEwki4+9vf/ua6detWdOViGA0JZIGhlen+ybwJJGn7DiWKl+YqHEqaq9Zee22ZJwGFru3hyBDH6CfGANEyksLfffddOf8999zjPvvsM9Ghen70F3oRYxpndffddy+uGQyFXlfmz58fbLPNNkHoLQfhjQfhzWSX8KGC9dZbL7jrrruC8EGCUNFnjqob4csNQmsmCL2K4Oijjw5CSygIPf0q1wofONhkk02C1157LXOUYRg1EVYgIr+XXnqpyGlYQQWhwq4iVyxh5RJ06tQpOOmkk4LQS8kcbRiVyxNPPBGsu+66UvZ9vYZOa9++fTB06NBgzpw5QaikRY6KAX0YGtfBxIkTgy233DJo3rx5Ffnje5s2bYJDDz00CD37zFGFUyeFjpJ9+eWXg+233z4IPfDsTfDw3BhKPvTYg9D6CELrXx6aY4qFYzkHL/D5558Pjj322GCVVVaRF67X5j5C7z+YMGFCsHDhwsyRhmHkA7n6/fffg3nz5gWhJxIccMABQehpBE2aNKlSuSDXyNeyyy4rlc8111wThF6GHGsYlQKO5xVXXBGsuOKKWb1G2UfPrLzyysFxxx0XvPTSS+JgopBr02m1bUenIUOff/55cP311we9e/cWGVMjgk9+I5fvvfde5qjCKFihc5Mo86233rqKQsV66dixo7yQTz75JLN3Mvz000/B008/Hey+++7ines98E9Ya621gttuuy2zp2EYhfLjjz8Gzz77bHDEEUcELVu2zOmxI2N489ttt50Y7VRGhtGQUcV62WWXiTLXco9CXX755YP9998/mDp1avDzzz9njiiMunrvH330UXDxxRcHbdu2rWJQEAHfaaedgrfffjuzZ+0UpNBVmW+66aZVhJ0QeLdu3YLZs2dn9iwNX331VbDXXntVCfnz2a5du+Cee+4pOsxvGI0RKrUFCxYEDz/8cLDqqqtmKxV/Qb4w5Gn6wlunPjCMhgwO4pgxY4LWrVtn9Qj6DeV+4oknSmi8GIqNYM2YMSNYe+21qzQt4zATEUfpF2IoFKTQP/7442DnnXeu4hVz0f32269O1kOcYDURAsQz1wqITyqc8ePHS8jfMIz84Jk/+OCDwemnny6eNxUbcu0bychUixYtJCx4/vnnB3PnzpWK0DAaMjTj3nDDDaIv1EmlrJNXQqS3rl65T7EKHcd51qxZwcCBA7POKkvTpk2Dgw46SJqya6NWhY7wosw5qSrzZs2aBYcddphY9WmC0ib5rnPnzlXCJSj5V155JbOXYRg+5JoQYu/fv79UaHjefuQNGWIdyTndu3cP7r77bgmxF1tRGUa58eSTTwbrrLNO1hmkzHft2jW4//776x3hrY8ziVInafXwww+XdnS9N5q7SJSrzdCoUaFzY5dcckk1ZY61UC5WOi9g7NixEir0LS3aP8yTMIxFUBGQ0HbnnXcGe+yxh3jjhPNUrlnUG8BLGTx4cDBz5kyTIaPi+OGHH6rkYaE3NLKLPqkvcUSHv/zyS9Fhmq+GbGJgo+tqMjhqVOjTpk2T7FcVeMJxZLK/8847mT3KAx5w5MiRQatWrbL3SlIDXXMs9G40ZlDktHcPGzZMuqFRifneOAsGML1U8FguuOACiW7VJ+RoGOUKofZTTz1Vkj9RksgCbeY039Y1mS0fXKO+YFiQm7bhhhtmowjcK0npNTVz16jQ8cT9kAQVAsIehxUTN19//XUwaNAguU+tqNZff30LvRuNEozc6dOnS/Io3offNq4LHjpWP+3nU6ZMkWRTSyg1KhlC7TTRoteQB8LaGLvkk8RFXE4kehb91aFDh6wRTuj9tNNOy+xRnbwK/eFHHpZkGBV+vF+SCMoZLBr6qWvFRfPAGWecIf0HDaPSwTN4//33RU6JrFH+o0qcioGwOl1NMdip4OKszAyjXKG/OU1JlH/kgHEX8Hjr2te7NuLONbn88suzEQUMEdr6X3zxxczWquRU6IxQ06dPn6xVwIkGDBggjfXlDCGT6667Tv5RWnnhpTPanGFUKhisr7/+unS16dGjh2TIquzqQkWAN9KzZ0/pd0tSnClyozFBn3KizMgG8sB3ujnHHXGOO8pFL7N+/fplo2w0j5Eg99PC6vktORX6Aw88IBaBVgZUBOPGjctsLRwqGm6GPnSF9unj5WJJYTx8//33dX7ZhDvoYqMVGl7KiBEjyrKZwDCKhfJMWSfPZeONN5acEULouTxywnRkqxNWR6YMo7GBvAwZMiSbZIaXzkhsdYXzMMLif//7X+lGlkuv5FLoJOIx8BpLMfkpJLMy8AzyzMLoqDSpRak2VyJTxDHTDDOnQfjwMq3iNttsI7/rAhNA7LTTTjLBw1lnnSXnrg0mZ9ljjz3kGCZeCR8+s6UwQsvLDR48WCaTh9CocP/5z39caFjIb8OIg1B2ZMIg5ISJF95++y2ZpIhZlShzSfHrr7/KxA5MjLT33nvLDGnMe87kK2FFIveFzIYVlkzHeMQRR7grrrhCplJl/uXQOM+cyTAaD2+//bbMOIiMIB8rrrii6Jm6Eipwd9FFF4ls9ejRQ+ZKj8L5ff73v/+5kSNHus0228xtuummbubMmZkthbPjjju6DTbYQGYu5R5Cg8I99thj8jw+1RQ6CvWFF16QgyC0+t3xxx+fVZB1YeWVV5YZaVDkXLwQpcp0dVSMVEwbbbSRa9KkSWZLYfAyeXFrrbWWzBLFeahkJ02alNnDqCSYkpDZjPg/1wWU8LBhw9w555wjs47VlQ8++MCdeOKJUikMGDBAlCvLXnvt5QYOHChCz7SJccJUxcccc4zMgsa177//frmGKvLQOxd56dq1q0xpfNttt7mLL75YpmRkRqhoRWMYjQWmENZ6AjlBOTKzWV1Bp/Tv31/041dffSUzs0WJyhn7odfQrejEzp07Z7YUDrOLHnTQQfLJ+THsmTmRmUh9qil0vGqsDh6cA9u1a+e23377oqZQ5OK8OLxmKtBc1owPlgyVEF4Pc6dTcRVTCfHS8PCxZgAvH6vop59+kt9GZcC8+Uwz+M9//tP9+OOPmbWFgSA8+eSTbvr06dkpDAsBrxxFuu2227prrrnGPf3001Kuf/75F/GSUboI2tlnny2CjyCrcVxXuC+M4eeff94NGTJE5PCWW25xzz77rMgI26mcll56aakktthiC3faaaeJQX7ggQfKNKh46obRmMHonTFjhugB9Bp6AWWOjikGHEZ0DIb0o48+KoaCT1RnoVPffPNNWc+0q23atMlsqRtbbbWVzL+OzPMcRB2iOrWaQp82bVo2NM4NoFSXWmqpohQrFybkjndPGBIrqSYII8yaNUsqQML8xb5wDAg8pebNm8tvKj7mWMeoMCoDvGqMPwSlrsocKJsINmUF4SgEyuWUKVPccccdJ1GfNddc0/3jH/9w1157rbvrrrvcHXfc4a688kp3yCGHiDH7yiuvuEMPPVRkqq589NFH4mXjiRNWv/HGGyUagUHB/bJgZFM54LXfcMMNbsKECe7UU0+VOZsNw1jEhx9+KMa/Gu7oI/QSsl8MRK3Ri9QheN0vvvhiZktu5syZI3Ort2zZUowBji8GmstQ6lpnoadpSvOpotCpLLA4cOeBC2+yySbyvdBKL8o666zjOnToINbMfffdV82a8XnggQdE6eJVEL7khRUDxgfhel6gWjOESOfOnZvZw2ioYBhinOGJXnLJJVKoEdRiyicKsS5ljLJ7+eWXizLHwr/++uvdySefLGH39ddf322++eZuv/32c5deeqm79dZb3aqrrirNRyh6vPe6gAf+8ssvu4kTJ8p1NaweBaNk3XXXlba5Yg1gw6hUkBkUKs29GOTIO3KCMV4faD9HTyHXzzzzjOjOXHB99BrRAbxrFHKxIOvUMzjYwDVxJPwIYJXaDA8Ai0N36NSpk+vSpYt8L8ZDB6wJKl/CglS+JNzlAi+LsAj70Aa43nrrZbbUHe51mWWWkUQ+rgu80Pnz58t3o2FC+SCs3L17d/GEESbKql+gC4Uykk+ZI4Scm/JCuE7Pj3J9/fXXXfv27d2FF14oRmOucyBwCO5RRx0lUaInnnhCwuB1gSYjPH887379+kmIj/Zxv+kLQ4YEuRNOOEHa7TGY+R1NlDGMxorKiCaqohT79OlT59ysKORoYUQja7NnzxYPPBc4H0QRuW6vXr0kl6VY0KVrrLGGGAZAvUT7vN+OXqU2wotFoaonQLsc2YD1hfZGKkEsirFjx2YjAD7vvvuuhCiBSrtVq1byvRiorFmILvAigWvzfEbDhTJBqIzkkL///e/ZxEcNpdUVykjU6+U3IXKywwmX014NVAh45ByDF04Zrcm7R/h22203acfGWKUpqa5gGOyyyy6S0Y7ckMC35ZZbSuhNr82zI9Q0BfBe9t9/fzdixAjxGopJ9jOMSgL5IKKmRi71BTJUXwjb0yxMFBsjP19+GHKLU4Bhf/jhh2fWFgd1Dzlt6GS+A3lhfvJtlRoJa0ItGQ7Amoijm0uzZs0kQYhKCKVK+2AUGvhpQ8ejxjvXsEJ9ILqAQqeSxprh+YyGy2qrrSZKjW5Y//rXv8QrRaAoV1HFXBvsj8JDIHwPnwS0o48+Wnpl4CX37dtXzk/YG0sYmUDJUjGoUOWD9m08a86PFV8stIkTzscTJ3w3ZswYsdTxMlSxY7Ai2E899ZS8H3JIMEhIyOH6dX0/hlEJoMhR6CrjyC31CNQmvzWB3O25556i2DHY/XZ0lTWazWjC5h5oesa4ry/UBb5BH408V1HoKFouzoNyAG0E6uHW5+E5VtscSE7Ae9CH1k88DCrY+rYz+NCGroYB/1Dz0CsLDT/Xp2xiwVMGWfDMaRMnfIZSJyFNBQdlyXeUaKFdOLXc84mHrmW9PmDwoqynTp3q/v3vf4tXTk8S7kvfA89E09n48ePddttt5w4++GB33XXXiVGRr63PMCoR9BkKD9lDfomcFSq/tYFRTZs2TvDkyZNFufq89NJL4qSigImc1RfkG/n3FTrPR4ROqaLQtf2NAzlAvZ84IDxB2zgPT8WikQDAkiFbj5dOBURYIQ78NkfObW3olYUqMP3MRy5FyjGUDTX46IpGmzcG5ymnnCLesC/4KEI1buuCnoPyHodCVzBW6V8+evRoN27cOHfuuedKoo/fNoiBjEzffvvt7qSTTnKDBg1yZ5xxhjRvGUZjAEeO6JrKHgrdl5H6gH4cOnSoOKok3WmTMaBH6RJLLg7JscX0ec+F3r+v19CfSlZbswELQ8NzusQFbehUOJz/8ccfz1pNLNrpnzZS2hniMiI4j/88cVeqRrqglFmiZTa65AIvlvJOrwo8WQZPQpnTf5tuZ9GmJhQz6xBUv4KoCfYhw5ZjOLY2w6MYaM4ilMf947VjjJCsR9MAwq/vh6YFDOnLLrtMkoJQ7CTqEXng/gyjEqHsI+sKOiEu/QK0x+OAorjpRqvXIsrHCI7IIFE6enrVF63vcCz0Gfhd5fkynzkrKF6GVpZxQHiQCghl/txzz8mNUNHQHso1yBokES+O63EOvCqt1EAVvFE/4ioP9UX/l9wPSknLam0L++n+5FUQXqe5iWRN2ttyJZOhkLHEsYaxxP3z5YPzsC/lnPb4mvaNA4wOFDpDHd96661iHOMdEIVABrg+MkEYkBHkyJ4nfE9/d96DyYZRaSB7Wv8D35GBuGQR/UJODefFeKceQY5o3sWAxpvGwNbeVvWBe+Z5ovfu/84qdJQdg2Fwg6AHc6P+CykWzs8oOR07dhQlfvPNN8t56fRPex9WB4lzPHgc19NzqPfBb7qyaajCKJ44/j9xoFYqCovyw/+WdbkW7lkXflPONPRG+JpxzjkPSSwYm1FIRtl6661FJuj7ifJHRmp6F3j8LJyXY7luknAvvAM8BsZ+pp8+XdlIjiNCxjtiH+6bSo22N5Lo6FZKRv6oUaNEHg2jUqDMk2Huy75+jwPC7jiiGPsYxXjlyBcjk5IsR6SM7mpx6B29b2TX12u+sVClhkHZqkIHKi090LcCioWHJ9GICo7sWywYkgmoWAhJMEBGnJCVzMMrVGpG5UCZZCnGs0QQKOs08+DVoqRJXEEIL7jggmrzDrA/gx0hoCS43XnnnVXKVhS2MX8Abdh4yfSdLzUIOs1cZL1jpGBEE25nYA2NXPHu6KpKX1nC8FQ+NDug6JHLOOTeMNICRYrBziflHYMcGY8TEuOYs4Tz0oWNcDs9UdCdhNvj6PoNyCL1ijaNA8+EI65UUeiEu30rnhuMZu7VF21zoO2ORB48Il4ySXM6iE1cUJlqpYtlpt0VjMpAlQ3ltRgwMGl/pl853vrw4cNl7AKSxlCC0YkPMDqZiAVBZfYk2qzzKTxC7YS+8eyZNTCOLiv1gd4j++yzj4xaR2VDlz+61fnyjgGPzJBTwNCW5BKQUGczFRoNFQzXtm3bZss4zWA0q0E+2a0rnJ+eJpyP7q7IPSF3IgPIfrH1UxTOr/3OVaHr8ylVFDpZ6Fj1HMgBPDgHxwmVCJNMoGjxzhm4A2VLRUpIPA64fxasJQwSvnONuA0GozwoxkNXKHNEjABDk0xw8jzwrvFSfVB+JJ/RNx3ZoE/8ggULMlsXQVmjL/vgwYOlrZpw97777ivHpolWKkQkdt55ZxmsholjGMoWL55nRka4fyo9msHI/GeAHbx2ur7ZOA5GQwPPnIgUn5Rt9A56IU5QqvRJJ88GfcbcCugd9E19h5iNQtRs3rx5VRQ6UUOlWsjdz8ZFgOO2zqk8GaBewwRcC0ummLlp88E/Dq8f71+7x/HgcWQaGuWHhtPqCgrMh3MQkkaB4Z0zmxoZ7UDzEEO/3nvvvTIXMgqadjL219HkKHcYqYSsaYvGcqZtjW5lDAiTK9kuLXh2QoEobIamPf/88+W5Uez6Lqk0tCcAnjrbjz32WBlHgqxewyh3qPc1fwT5JArFvOjohzihuZjQO3LFNaiTyMuJ1jH1AXlkRDrychTkdfnl84TcUbLclHoTeOdMLhEnVBZ444ygxcMSEWA2qbjaGYB/HN4R9054lGvimZhCr0wQ2rpCGUHBRgWbEDl5HpRHJkdhGFX2YQhHlN9hhx0moXnayTAWUXaaRIfAofhZxzYUPh49xzELGuGycgQPhogCyprnj1ZCvCvkCK8dxY7yzzXao2GUG5RlmlrVi6Uc0xxGWY4THFWasdBn6BvqD/ScGsdxQD2Ek61NgZwb52KppfIkxbED465rCJKHZwQ3BJolLogEMBY2iQRkCFJBxvng3Ct93dWL4Nw0J1jIvbLQsQ1oH8YirgsYrRiVGHnRYxkjnsxvupphETMsMddiPUM4MjQxA0XQHYXFb8OiSYl1lGsS4TiGhfJXjOGRJBggRCCYMIkBMhgfny6lUSNHw3ok+BCloB2+PpMnGUYpIX8FWUfOKfMoc8ZgiFOnAZOBIfPUETipccsInj8TVGleGDlA5LpU0Z3hQ1XhpZdeClZdddUg3EmWZZZZJgitgiA8SWaP+AhfbhBWHplf8bFgwYJgl112CcJKW56hSZMmQVhhJfIMRuOEshsavJlfDYvffvst+OCDD4LRo0cHoRcRNG/ePAiVdhB6M1m553ezZs2C0OAJjjnmmOCRRx4Jvv/++8wZDKPh8MsvvwSHHnqolGct26HxGnzzzTeZPeIlKT3z6quvBqEDE4SGichq6GSIbvapFuDHe8ayCB9cftOlhcSZqNUeB1wjGt6LAzr4v/HGG1lLhryA+kxobxhRKLt1jQqkSSjr8klCEOPVkxhHdz3GmyaEh3yzD/JIoiBRBaZvxXtnEBpyBZAjw2hoEHGmvJPPAnjpTKaS1BDISdULEyZMyCbEcQ16jNFc5lNNmzLaFElrGnZHyBmalX7jDQEe9qGHHsomDqDECbkQ4jeMxgaKmsxYBphhxjYGuGEuefqdaw8QjBPCd+SZoLhR5CS+0Z2PZjF/4ArDaIgQDu/UqVPWqaMpDT2RBOoMxwnNfnSH0z70dLNlEjM1UpRqCp0Hxpv1B2GhQiC7t5yydPOB1eUP+kEG/ZAhQ2LrEmcYDQEM27lz58rkLXQ5Y9hl2t9I5lPZUG8cpT1s2DDJ6ifpjeQef7AKw2jooAcOGnyQKEKMWIxZeqSQPF3ukGCLTiPZVr1znFQmMqtmPIQPV43woOD444/PtkGzdO7cOZg9e3Zmj/KEtsHQapE2Bu6Zz+233z4IK7HMHoZR+cyZMyfYdtttg44dOwahBV+lbZyF3+SVhIo8GDNmTPD555832HwAwygU8kbIGVH9QO5IaOiWfW7VCy+8ILJK2z/33rJly+Ciiy4SPR0lZwN2+LDSdYchK/kOhLAvvPDCsu1/itfBbDe0jWDFAM0HTD6BdWYYlQphdX8gGEJxhMzxPvywOqFzuvDsvvvuMswr/c8ZDY4uNlj9hlHJEHWm7JMLQnSKbqTIAKHsJHLE4oDJoIiyMa4Feo2mMTLpiTaobq7CIr2em8svv1wsfKwZlvBFBCeffHIQVhKZPcqHZ599VqwYvdfwwYMddthBvA/DqFTmzp0bDB8+POjbt2+wwgorBEsttVQVjxyLnp4qXbt2DUKDPJg+fbpFrIxGy0cffRRstNFGQWjcipygJ/DaiWrFRS7PuRjQs0ceeWSVKNvKK68cTJ48ObNHdWpU6ChDlCKuvlYQoTUfTJgwIbabjoNvv/022GmnnaQy4x55eB58xowZmT0MozJA7mhaorsKirx169ZV5FMXFDkGOF1QQy88CL31spJZw0iLqVOnioGLMkdWaFqmiSqubplxyBlNYDfddFOw/PLLZ2Ua/XbUUUfVeJ81KnR46qmnpL8blYZaNBtuuGHw+OOPl0UFgcU1aNAgqby4PxY8EtoYDKOS+Oyzz0TITzrpJDFYaQdXy52F7wg9njr9bDG8P/7448zRhmEo55xzjhjDqjOQm8MPP1xkrL7UVy9y/IMPPhist9562fZ+9G737t2DWbNmZfbKTa0KHUth3LhxQdu2bbMnR7mTcIPr/78EBoYpFF7+PvvsIwqce9N/zJ577hl88cUXmb0Mo2FDWb700kuDnj17isWOR+Ercso+yh1FPnDgQIlM/fjjj6nKpmGUM5988kmw1157VWlSJkkOpf7dd99l9io9qm/XWmutbFI6so4Bf99999Uq07UqdCDEd/bZZ4tFow/PwkVuuOGGYOHChZk9SwNZiYxoR0a7H2bnn0Ol9/bbb1tlZjRoCKtNmzZN5Ktbt27BcsstlzWodaHMUwn16dNH9nvzzTczRxuGURuMvIa+UB3CgjwNGDAgeOONN0re8+OHH34IrrzyyqBTp05ZWecTPXvjjTfKiHe1UZBCh/nz5wdnnnlm0KJFiyreAb8ZVvXdd98tSQieRAHCjrQN+hUcw/rxjyjVfRhGktBVZdddd5XIGOE2X+Z00UjZPffcU5aJqoZRzuCootR79+5dxRtGwZMod9ddd8k+SYO+wgmlfVxzYrgPPtu1axdcccUVBUfcClbowMNdcsklVRrqWXgZ66+/fo3Zd3GAsiabt1WrVlUqODIW+/XrV21cW8NoqOAdfPXVV2K8Ilt+s5KWe75T9tdZZ51gxIgR1qPDMOoAipQFpU77tDZlsfCdBPDddtst+PDDDzNHJMPtt98uUTjNvEe2MeJXWWUV2VaXfvKL/yMk04OtVsIKxW2wwQbyGb4Emf0lPIf0j9N+sExNx+hTLKGlI8eFN5i7z1wNcM7QIpF+7wxTed1117mTTjpJprRkfHngnFyHeWcvu+wy6TdvGJVAKNgyqhXy1r9/fxlTgXWA3CEbyB6fCxYskKlameKV8SJYF1YIcjzH1FX2DKMxoHqJ8dAZF53hzZltMDSmRYbQM0xXil5D5tA1jOUQes6ZM/xJITKmupIxU7744gsZK4J5Fa6++mqRW67LeUJjQsaLYMrlfffdt05zkCyGVs98LwhuiMkcHnnkEZm0BQWuip2bQdlT+TCFHHO1hhaOTP7OROxaIeV7eL2V3377zX322WcyBSqT0WM88AL0OsC5+EcwPzWDY7Rr184GxzAqEso8FQxDMDOc6wMPPCATNSATDAuJTIJWBsgak6swIQXTKzLhkil2w8iNytcHH3zgbrjhBnfLLbeIkcw6QHZQ5MgRg7r07dtX5kVgQCbkDbnSxYffnFsXBrJh0jDmVWBSJCZKQqZR5Gxnfwa96dWrl0xnzDWaNm1a7bw1UWeF7sNDjxgxQsZ5Z0QbbsyHF4GXgOIdMGCAvAgsD0ZuU+9dXxoPi5XCPLXjxo1zs2bNknX+OXkwzsmxvNwbb7xRJpIxjMYG4zqff/75YvAih75iV5ATZO/II4+UEbJ0coq6VBCG0dh48skn3THHHCPeOU6kD04jyh3FyxwIe+yxh9t4443dSiutJOuQLzxw9sMxJcL8zjvviAOMnkSB4/mj13xDHL3Wpk0b8cgJmhMNKIZ6KXSgInnqqafcrbfeKsPoEXqPnpIbxpLB2tCQBQ/AfjwUn7wEXh4LLyJaOXEOjmdqV4Zz3WeffcRCMozGDJGs5557zk2cONE99thj7ptvvsnKFCBnyF7Lli1dz549xbBmaFgUvWEYufnoo4/cHXfc4caPHy8KGZ2kMoUuUiWM0YzTShMXSpx1yJ/KIIqbY9GT6Dhfr3EOjkOPMQsiEyj16NEj6+wWQ70VusIsTrTjMfUiFQtWCN53HKfnhWENEVpnJjjC67wIwzAWhQy//fZbiWoxNSoGtkbMfPmjslluueXEKB40aJDknuBZGIZRHRTxxx9/7CbfM9ndMOYGmRsBhzPqbNYVFDlKu3Xr1hK1Zpri9ddfX2SzvsSm0BWUOO0EhMNpJ+CFaKKBXirfJXlQoOIhfIHlwjRxBx54oEwVxzrDMGpGE3louiKhlDmUo54BXjteer9+/dyhhx7qunTpIm3vhmFUh9A5zVt47MjX559/LkYzukxlK5deU52G944TSlh95ZVXliQ8FDm5LrpPHMSu0H3w2mn4JzOdF0ASD+3kJPbwqS+CEDwJdHgLKHEqGhQ5CQg8PJWPYRiFg1jjUTz00EPunnvukVkIc3ntyB6eAoqddvaNNtrItW3bNrPVMAwfPHTkimRwQvHoNJq9WEeWPJFp5Au5Yna3NdZYQ/QaUWV0G71WiDbTBJYEiSp0hUvgudOGwHLzzTe7008/XaZ2xGpp1aqVKH6+8yK0jd0wjPqB0UxyKZ4600QieyTm+G2CgMyRrEqyKdnxZNniTRiGkRtkCwMZnYY8kZ2Os4quQ5ZGjRolOSu+XkuakmhNQgo8DG3hPGiLFi3kIVmP4mY97QckveGNmzI3jHjQ5isiYOeee65k8B533HES/ULmtJKhYiKi9tprr7mRI0dK5u4555wjhjaevWEYVUG20Fc0VdFVG72mugv9hq5D9vL1XU+CVDSn32aAlRNnG4JhGNVRGevatas7++yzJYOXAS3ITyHEToXDPnjthBXpFnfBBRe4vffeW5JRSbabN2+enMMwjOrgkIJGpNPQa6kpdK089LdhGKUB74G2vYEDB7rrr7/eTZs2TfrT4lGoh4Fs0tWGdkG6xA0bNky61IwZM0ZC+H643jCMRc4pIBu6lJqyiG1b5WAY6UGGO4qdUDveeq4RF/Ha6Zt74oknyuhzjN5oGMafoNBVl6XlpKYecgfz0A0jPcjWvemmm6SbW7SLm6KjM5511lnu2GOPlREfDcP4E/SYLmmRuodu3rlhlBYUNj1MSICjDZ0BZoYPHy4jPaLQVSYJv5PQ061bN/fPf/5TRqQ74YQTXJ8+fSQ8bxjGn5CHguzokgapeuhpP7xhNBZUxkh2mzRpkoTOGXURr5zBnwipsw+ySa8T+s4efPDB7rzzzpPJYFD4NtSyYeTH12Np6bRUFLo+LJWHJuEYhpEcjG7FxA8MNXn44YdLmzmDYtCHVuWRZDkGwDj++OPdlClT3OjRoyW83qFDB9luGEbNqLOaVti9LELuaVkzhlHpMKAMs7IxdPLdd98twzIzgQvdaoAwIQM7MSgGHvnTTz8t/dWZ8hhP3QxuwygMX1b8BLlSkoq0Yr2oIjdlbhjJwfzOF110kQxNyeAxCpUPg2GgxJlQiTGqr7rqKkt2M4wi8b3yXImlpSAVhe4rcj7VWzAMI14YklLbx4GwOu3jJMJNnz5dBpdheErax80bN4ziQY+pnDWqkDsPS+XhfxqGET86RzMyhjJHkRNWJ9GNwWVMiRtGPES9clXupSR1aU7joQ2jsYAi10W981VXXTWz1TCMOFF9xmcajmpqHjrw0Fg1abU3GEalg4xpJYOcodQNw4ifcoh2lfwOqFyibQ2m1A0jfpAzlSuVN1/BG4YRDyScRuUq17qkKblCR4HzkL4C53sa4QnDqGT8/BQ++Y3smawZRryQq4IBrbKFrPnyVypSDbkDFYxO3WgYRnwgU8iXv5icGUb8IFcodWQM0pK19IP+IfoSDMOIF79SQc7KoZ3PMBoDjUah86DRisYwjPiJhv0sV8UwkqEcZCsVhY4CVyWehhVjGI2FqKyZ8WwYyRBV6GnIWurxNx7awoCGkTymzA0jOcrBOU1Nk1K5+IthGPFDJaMVjcmZYSRH1DFNw1FN1TXWysYqGsMoDSZrhlEa0pC11GPdvgdhGEa8RCsVU+iGkQzlIFupK3SrYAwjOZAvy2w3jOTxdVlaei0Vhe636eliGEYy+BEwi4YZRjL4eg3SkLVUFLr/wFbBGEZyRA1mM54NIxn8OUogDVlLzUP3FbkpdcMwDKMh02j7ofOgaVsyhtFY8OXLjGfDSIaobKUha6klxWklE1XuhmHEB5WK3x/WFLphJEO033mjUug+VskYRjL4BjNyZsazYSRDVLbSkLWyUOiGYSRDOVQyhtEYIClOSctJTUWhRx/WPHTDSAZftlDmNm+CYSQDsqUGM59p6LXUFLopccMoDb5XbnJnGMkQNZ7TIDVzXR+eT/MaDCN5TJkbRnJElXgaSr0sNKnf9mAYRnz4SpzvaXkOhlHpIF8qb2nJWskVOg+Za2xpG2/aMOJFDWWNgCFjVDQma4YRH+i03377TeRMFTpER44rBSVX6PrA/oMuvvjiFnY3jJjJJVfIn8maYcQHMrXkkkuKXKleY91f/vKXKgq+FKQi2TykPmipH9gwGhO+fPkVjmEY8fLHH39U0W1pyFpqCh14YBYLARpGMpjBbBilQ3VaGsocUo29Udmk+fCG0ZgwOTOM5PB1WVpOamoKXR/eD1EYhhEvVCxayeinYRjJk4a8paLQ9UFVkVvI3TCSwTeW+W6yZhjJUA7dr1NT6OY1GEby+BEwkzXDSI5y6D2SasjdMIxkiYbcTe4MIxn8XiRpyVkqCt33GgzDSA5T4oZRGjCe09ZrqbahG4ZRWmyYZcNIBj8alhapeeg+puANIxmQLYuGGUZpSUunlUUbug1FaRjJEK1YTLkbRnKk7ZympkmtYjGM5KGCSbuSMYzGAHLm67U05C61NnR9WF6AVTiGkRxpVzKG0RgoByc1NYWu8N0GuzCM+CEB7ueff65S0fzyyy8mb4aRAMxumDapKPRom3k5vAjDqCR++OEHd8stt7gXXnhBZoHCcOZzxowZbuzYsaLYDcOIjyWWWCLzbZG3nkZuWCoK3accwhSGUUl89dVXbs8993TDhw93c+bMyXZVwzN/55133DHHHOP23Xdf980338h6wzDqT7Q5K43mrdQUOtaLvxiGUX++/fZbN3ToUDd16lRR2NHwOpXMd9995x599FF30UUXuYULF2a2GIZRH5AtdJk6qY1GoUe98rjb9DhfEi8zqbZHQqFJ0NDOm9SgJ0n83yhfv//+e+ZXfNS37D777LOizH/77bcaz0Pb+pQpU9zs2bMza4qjoZWxJP5n0JBkgnKRVP2YxHl5B0m837jfLTKnui2tkPti4T8g/v9ALdCGN2TIEPfTTz9JAaANvUWLFvIC+M4/j5fNtlwvhYITNQrYV1+iX4Hrvmz3H9X/DnqMv17Pp9fyv4OeF/j0tyms97f5++h6FQS+6/ZCzsfi76fr9DuwXc+vv310P/CP0c/o9ujxiu6n7zsfbNNFfwPvVgWMMsB1WPR8uh/oekXvk3P431mA36z30d9s0/ej+4O/Xs+p69kv132BnpdnybUtei7/HHpO3cf/zmf0/vR8/rP++OOPsvjvJx+852WXXdYts8wysj9yp8fp+bgO6LX0N596D5DrUxd/P/2u6/0FdJv/jvW7HqPwXffPtc2Hc+j++um/I34r+t3fH/ju/9ZP0PX+OtBj/ON8dL1/vH7n/rhvfiv6W/eNou8sF/42fXZ+U1a1vgU+uQ5twvo9mufk3wOLf5/+NoXr6TXB/87+eh3/nMCn7qvn12vpMboe+M7+/jrwz8kxProv74Btej32ZxuLfudT71N/L7nkknIMckfEi/XI1c033+x23313OVepSEWh33777aLQ9eENw6g/WskYhpEuGMko9AEDBmTWlIaqpkoJoMKpS9iL/UtRSZXqOpWMvsPoeyzFe8113cZGY39+o+Gg8hpdKgn0XKmfKRUP/dZbb5XEHbrOcHk8i1zUdmt6nH98MY8TPSbf/Si6vaZ7LxS9dn3PEyXXe4j7GrnQd5LrnfrPqvtBrn2j5NvHP09t1OUYvR775dq/tu01oceAf54oui0fuY7xm6tqg+MJH+pSjtT0Xmt6d7ko5J3ECfcVvWaudflgv0KerS776ad+z3VcIeeLbs93Pl2fj0Luuxii19Xr1HY/cYGHPmbMmMYRcn/rrbfctGnTqrRV5CsI+sl2/7t+Ro9lH/+8+uk/pv9dyXVu/9Pf7q/zfyv8jp4Pcl1X23u0Qo2eK9cxoNf1t+tvXTi3npfffI8eA7rO/wQ9Rr8r2tYE0fP55/Hx1+W6Duj9sj66Ldf5wD+PfxywTRfOy6LnYT//WN1H91ei+ymqNKNti+zHwrNEj/HP419DYZ2u94/lu7+/fx7gOwvXfP75590dd9whSW+5ruFD3sr+++/vunXrVu05FL22fz3QdVoW8m2P3kN0P/D30+9+2fX/bwr76TvWY/xPRdcBnxg8/v1Gj81FvvX+MdxLrrKg6H7R6+k+ua7BOVmv7wFq2j+K7uN/6jn5BP8eo9/93z663t/OOVmix+l60PW6n8L36DrQ9ZQxvut7iO7nX6NQ2N8vP7ouH9FrKv4xug/3u/TSS7utt97ade7cWdaVilQUumEYyYCxfMABB7hXXnlFKpZ8kPDUu3dv8SI6dOiQWWsYRkPmT9PPMIwGT9euXd2gQYNcq1at8nrdrG/fvr3s165du8xawzAaOuahG0aF8euvv7oHHnjAXXnllW7mzJnSm4TwIiHLpk2buh49eshocX369JEuN4ZhVAam0A2jQmGcB0aEu/baa2UAme7du7sjjjhCQu1NmjTJ7GUYRqVgCt0wGgHqoRuGUbmYQjcMwzCMCsBMdsMwDMOoAEyhG4ZhGEYFYArdMAzDMCoAU+iGYRiGUQGYQjcMwzCMCsAUumEYhmFUAKbQDcMwDKPB49z/B6XekdGGAZSWAAAAAElFTkSuQmCC"/>
          <p:cNvSpPr>
            <a:spLocks noChangeAspect="1" noChangeArrowheads="1"/>
          </p:cNvSpPr>
          <p:nvPr/>
        </p:nvSpPr>
        <p:spPr bwMode="auto">
          <a:xfrm>
            <a:off x="276225" y="15875"/>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6" descr="data:image/png;base64,iVBORw0KGgoAAAANSUhEUgAAAfQAAAEQCAYAAABGA4YeAAAAAXNSR0IArs4c6QAAAARnQU1BAACxjwv8YQUAAAAJcEhZcwAADsMAAA7DAcdvqGQAAGLsSURBVHhe7Z0JvFXj+vhfPy4qkiZKUpQ5hIsoQ4QIyXCFENeQIWNldq95SOTiGjKTiopryDxVhshQZMp4TSUzGe9//df3aT/be9bZ+5x99llrr332eb6fzzp77zWvdd7nfYb3ed93sSDEGYZhGIbRoPm/zKdhGIZhGA0YU+iGYRiGUQGYQjcMwzCMCsAUumEYhmFUAKbQDcMwDKMCMIVuGIZhGBWAKXTDMAzDqABMoRuGYRhGBWAK3TAMwzAqAFPohmEYhlEBmEI3DMMwjArAFLphGIZhVACm0A3DMAyjAjCFbhiGYRgVgCl0wzAMw6gATKEbhmEYRgVgCt0wDMMwKgBT6IZhGIZRAZhCNwzDMIwKwBS6YRiGYVQAptANwzAMowIwhW4YhmEYFYApdMMwDMOoAEyhG4ZhGEYFYArdMAzDMCoAU+iGYRiGUQGYQjcMwzCMCsAUumEYhmFUAKbQDcMwDKMCMIVuGIZhGBWAKXTDMAzDqAAWC0Iy3w0jLxSTxRZbLPOr7vz666/u22+/dT/++KP7448/XLNmzVzz5s3dsssuW6/zGkZdqG85Thqtjutzjz///LP74Ycf3E8//STnadq0qcjZ0ksvbbJW4ZiHXsH8/vvvItTvvvuue+mll9yHH34ov+vCb7/95s466yy36qqrukmTJsm6//f//p98FgIKfMSIEa5jx46uQ4cOrmvXrm6ttdZynTp1cu3bt3ebbLKJe+aZZ+ScZlsaSVOXslsXkJMFCxa4119/3b366qvu888/F/mrC99//70bOHCg22WXXURm68p///tft8cee4hssayxxhqyILudO3d2gwYNch9//LHsa7JWmZhCr0AQ1jlz5rjjjjtOhLl79+5uq622ct26dRPBPuSQQ9wrr7xSUOXGPt99951UVr/88ousK6Qy4DgU9U477eRGjx7tvvnmG/HI119/fdejRw9R7uzz8ssvux133NENHTpUDA7DSJK4PdT//e9/7vnnnxdlufrqq7vNN9/cbbPNNmK0rrnmmu6CCy5wX3zxRWbvmuFcyMlXX30lBgIUImscd++994oyf+CBB8SIbt26tdtss83cX//6V7f88stLdGz8+PFuvfXWc5deeqn7+uuvM0cbFUVYYIwKI6xAgn79+gVNmzYNlltuuaB3797BGWecEYTWf9C2bdugSZMmQc+ePYNPPvkkc0R+fv755+DEE08M2rRpE9xxxx2yLvQ85LMmQoMhCCuU4C9/+UvQokWL4Lzzzguee+654P333w8+/fTTYNasWUFYCQVhhRMsueSSst/gwYOD0HjInMEw4uePP/7IfIuHZ599Vsr5sssuG4TGcjBkyJAgVJjB3/72t6B9+/bBCiusEBxwwAFBaAxnjshPqMiDPn36BFtssUXwxhtvZNbWTGgUB//5z3+CddZZJ2jWrFnQpUsXkdNXX31V5AwZRxZvv/32IFTmImutWrUKrr766iA0BDJnMSoFU+gVyNixY0WJhl5wMG7cuKzgIvyPPfZY0KlTpyC02oMzzzxT1tUECn3YsGFVFHroPchnPqg0MSAwKKjQbrnllryVx/fffx8cdNBBotBbtmwZTJo0KbPFMOInToX+66+/igxhJPft2zd48803M1sCKe+TJ08O1lhjjaBjx45Z2akJFPoOO+wQbLXVVsGcOXNkXW3yOW/evGDPPfcMlllmmaBXr17B22+/ndlSnXfeeUeMD5T6WmutJccalYWF3CuI8P8poborr7xSwnAHH3yw23333WUb4W22b7311u6oo45yoVC7Rx55RMLprM8H20hi43ycm3ZBvnM+PmkrpM2QEH7oDcj29957z4WGhOwTeiourHDyhjrDikiaBlZbbTVp3ycsSAJdTfdkGMUSV8id8knYOjSQJeHssMMOk/wQLbdcJ/S23fbbby/l+cknn5Qmq5rKNXKGzITGreyn+/LJttDjljb6UGlL0hv7ct4ZM2ZIWB25Ro7yEXrvLjRAXGiAiNxeddVVdW7nN8obU+gVBJUIAjp37lwXeuiizKkcWK/L//3f/7nevXtLJYSCpmJgfT784zACllhiCVn4TYW23377uf79+4tSZv3iiy/uHn/8cRda/3IPJMQ1adIk7zVYT9v+scce65Zaain3wgsvSMVX0z0ZRrHEVa44D+WU9u6VVlpJ8kKQCT0/n2SV02ZNuWZfZLOm63M8qIz550KmMRpImrv11ltFzlg/ffp0aTPnOn379pX1+WB/jIwDDzxQrvXQQw+JoWBUDqbQK5DtttvO7brrrpJFjhBHF6xzvAYqjeWWWy5zVM1wnFYyVAZUMHjfL774olt55ZXd2LFj3YorrijbpkyZIpXXOuusk72HmuAYIgd463jpGAOGkQQ1ech1BWOZcou8YbxGyznXQuGjzIH9a0KPx9D2vfPXXnvNHXTQQW7mzJlugw02cKeccop0RWN/5BBDG4OCpNPaQIbZl26jGAJk1huVgyn0CgNBve2229y//vUvyXSNQrcVss4RZLJyUaK1QaWC0mUBQupDhgwR74BM2muuuUa8FGBfQoCw6aabymchYAxQ4VGZWba7kRSEqeOCMv/vf//bnX766aJUo7zzzjvu/vvvFy+YrHc89ZpAdjC0MQC4T34jY0cffbT76KOPJJOe5jSVWbaTQc956clSKG3atBFPnv7qX375ZWatUQmYQq9AULxY71GPAUWMpU93MjxzLH1V0vngHFQceNxUMnjP++yzj5xj7bXXdhMmTBBPXGFf2tZ9A6AQqBCpZDhePRrDiBvKV5yonPmyxjUwagmP413TJ5z27ag8RlHZYeE7sjZ8+HBpN6f57Oyzz64WUdMQe11C53jpnJ9jrA29sjCFXuEguCTTjBkzRvp700ZNX/QLL7xQPPRCoNJA+Glz23vvvaWCWWGFFdztt98uyTg+KHFC8FRe9IUvlPnz54vHwPHt2rXLrDWMhgMGL0YziWe77babfKcf+PXXX19Q05YaBiSqMogTbd1vvvmm23jjjd3ll18uuSg+7NuyZUuRcRLlCoUxJVDkGNE0FRiVgyn0CobwHRUDiWskrX322WfS7n3HHXe4vfbaSyz1QkCZo2xR4IQA+U1bd74BM7gelQWVEUl3hfDWW2/JNTiOdnfDaEiQIHrFFVeIwXvZZZeJkiUUjzKvSzicJqf333/fnX/++e7pp58WOUPBM+BMLmjWwuCeNWuWyHshEL5HodM8FzXIjYaNKfQKhQrgxBNPlK5rjGSFR42Xft1117kNN9ywYGXuQ1sdSTm0wdEGf+ihh0plEwWFTvs9ngAjV1G51QSVy6hRo6RCYiQ5U+hGQ4GyTZIpoy+eccYZ0m7OqIyPPvqoO/nkk2WkxtpC7bmgnZwub7TTExHDIM/VFIX3TlSLaNjs2bMza/PDOagHMMrJeDcPvbIwhV6B4C1QAdx8881igdN1jFA7bXp1VeRUWCwo83333VeSfO677z5pF6Tf+bnnnlutokGZ0/ectsCrr75a9ssH56abG5UWIcX999+/qArQMApB25zjAkWKV05/9HXXXdeNHDlS8kroilkMyBkGLfMnTJw40Z133nmuVatWkrPy4IMPVkvqQ6FvtNFG0qzGGA4LFy7MbKkOsnbLLbdIBACjHIPcqCxMoVcgDOqC4mUACQT4tNNOy5nxXih4AHST6dWrl2SjU1nhkVD53H333W7q1KmZPReB0UD7H+2HtO2h1POFA2k7xzunew/daZiYwjCSoi6JmrVBExERL5qWCH3j+dJXnFB2MWDIYnCg0OkOR68Pup8yNjyhdzLqo2Owk29CFjxyiQHwn//8J7OlOnQxRRYxtAcPHiwDzRiVhSn0CoNKBq+ZiuuSSy5xW265pVQM6mlHl0KgouEc2jUHRU62fM+ePSW0j9Hgt5XjRVBZ4GXwSds7lRFKWyHMTgYw4XkMgi222EK605E8VOh9GUaakEPCpCgM0oTM0esDojJWl/KMMcyANBpJ4Nwnn3KyjAD3xhtvuBtuuEHC5QrnZkIYEvE4jmgcip0+5grt8s8++6w74YQT3AcffCCTuNAUh1zX5d6M8mfxf4RkvhsVAKFr+oVTMaB4CbWTXPPUU09J2G7atGmiQFnwLKiEahrwAsVLeyDtc/369ctWWlQ0tMsz9CRhR8Ll9Emnbf3iiy+W9bQnovDpV861CQfi5XNvJPEcfvjh0r5PxULokP3ZjwqIYTQNo5xBrohQqWJEaVJ+WY98kUDKbxba2elVUlPIn6YrkliROWRNo2qt27QWrx/ZZXAZZnFDPjCQ6ZeObDN1KkmvJLwhe8xmyOhx3BsDPR1xxBEi7xjl5KlQT9C1DjnGuzcqhLAgGhUEsyqFijwIPXRZwgokCBVo9lOX0JoPNtpoo2DBggWZI3MTevzB0KFDZZKV8ePHy7rQA89+hp6JTKoSVlZBWNkEoQcQNG/ePHtN7iGsVOT3jjvuGIQKXo596KGH5JxsY9F7DSuu4KSTTpJ9DKOcOf3006W8+rKmi8pZaCzL7IZ77bVXEHrNmSNzgyxuu+22MslKqHxlncoakxiFBrBMwtK/f3+ZUXHu3LlBqIxF3rkO10WWQqUdhH5adkKkkSNHyj3498m9tWjRIrjxxhtlH6MyWIw/Gd1uVAAPP/ywhAFpJ9NkNax0/TeHwizfQ8GWDNzjjz9e2sfzgbdAsg2eASNVkSFPSJ3jgWQcuusQ4iO8TxieoA/X4Lrsy3fuB++eec/x5vEQrr32WmkbZDthRDxzsnt33nlnN2DAADm/YZQrN910k7RLU4Yp5ypbLAoyQKSMfBLySrTZKhecB1niGNq4iYCpHPGJx09+TKiM5Vx41uecc47IDfuAXpv5FZAj1jN+BMchY/794Z1zHSJrRmVgCr2CQYlSycQNFUhNFVOxUOFQWRlGQ8M3cuMkCZnQKl+NAKNysKS4CiYJZQ5UXklgtqXRUElCmScFityUeWViCt2oM0lVBn72rmEY5kUbdcMUulE2mIduJI2VMaOSMYVu1BmrFA3DMMoPU+hG2WDhRSNpzBg1KhlT6EbZYArdSBpL6DQqGVPoRtlglaKRNFbGjErGFHoZ0JAqGR0oJk5Ph/PRZz7u8xp/Yu91UTmjJ0US7yKp6FJD6g5npI+VljKg0AqmlAov33WoYBj7Pa6KRq9Dn/k4z2sYUVC6lK9CyhiyxlIoddnXp7brxGkoFHuPRsPBas8yoFAl/corr7ixY8dmfiUHM6cxOxoTreQizkrmoosukglkwNrQk4MyZhV64UqNaUiZ5KRQin23TJhy1113ZX4lB9MX33nnne7bb7/NrDEqEVPoZUAhlQGhQmY9YyY1ZjBLEhQs46y/9957mTVViUvxzp07V67z2GOP2aAyRkkoRNaYxYwpgZmqlOmIkwIji7I/atSovMZzXCDLI0eOdG+99VZmjVGJmEIvAwpRkFjY7777rkxVSmWTlLdFWzbXYDpGJorIFT2IQ6Fz/8zN/PXXX8vkL19++WViz2QYSiHhdsri+++/L9OhshRCMTLBxEdMGYyXfvXVV+cs/3HIBDLMdZC3Cy+8UIxnk7XKxBR6GVBIZfDqq6/KvMaEwydOnOg+/vjjzJZ4YT7lq666SmZPe+CBB2S+8ihxKHRCf2PGjBEP6O2333b33HOPVTIJwv8sjv9bQ6e2d0AZRM6Yw3/evHkSetdZC+MGw5mZ0BYuXOjuuOMOkb0kWLBggfvXv/4lssZsjDQlYLgblYcp9DKgkElUCJfhzaoHre3OcXP77be7zz77TK6D0iXEnwQYKEw9yXVYLrnkEgu7J4gp80XU9h4ogxjMKFlmFZw8ebL77rvvMlvzU8z7HT16tBgNlH+U+dSpUzNb4uX+++93s2fPlmdjIT+m0Lwdo2FhCr0MqK0ywKJ+6aWXpIIBvPRp06ZJyC5OaGfjWlRmQEVDRRB3NIDKhEqGygzwijAinnnmGfltGElRm6yhzJEDyj7lFO/26aefzmyNDyJfGOXaRs8n62ha86mvIfb5559L7g15NzyPht/JXzEqD1PoZc5PP/0kme1+GzOVzSOPPCLr4gQj4fXXX89eh89PPvlEjIk4IZxJqNGvvHgmQp3RCs0wSgVK7/rrr5fIlMoARvNtt90Wa3Ic56KJiTwV9ZT5RP7mz58vv+MCo+G5554T+QI1nmfOnJl9RqNyMIVe5qDQUaq+N44gEqKLOxxOBaPeuUK48d577401HI5Cp/L0KxS+k4BE4p8RP9a/v3YwkJEBjYQBipZyiQEaF8gY8usbCZR/IgM33nhjZs0i6qt0NfHUhwjfhAkTzHiuQEzKy5wHH3xQLOyoYFPpkFQWVzcUFCnniwo5lj0hO+4hDgizn3rqqVLJRBU6FVqcFadhRMkXwka54p0Too6WS7qU4aXTnS0OaNbCG4/KNMl39GB54403MmvqB01l3Hc0qQ+Znj59unv88ccza4xKwRR6mYMXTsZ5LggN3n333Zlf9eO0006TcJ+GABUqHa5DAk8c4O1jPETb/7kOngvboxWdYcRFvrKFMUkzVjRCBSjA1157TbqXxUE+4wDZ08z6OMBAIRKQK7pGnXLppZdmfhmVgin0Mua+++6T0eEQdDyLZZdd1rVs2dItscQSsh2lOGPGjHq3u7388svSnUW986ZNm7p27dq5pZdeWkK1XId9SJCDYhUu90lXOB1EY6mllnIrr7yya968uVyHipNwvHkORlJoW3IUIkModVhyySVdp06dXMeOHWU4YmSPiFKhfdJr4qmnnsomuFLm27Rp4zp37izX5DrIIO3b9ZVpkt54JsLroLKGbHMd3gORgKR6yxjpYAq9TMErPuOMM7LWNQJ/2GGHSbey9u3bS2WAokfJ1sdzoAKh3Y6QI4qaCmyLLbZw48aNc+uvv750qWP9F198IUlr3E+xCp2wPaFG7pvzUpHRlrfffvtJhcN5eW6SAJPq+2sYUfCW6cqlBi1GM90oL7vsMteqVStRgOSy0PSUL1pWCJzjnHPOyeaPYDDvv//+ItMY0CprRAPq05SGssYZYHAcvnPerl27ikxvs802WVkjPwaZjkbLjIaLKfQyIBrmBjJR/fa8tm3buoEDB7o+ffq43XbbTRQ829inPmF3Khm8YvVclltuOTd06FC3+eabu7333lsqHa5DZUcokHa5XPdbCAwgQ4XI+bh/KrONNtpInqd169ayDyFPhsPMNaCNYdQXlScfFB9yhAxgKPfq1UuWLbfc0m244Yai0DFkGTuhPuOuk3RHFADvnHOutNJKbt9993WbbLKJ23PPPbOy9umnn9brOhjDGARqfCyzzDKSt8J19tlnH7f88svLc3IfRMx4fqMyMIVeBkQVJMqTdja8VVDhZ8HaRhEilIB1jaJlsJliIDlGlSfXwTtZffXV5TqHHHKIhB0RfioaurQRMixGoZM9TD6AGg5UMmussYY0H2y11Vbur3/9q0QHuA7hxkmTJomxYRQP75pQMREcmmao5LU/cmMl+uw0/5x99tlZL5Uy2KVLF2neQsZ22mkn+Y5soCBJWtPxE+oC50emtfsp5Z4QuMr04MGD5Tfr2ZdkWELiuQyQ2qCZjnwAjBDuG2O5W7ducp0BAwaIkYKXDhjZTzzxhHw3Gj6m0MuAaCVDeJtRo1T5IXyEpVdYYQX5vdpqq4lnq4qWwS8YC7oYmIFJLXmus+OOO0p4DmjbxoPAmwbC8oTDcyXZ1AYTXWi7IBXLBhts4DbbbDP5zXUxHogOUAHhOTCYR1JDYTYG+J/SlHLwwQe7vn37um233VaUE+8ZpeR3mWrM0J49a9YskTXKHgp2hx12cE2aNBH54r2haCmzKFoSOovJ8UBGOU7D+i1atBBvecUVV5TfGM5EBJA16gMUP0lrxcgaMorRQd2A18//f5111pFtPBcyjeEOlAMMDaNCCP/pRsosXLgw820RN998cxAKXBBWMEFosQdrrrlmEFY4ma2LOPfcc4NQWGWfsOIJQgUffPDBB5mthRF6bUG7du3keJZVVlklCCu4zNZFvPbaa0GHDh2y12nfvn0QVkyZrYXBfa233nryLJwjVNzBqFGjgrDiyuwRyPNtsskmQVihybXCCi8IjYDMVqMuhMoj2HrrrYPQs5T3zfvUhd+s32WXXYLQe88c0XgIDZ3MtyAIlVlwxhlnBE2bNpV3w+fAgQOrlEu+77XXXkGzZs1kH8rnkUceGYSefWaPwpg4cWLQtm3b7Dl69epVTaZDA0z24X8UGhBBaFgHoZee2VoYb731VtCpU6fs/z00/kXOfd5///0g9NKz+4SGexA6EJmtRkPGPPQyIBSqzLdFo1XhbWt2Khb1sGHDxFvw6devnwsVbdZLp22bjNWot58PLHMdHx64B7xzwuA+eCfbbbddNpGGZgBGuSrUc8DzYTxsBrjg3rhfkuHCSrLKc7OedkRC8UBbOtfBWzcKh//PoYceKk0peOn8z3z4zXr6QjMXfa5uWo0FyiRJYdqmjTz94x//qFIu+R4qcImO4aVT7mmiqstwyMgyk6NoExqRLxJcozJNMirhfsLuyArt+nVp4sL753+q3jn3S7QhdAgyeywC73zTTTcV7x2oC6hztNnBaLikqtApdIUW1rrAOaMVWRygnJLAPy9t4YSmVfnR9hV6W5mtf7LuuutK6Ezb96gsyGzVSqM2uAYj0KliRpESAgw9EfmtEBrs37+/hAa5HyoNsn21C1ttsD9JN6qY6TZzzDHHSFZvFAyKtddeW56H+6KbEGO+15ckyhjlq5hwaG3Ut+zSk0AnvYnin5dKnHbaQv+P+UhKJpJ4t+DfLzkFhMKBUPfOO+/sVl11Vfntg6IlGRXjmndIlzDGSygUDAdySPTayC7njEJTGoYubffIAP8jyr/eY21gnHMtFDPHI7u0mUdlGlknDE9vGeBdY9hQbuoD76Y+ZTcfyEQSMpzEOSGp8xbCYuE/IP7/QC3QfWLEiBHiKVDwWPzb0HW58Pf3LVxdzzqtFHU/Rdcp+l3387cBvzmfbgfdzz9Gt0Gu80S36yf7IeQIIELFffObLFW+Y2EjkIzghuKOggDTDQUjgOPwImg/Y11NsO+1117r/vnPf0pbHfeBd4ICpQ0xCv+nv/3tb+LVcW9UbCeddJI7/fTTJYmoJuhTSxIfE0LwzNwj/WPpEhcFb/H888+XtkMMAZ6fBB4MCLyamsCQweshkYh7xMvherrwf2Txf/uwLvrJwruJCqhfxqLoMf55lOg24Luu99Hf0W36nU/uwVd87IsSINFLr6GfPnoO3hHvFSML2Ff3968JrI+u8+9Fie6jsF4XH13nX9f/HpU/xV/HJ4uu00/drudRWdPtlDe8Z9bxHi6++GKJbuSCnBbyEchSp1zST50oCL1PaoJrnHjiiTI9qtZ3yAMee64yjUxjWCA3/G/JK+FY8h9qgrJAPgxyqTJNtI0s9lVWWSWz1yJ4dhJO//73v0v0jOfnmY466ijx8DVhLh/kERx99NFyr8ipypK+e84VlS/Q/wn3yn6KlmOO0X18+L/puYFP3U+/qzyyAL8V3U/xjwfdHr0O6D56fn+b3q9+AvtxHurrK664QgynkhLeSMm56aabpE0qfBHShhPnUsw5o8fwu1SLf11/YRttzbSr1QRtgKHFLceEghiE3nRmS35C5SdthezPcbTFDx8+PLM1N3fffbe0n+t9hwo5+PjjjzNb83PWWWcFocch16ENvab7CwUhCI2KoGPHjtn3QFs67Y+1wT60HWo7fUNa9Flzbcu3+Mfo91wLIh5dcu0XXaLXqWmb/m4oi/8sLKECkvI8e/bsTGmqzvz580VmQgNWzkH9NWzYsMzW/MyaNSsIvXEpl1wrVOLB+PHjM1tzc8EFF4jMcB2ut9tuu2W25CdU0EFojEgegN7fmWeemdmam1DZZ2Va3wHt67UxcuRIyfHhGI7Nt7C9tn3iXKL/1zQX6q17770388ZKR8lD7uE1s5YQS9wUc87oMXpvpVjygfdEW/Mee+yRWVMdjqe/uN+FDS+brF3fQvXh3TO4Cwv7h4IgXjPt9Pnuh/WE/f3BL7DSCe/6HqIP16ebGx6A5gMQ+qNve757CwVBwpF4P+r5a3svn7nuj3W0NdJvl7ZDv2w1lEXJtS3fovjf4yR6HZ9c99CQliiUtR49ekh3zXwQvqZnBl415RTPlNEVabbKdU6gmYk2cGSFMo9M06RUk7fNfvT+0AFt+E1uDIPN5JMbrs92IgbcF8cRaRsyZEjee2M9dYcOUsVvxqMgPwAZygX7ENJHppFH7od1+Ra217ZPnEuS1PUa+k5LTckVOoUNAeLTB0XBS+BTFwSgHBbuVxf9TZubfup3/3e+Rfdj4Vz+c+sn61HSl19+eY2hZt4hbez04eY4ChDKk5B29P0qKOBRo0ZJuxz7kxiD4NNXNd8xrKeCIRFPk9aorKjQ8h2DIDOWtA5aw7NRUdEWyfdccD+Equha5VdoGCgarswFFR79rKnMgPPzDnnfPJ8uhBLzLdH/U65F/2fRpZD/e77FP1bPVegSvQ8tQ3XBL3P+4t9jdNFr57oH//50e65zlGqJ3iPP6i+so6ydcMIJsn8+OI/fhY2ySvfSmiZSoekD5ceIbIDsMAKdylAu+H+stdZabuONN85eB5nGqM0HMk0XRYwL5IVnIr+G5oCaZBojhUGdtMkF+alp7nfOzfgQNJ+pIa+yFl30/x/9fxSz+OfT77VdJ9d6PU63Rffxf/vbo9f3Fy1DvAf/XfOd9aUmlTZ0hjpEidCOw4NTwGm74Vb8lxJ9SbluVbfrNn6jQPjkeIie16embVEo0HpO/xi++/emv3Odl/W6L5+cE+GgYIAeyzvZfffdaxR+4Fnp483kKrRpcX8oeQQPTzcK7e0kuWnWOR4xlQH92msDxXn44YdnE6nw7CdOnCjeTRS8ZtroaP/m+XgODJQDDzww+6xR2A8hQHmToKfHUvFw7KBBgzJ7/gnbGaKT8kMPAZTz4MGDxZviXbDwnFo55qOQbf4+nFPPy/8s1/86H/muxXqWXOfT9fpd0e/6yf+IHJVChs7FaKQ9lyxov/zpZ657UPR+/LIbJXo85FqXC8p1sRVi9D51AW0v9sGIJHJEhV0TGLHIGTktKGvOQxmnt4gqRZ9nnnlGyiJGLeUQz5w+3zUZ6cCzU0fSHo5M884w2mlLz5W0x/mRDf73/D+Q+1tvvdX17Nkzs0d+kGVyAxgFD8iloS1ex4jw4V5OPvlkOTfvglya4447LttGr2VCFyXX/1z/H7pNj80FzwT5yhlEj/XPr9/Bvw7vOdc5cx3jf/ro+TjXhRdemI3YUGcx3sMuu+yS2bNEhBcvOWFhlXbfsJBLG1GXLl0yW4xioH2Pfui8S94p7WdXXXVVEFZemT0WEQqhtPvRjhcWQmnXGzBggPRbLoRQ0Uo7XWjBynX43G+//ar1ow8VXTBhwoQg9GbkOqHQSPv23LlzM3vkJvQQMt+CIPTu5T61jNBHPaxQMlv/JDQcgm222SZ7T7TtzZw5M7O18UG/5dCYkXfOu8+38L769esXfPrpp5kjjUL473//K/UVZY33yNgNjNUQVuiZPRZBmzb916nn2I+2bdrGQ+WU2aNmkEnGbtD/Y2h0BNdcc0216yDT559/fraPO/tvtdVWwZdffpnZo2aQuWOOOSZbd4QGcRAq+GoyDQ8//HCw9tpry3VU1mqT6cYEYwvo/4sciMmTJ2e2lI6Sh9yV8KGzn4RDjeJhxqaDDjoo2z2F0BnDwUa7sNHdRtujAc+EjHhCjoXA+YkaqIeB5cxIW2rdK6zHuybbFvCauQ7dcmoCj1fBu2DEOsoH1i/3TvgyCs0LDG3KNfHounfvXq0vfWOCZ6cs0ITC+1A588ETxavCOyfKYhQOHiyZy7xDIOyeqw83bdF0A6PXAf8D2qrxesMKP7NHzSCTRxxxRLZuJFuecRk0H0Vh3HfyYYhOAfv37t07OzdCbRBepqscn8BzcD5mV/RBNlmPBwqULcanqE2mGxOhkZOVt1C3ymepSU2h6wPzqSEVo3h23XXXKu3OhNJISlN4z6r8+E7FQvguVxi7Jug/S590rZjoz47w+8qYNm+dxYlCTmXG5BB1gYRAurZpxUmFRoVCqFOhMmV8eK3MMDR4nlzhz8YC/xeas8hfoGLnXfhKnd/090cJYZwVqmCMP8HY1DJG6JnJhGjCUjCY6T6KbCBrhKZJKs0Vxq4JuqwSulWZRq58mQZkAoMaoxclixF87LHHZrYWBu315AYgq9wvRkI04ZV+9NQfaqBQ15x11lmZrQYgSyprfPpyVypSU+g+FEajfqBkyVpFqBFKlBxJa3wHKp4rr7xSBBLwzmkPo59rXUBpYjyoRc/5EH5NSON6tLOTdEclxH5UTIxVXRtUKApePcdxnwgKZQRjhPZChTYqPHcMB56bdnOS7tIQpHKCd07b3fjx4+V9qKfOe9x+++2ljR3vSv+HRt3A0PTbsolE0V6usoY8YNCSx0CZRjbpt13XSCReNjKtRhcRNwaa0esgX0z7yvSvgCxjONdVpnVcCTVSkGUMBa0ruB5jVpCtr5EwvPpc7fmNGb/e0f9RqUlFofvenBEPeLIku2HRAwqcxDidhY0ZmDTblkqGxDmmUyyGAw44IJtwhzJl0A0qNNBRsdS6xzvHO1FPuyaiipisYoaopEKjzFChUFHynYRKZorCcweS7lBiND8Yi6Bi998HFTFKggrcKB4UGUOq8j6BMkhzEImgQHSMBDJASRKir6lLXD6QU1+mUbR0z9QmLka6Y6AbZA0ZQZ5zJagWAsMuM4GLGs8odJrNgO6g1B/a00SbHTC6jdxQR6Wh51JvQ4e0rJlKgvfJNKR4Dwgl75TQGVm1WPB0l0EgWU9FQZit2PZTwnN4z3gcnA8PhdHd8MrxCmnnozBzT7TVYjxElXUufA8dOP8pp5ySHQqT81KhEWonzE87JQYF21BUhJgLMRwaE9H3od6eUTy8U6JQlEvKLAqQcDhjQGA0o9zVoMXQJBpSjBFFueZYeqCoUYvRgExzHbLrNR8GWSETvliDlkgYo0Gql875qTP4ZCpWZA5Z5z4waKhnCpHpxgTvhyX6vZSkptDTfvBKhHYt2pA1lIrnwJjTtJfiQVPJIISEzfF8i7WwOY4uOHjfnA/PgaEq6TqmbedAEh2VERZ9IeSqIKg48NSpRLl/vPJzzjlHxq1nelUqOe4Ho4EueEZ1eK/IWBoeQ6VCExK5CipDGM1050KZ6zzmKHsGeMF4LhYMVZIXUbj8Hwnj02ZPtzY8aCJxgBePrBQr09wrzTOaUIqRQnSP4UsJ8xPu55moW+gnn2suhsZOWeiy8AZKTljws1M7hhW1TPFnxMO8efOCsBLIdqvhM7Sq5ZMlFMggFFwZ/rVYQoUtx2+22WZVrsP/Uq/Fdeh2Q7eyQgkrkcy3PwmVeDB69GgZBlevw7nDiku+c73OnTsH06ZNyxxh+NAliffFu+Mz9CwzWxonlKe4CL3yIFTYWRmg/IeecvY3Zfa8886TrmXFgkyE3rHUkZR1zrvEEktIdziux7VCr1qmw62PTEPoAASHHHKInFdljXM3adJEvnPd1VdfXbruGdUJHY/s/wj9NmnSpMyW0pGah66ED29hwBhhdCiS1kKhlN/h/1g8Mz5ZCAEWkwznw/k4nna0UEnIOs6NB63XIsRItxsSguoDZQMvn1AiZYVzEwHAM+E77Zh48KHxkDnC8OEdKby/xk6cUQqak2i3Vlmj/BOt4p3zrolMMXSzbi8GPGWaxuhdEirV7DpySLge4L0z0l19ZBqQWXpA0JQAPAeJcUQF+I73z+Q1hUbcGht+2eJ9xVnWCiV1hQ5+pWPUH7qtIHTRChzlSDsbS33Q/xeZu/T7jlZYXJduZ4WMVOWTT+Gg0Gkfz9UOSfNBr169sm1/Rs2YUo8PjGMUNmHx6HvF0KX9W0dRKxaVNaYcxjiOXgfZQ56RkThAoXO+XDJNM0OuqZyNRWBoKWnptFQUOpamFkxT5vFDX1QyvtV7VrCwGeISi74+qKfQsmVLN3ToUKnYfPjfUsGg1OtCtLJSSPjJNd4890FbHoaDRXlyk++dNla07MYB50Jp00but13zzmnTJp+FshsHtFvnUqYYsozHXl+ZVpBlTfjz4Vl5TuoWIzd+2eJ7GnVSKgrdV+JW4cQPnixh9+hczQhpfRJ0FP9/xghwnNNfR0EmSS2q6OsDfcz9/u+A0JBxa/1ha4b/jb80ZvxKNw4Ih2Mk6+iJQPnv0qVLLF6z/r9IMKULm6+42UZTVLHdT/NBeJ+kWX1XXAfDBBmsb1i/sZCWnKWi0BV96LiFzHCiUAmRqZXIJ5npcVjYvuWJJ7LhhhtmQ3T8T6nkmFwlbuj761ecXPviiy/O/DLy4RvQjT0ilkRFu+WWW1YZPRGD+qijjpLv9cW/XxR3dAY1IgRxe80YDdGwO014zOBm5CfaZp6GrKWqSfWB00geqHS0XzYhOSoA7dKWqx26rvgVCqFGKjQNh2PJM6pUEmOEk/hGtxquQ+VJdx4LAdaO/r8auzJPCpQdw7pS9imXKF7yOuLAd3a4zs477yxRKv6nyDJKNg6Z9kGRM0CNDiXN9YYPH17vBNdKR+UM+O7/LhWpu8ZUMqbQk4ER3WhjRqkTRosj3J4LKi+ULRUakQGGhUwCKhS8dIwIvlO5GTUTrVTSqGQaA4TdMWKJINEMFZdBG/1/MbQro86hZAnpk5SaBAw5q0NJMyokzV1GzfCu9P/FZxqR59QUuu8tWMg9GRjUgpm3GNmNrmpxJehEoa38+OOPFyXL9eJsO/fBc6AdEU8FIyIpA6WSMK+8NDCoEZEqFDmjKFK5x0FUodNmfuCBB0pb9plnnplY7w68fuY6J/GVEeTw1o2aQY/p/ystnZaaJvUtGat0kkEVIIqPhJYkIbxPGz3jQScJ2b5UaGuuuWaV9nSjdsxwTg4UHl3Y+CQhLknwlvHOibolCc0I1B82xkPdiRpipSIVCfctGVPmycE7Vu/cT3BJAtoO6VqWtOFA2SG8efDBB6cmNA0VZM3eWTJQLskMZ/azuLzzfNCMdu655yYWcVN4Jsa0iCsfoNLxDWbkzP9dKlJR6FQsviK3NvRkoEDR3WXttdfOrEkWrhNXf9iaIBGOsLtRO1GDOY1KpjFABU5iaCnmE0Cmk2o7j0IkrNgJXxobfu8fykMaxnPJpZsKhhF1otaMP8qOYRj1RyfJiWKyZhjxwpC/yJUqcvScDplbSkqu0HlYlLn/oLwI37oxDKP+0MwSNZyRO5M1w4gXet5ElTfyh8yVklTib9GHLPVDG0ZjAYWu8lVqb8EwGhNqPCNnyJxvTJeKVBQ6+JVL0kkkhtFYieanmPFsGMmgA/4An2nIWmoK3X9wwzCSIdq8ZQmohpEMOp2t6rQ0ImKpKXTDMJLH9xT4tLC7YSSDbyynJWupKHT/QflulYxhJA9ypsrdMIx4QaGrPksrEpaKQo9WKmkkDxhGYyBqMJtCN4xkURlLQ9ZS0aRqySjWL9YwDMNoyKDXVImn5aSWhYduGEYyIGu+x2CyZxjJEJW1NEhFofveOVglYxjJYNEvwygN5dB0nMod8OC+Erc2dMNIhqixbMazYSSDNiUjY1GntVSk7qGn+fCG0dhIK/vWMCod1WOq1NPAXGPDqGA0GqYVjBnPhpEM5SBbZaHQ07JmDKPS0TCgLiZrhpEMftOxylupSS3krg+b1oMbRmMABW7yZRjJ4zdnpSVzqXvoVuEYRnIgX+aVG0by+B56WjKXmofuYxWOYSQPFY4Zz4aRDGo8+0upSUWha6KOksaDG0ZjwFfgfPe9CMMw4qMcZKsspNu8BsNIhqixbMazYSSL6rNG46EbhlEa8Bo0ImbeuWEkB6My+s5pGmM+pCLhVC66gA12YRjJ48ucYRjx4uu1tKLOJVfoKO8//vhDvvPQ+uA25rRhxAty5lcs+t0MaMOID+Tq119/zcoXn8jY77//XnJZK7lCJ+y3xBJLZH79yeKLL575ZhhGHCBnLL5nriF4wzDiAdlaaqmlsjIGfEf2Si1rqUg2FgyLX9EYhhE/v/zyS1bOMJrNOzeMZPBlKy29lopC52F9y8U8BsOIj4ULF7qZM2e6a6+91s2YMUNCf74RbRhGciBjKHfkrdSkptBBKxnDMOrPTz/95J544gl33HHHuT333NMNHz7cvfzyy1Xa8sx4NoxkSVOnlYV0m1I3jOJAdn744Qf31FNPuX79+rl99tnH3Xzzze6jjz6S9Shz+Mtf/uLatm3rWrRoIb8Nw4gXX4+lpdNSUeg8rD4w3npaD28YDRUNq1988cVus802c/3793fTp093CxYsyPYioc28efPmrnv37u744493kyZNEq/dMIz48cPsvo4rJWXhoVu7nmEUxvfffy9h9KOOOsodeOCB7uyzz3Zvv/22eOMocmRpySWXdO3atXMDBw50V199tRs3bpw766yz3HrrreeWXnrpzJkMw6g0UvPQlbQsGcNoKKCov/rqKzd58mS31VZbud69e7vbbrvNvfnmm5LFjvzgjTdp0sR16NDB9enTx913333uuuuuc/vuu6/r0qWLKXLDSBjfMU1Lp6XqofMCWKwrjWFUhyS3Dz/80F1++eVujz32cAcddJB7/fXXxRtXmUGRt2nTxvXt21eS4chsnzBhgttwww1NiRtGCWnUCl2VuS6GYfzJCy+8IEocb5tw+bRp00SR++NFk7G+0korueuvv96NGTNG9ttxxx3FUzcMo7RgZKs+QzbTUOqpKXT/YU2hG0ZVVlhhBdezZ0+37LLLSuWQz/BlyMmXXnrJzZ8/PzWvwDCMP5uPdUlDr6Wi0HlQf6hXU+iGUZVOnTq5k08+2d15553uwgsvdJtssolbZpllpPuZygve+pdffulGjx7tBg0a5EaMGOGmTp0qGfCGYZQWX6elRWoKXT9NmRtGbhgLeo011pCMdhT1Y4895v7+979LBruO0Y5SJ/P9tddek4x2BpTZZptt3I033uh+/PHHzJkMw0ga1Wdp6rTUFLouhBNt9CrDqBlk5K9//askyN19993usMMOc6uvvrpr2rRptr2ObHg8dvqnkyC38847S6Y73dpIsDMMIzl0/AfVa2mw+D9CMt8Tgwf95JNP3OzZs92TTz7p7r//fuly89tvv2XbG9q3b+++/vprSSygH60fWjQMYxGE9eiaRtc1EuboW468oMh1CkcWZOvTTz+VEeRYGNMd2VpllVVkf8MwigcZI0l17ty5ksPy4IMPukcffdR9++23VXqgIIc0gaHgSVZNWtEvFt5Y7Jk0PAThvjfeeEO60DCwBWFBzdCNXlItGj4JJZIItPXWW0u7IKNctWrVqtr0dIZhLAKDmTHczz33XDdnzpwqsqZohbLxxhu7U0891fXo0UN+l0O7n2GUOyhpxnyYN2+ee/75593YsWPlEz3n6zVV5ugqFuQL5xQjevnll5fBnnbddVeJrjVr1ky2xUmsCv27775zzz33nHv88cfdlClTZDxpXgIPWZfL6IugwmH8abwRFHyvXr3EOzEMozpULkTA8MhffPFFaVfHO6DCAeQKxb7ccsu5LbbYQrLoUewoeeuzbhjVQW+9//77IldPP/20dB/VaFihek0dUT5R4CS3otB32GEH0W0bdN/ALdNsGdmnvsSi0DnFlIemuMtGXeZeffVVUexRD6FYVLnjtfMS9t9/f7fffvvZJBOGkQciZIT+HnnkEWlzf+utt7KGtYJiJ+rVunVraZtnjHcUe9IhQcNoKNAV9JprrnETJ04U51SN46heQ0ep0lZ0n3w6EJ2G/DEo1OZbbO6OO/Y4kcP6Ui+FTqiPsPpVV10liTqE+vxKg4ekgiDcQL9aFioQEnmwVHgoLs9CJUSbBCEN2v74zjr1LoD9sW4233xzyfxlGEzCFoZh5AbjGtmkjY+8FSom9S5ADeaWLVtKKJAR5xhljpyWuMOBhtEQQPc8/PDDbtSoUeKgam4KqE5DNnAqGdgJncZ3FDRNxqr00Y8///yz++abb9znn3/uvvjiCzGsdTpjNQQ4F5FompgPOOAAt9pqq4lMFkPRCp0bvemmm9y///1v984778jN+w/Ng3Xs2FEybWkHp/sNv/XBfU+A43hIMnEJZ7z33nuSbEDo8JlnnpEXrNNAagXEefDWjzzySHkBrDcMIzcodoaRfeihh9z48ePFa8dgjnrtGNtEwki4+9vf/ua6detWdOViGA0JZIGhlen+ybwJJGn7DiWKl+YqHEqaq9Zee22ZJwGFru3hyBDH6CfGANEyksLfffddOf8999zjPvvsM9Ghen70F3oRYxpndffddy+uGQyFXlfmz58fbLPNNkHoLQfhjQfhzWSX8KGC9dZbL7jrrruC8EGCUNFnjqob4csNQmsmCL2K4Oijjw5CSygIPf0q1wofONhkk02C1157LXOUYRg1EVYgIr+XXnqpyGlYQQWhwq4iVyxh5RJ06tQpOOmkk4LQS8kcbRiVyxNPPBGsu+66UvZ9vYZOa9++fTB06NBgzpw5QaikRY6KAX0YGtfBxIkTgy233DJo3rx5Ffnje5s2bYJDDz00CD37zFGFUyeFjpJ9+eWXg+233z4IPfDsTfDw3BhKPvTYg9D6CELrXx6aY4qFYzkHL/D5558Pjj322GCVVVaRF67X5j5C7z+YMGFCsHDhwsyRhmHkA7n6/fffg3nz5gWhJxIccMABQehpBE2aNKlSuSDXyNeyyy4rlc8111wThF6GHGsYlQKO5xVXXBGsuOKKWb1G2UfPrLzyysFxxx0XvPTSS+JgopBr02m1bUenIUOff/55cP311we9e/cWGVMjgk9+I5fvvfde5qjCKFihc5Mo86233rqKQsV66dixo7yQTz75JLN3Mvz000/B008/Hey+++7ines98E9Ya621gttuuy2zp2EYhfLjjz8Gzz77bHDEEUcELVu2zOmxI2N489ttt50Y7VRGhtGQUcV62WWXiTLXco9CXX755YP9998/mDp1avDzzz9njiiMunrvH330UXDxxRcHbdu2rWJQEAHfaaedgrfffjuzZ+0UpNBVmW+66aZVhJ0QeLdu3YLZs2dn9iwNX331VbDXXntVCfnz2a5du+Cee+4pOsxvGI0RKrUFCxYEDz/8cLDqqqtmKxV/Qb4w5Gn6wlunPjCMhgwO4pgxY4LWrVtn9Qj6DeV+4oknSmi8GIqNYM2YMSNYe+21qzQt4zATEUfpF2IoFKTQP/7442DnnXeu4hVz0f32269O1kOcYDURAsQz1wqITyqc8ePHS8jfMIz84Jk/+OCDwemnny6eNxUbcu0bychUixYtJCx4/vnnB3PnzpWK0DAaMjTj3nDDDaIv1EmlrJNXQqS3rl65T7EKHcd51qxZwcCBA7POKkvTpk2Dgw46SJqya6NWhY7wosw5qSrzZs2aBYcddphY9WmC0ib5rnPnzlXCJSj5V155JbOXYRg+5JoQYu/fv79UaHjefuQNGWIdyTndu3cP7r77bgmxF1tRGUa58eSTTwbrrLNO1hmkzHft2jW4//776x3hrY8ziVInafXwww+XdnS9N5q7SJSrzdCoUaFzY5dcckk1ZY61UC5WOi9g7NixEir0LS3aP8yTMIxFUBGQ0HbnnXcGe+yxh3jjhPNUrlnUG8BLGTx4cDBz5kyTIaPi+OGHH6rkYaE3NLKLPqkvcUSHv/zyS9Fhmq+GbGJgo+tqMjhqVOjTpk2T7FcVeMJxZLK/8847mT3KAx5w5MiRQatWrbL3SlIDXXMs9G40ZlDktHcPGzZMuqFRifneOAsGML1U8FguuOACiW7VJ+RoGOUKofZTTz1Vkj9RksgCbeY039Y1mS0fXKO+YFiQm7bhhhtmowjcK0npNTVz16jQ8cT9kAQVAsIehxUTN19//XUwaNAguU+tqNZff30LvRuNEozc6dOnS/Io3offNq4LHjpWP+3nU6ZMkWRTSyg1KhlC7TTRoteQB8LaGLvkk8RFXE4kehb91aFDh6wRTuj9tNNOy+xRnbwK/eFHHpZkGBV+vF+SCMoZLBr6qWvFRfPAGWecIf0HDaPSwTN4//33RU6JrFH+o0qcioGwOl1NMdip4OKszAyjXKG/OU1JlH/kgHEX8Hjr2te7NuLONbn88suzEQUMEdr6X3zxxczWquRU6IxQ06dPn6xVwIkGDBggjfXlDCGT6667Tv5RWnnhpTPanGFUKhisr7/+unS16dGjh2TIquzqQkWAN9KzZ0/pd0tSnClyozFBn3KizMgG8sB3ujnHHXGOO8pFL7N+/fplo2w0j5Eg99PC6vktORX6Aw88IBaBVgZUBOPGjctsLRwqGm6GPnSF9unj5WJJYTx8//33dX7ZhDvoYqMVGl7KiBEjyrKZwDCKhfJMWSfPZeONN5acEULouTxywnRkqxNWR6YMo7GBvAwZMiSbZIaXzkhsdYXzMMLif//7X+lGlkuv5FLoJOIx8BpLMfkpJLMy8AzyzMLoqDSpRak2VyJTxDHTDDOnQfjwMq3iNttsI7/rAhNA7LTTTjLBw1lnnSXnrg0mZ9ljjz3kGCZeCR8+s6UwQsvLDR48WCaTh9CocP/5z39caFjIb8OIg1B2ZMIg5ISJF95++y2ZpIhZlShzSfHrr7/KxA5MjLT33nvLDGnMe87kK2FFIveFzIYVlkzHeMQRR7grrrhCplJl/uXQOM+cyTAaD2+//bbMOIiMIB8rrrii6Jm6Eipwd9FFF4ls9ejRQ+ZKj8L5ff73v/+5kSNHus0228xtuummbubMmZkthbPjjju6DTbYQGYu5R5Cg8I99thj8jw+1RQ6CvWFF16QgyC0+t3xxx+fVZB1YeWVV5YZaVDkXLwQpcp0dVSMVEwbbbSRa9KkSWZLYfAyeXFrrbWWzBLFeahkJ02alNnDqCSYkpDZjPg/1wWU8LBhw9w555wjs47VlQ8++MCdeOKJUikMGDBAlCvLXnvt5QYOHChCz7SJccJUxcccc4zMgsa177//frmGKvLQOxd56dq1q0xpfNttt7mLL75YpmRkRqhoRWMYjQWmENZ6AjlBOTKzWV1Bp/Tv31/041dffSUzs0WJyhn7odfQrejEzp07Z7YUDrOLHnTQQfLJ+THsmTmRmUh9qil0vGqsDh6cA9u1a+e23377oqZQ5OK8OLxmKtBc1owPlgyVEF4Pc6dTcRVTCfHS8PCxZgAvH6vop59+kt9GZcC8+Uwz+M9//tP9+OOPmbWFgSA8+eSTbvr06dkpDAsBrxxFuu2227prrrnGPf3001Kuf/75F/GSUboI2tlnny2CjyCrcVxXuC+M4eeff94NGTJE5PCWW25xzz77rMgI26mcll56aakktthiC3faaaeJQX7ggQfKNKh46obRmMHonTFjhugB9Bp6AWWOjikGHEZ0DIb0o48+KoaCT1RnoVPffPNNWc+0q23atMlsqRtbbbWVzL+OzPMcRB2iOrWaQp82bVo2NM4NoFSXWmqpohQrFybkjndPGBIrqSYII8yaNUsqQML8xb5wDAg8pebNm8tvKj7mWMeoMCoDvGqMPwSlrsocKJsINmUF4SgEyuWUKVPccccdJ1GfNddc0/3jH/9w1157rbvrrrvcHXfc4a688kp3yCGHiDH7yiuvuEMPPVRkqq589NFH4mXjiRNWv/HGGyUagUHB/bJgZFM54LXfcMMNbsKECe7UU0+VOZsNw1jEhx9+KMa/Gu7oI/QSsl8MRK3Ri9QheN0vvvhiZktu5syZI3Ort2zZUowBji8GmstQ6lpnoadpSvOpotCpLLA4cOeBC2+yySbyvdBKL8o666zjOnToINbMfffdV82a8XnggQdE6eJVEL7khRUDxgfhel6gWjOESOfOnZvZw2ioYBhinOGJXnLJJVKoEdRiyicKsS5ljLJ7+eWXizLHwr/++uvdySefLGH39ddf322++eZuv/32c5deeqm79dZb3aqrrirNRyh6vPe6gAf+8ssvu4kTJ8p1NaweBaNk3XXXlba5Yg1gw6hUkBkUKs29GOTIO3KCMV4faD9HTyHXzzzzjOjOXHB99BrRAbxrFHKxIOvUMzjYwDVxJPwIYJXaDA8Ai0N36NSpk+vSpYt8L8ZDB6wJKl/CglS+JNzlAi+LsAj70Aa43nrrZbbUHe51mWWWkUQ+rgu80Pnz58t3o2FC+SCs3L17d/GEESbKql+gC4Uykk+ZI4Scm/JCuE7Pj3J9/fXXXfv27d2FF14oRmOucyBwCO5RRx0lUaInnnhCwuB1gSYjPH887379+kmIj/Zxv+kLQ4YEuRNOOEHa7TGY+R1NlDGMxorKiCaqohT79OlT59ysKORoYUQja7NnzxYPPBc4H0QRuW6vXr0kl6VY0KVrrLGGGAZAvUT7vN+OXqU2wotFoaonQLsc2YD1hfZGKkEsirFjx2YjAD7vvvuuhCiBSrtVq1byvRiorFmILvAigWvzfEbDhTJBqIzkkL///e/ZxEcNpdUVykjU6+U3IXKywwmX014NVAh45ByDF04Zrcm7R/h22203acfGWKUpqa5gGOyyyy6S0Y7ckMC35ZZbSuhNr82zI9Q0BfBe9t9/fzdixAjxGopJ9jOMSgL5IKKmRi71BTJUXwjb0yxMFBsjP19+GHKLU4Bhf/jhh2fWFgd1Dzlt6GS+A3lhfvJtlRoJa0ItGQ7Amoijm0uzZs0kQYhKCKVK+2AUGvhpQ8ejxjvXsEJ9ILqAQqeSxprh+YyGy2qrrSZKjW5Y//rXv8QrRaAoV1HFXBvsj8JDIHwPnwS0o48+Wnpl4CX37dtXzk/YG0sYmUDJUjGoUOWD9m08a86PFV8stIkTzscTJ3w3ZswYsdTxMlSxY7Ai2E899ZS8H3JIMEhIyOH6dX0/hlEJoMhR6CrjyC31CNQmvzWB3O25556i2DHY/XZ0lTWazWjC5h5oesa4ry/UBb5BH408V1HoKFouzoNyAG0E6uHW5+E5VtscSE7Ae9CH1k88DCrY+rYz+NCGroYB/1Dz0CsLDT/Xp2xiwVMGWfDMaRMnfIZSJyFNBQdlyXeUaKFdOLXc84mHrmW9PmDwoqynTp3q/v3vf4tXTk8S7kvfA89E09n48ePddttt5w4++GB33XXXiVGRr63PMCoR9BkKD9lDfomcFSq/tYFRTZs2TvDkyZNFufq89NJL4qSigImc1RfkG/n3FTrPR4ROqaLQtf2NAzlAvZ84IDxB2zgPT8WikQDAkiFbj5dOBURYIQ78NkfObW3olYUqMP3MRy5FyjGUDTX46IpGmzcG5ymnnCLesC/4KEI1buuCnoPyHodCVzBW6V8+evRoN27cOHfuuedKoo/fNoiBjEzffvvt7qSTTnKDBg1yZ5xxhjRvGUZjAEeO6JrKHgrdl5H6gH4cOnSoOKok3WmTMaBH6RJLLg7JscX0ec+F3r+v19CfSlZbswELQ8NzusQFbehUOJz/8ccfz1pNLNrpnzZS2hniMiI4j/88cVeqRrqglFmiZTa65AIvlvJOrwo8WQZPQpnTf5tuZ9GmJhQz6xBUv4KoCfYhw5ZjOLY2w6MYaM4ilMf947VjjJCsR9MAwq/vh6YFDOnLLrtMkoJQ7CTqEXng/gyjEqHsI+sKOiEu/QK0x+OAorjpRqvXIsrHCI7IIFE6enrVF63vcCz0Gfhd5fkynzkrKF6GVpZxQHiQCghl/txzz8mNUNHQHso1yBokES+O63EOvCqt1EAVvFE/4ioP9UX/l9wPSknLam0L++n+5FUQXqe5iWRN2ttyJZOhkLHEsYaxxP3z5YPzsC/lnPb4mvaNA4wOFDpDHd96661iHOMdEIVABrg+MkEYkBHkyJ4nfE9/d96DyYZRaSB7Wv8D35GBuGQR/UJODefFeKceQY5o3sWAxpvGwNbeVvWBe+Z5ovfu/84qdJQdg2Fwg6AHc6P+CykWzs8oOR07dhQlfvPNN8t56fRPex9WB4lzPHgc19NzqPfBb7qyaajCKJ44/j9xoFYqCovyw/+WdbkW7lkXflPONPRG+JpxzjkPSSwYm1FIRtl6661FJuj7ifJHRmp6F3j8LJyXY7luknAvvAM8BsZ+pp8+XdlIjiNCxjtiH+6bSo22N5Lo6FZKRv6oUaNEHg2jUqDMk2Huy75+jwPC7jiiGPsYxXjlyBcjk5IsR6SM7mpx6B29b2TX12u+sVClhkHZqkIHKi090LcCioWHJ9GICo7sWywYkgmoWAhJMEBGnJCVzMMrVGpG5UCZZCnGs0QQKOs08+DVoqRJXEEIL7jggmrzDrA/gx0hoCS43XnnnVXKVhS2MX8Abdh4yfSdLzUIOs1cZL1jpGBEE25nYA2NXPHu6KpKX1nC8FQ+NDug6JHLOOTeMNICRYrBziflHYMcGY8TEuOYs4Tz0oWNcDs9UdCdhNvj6PoNyCL1ijaNA8+EI65UUeiEu30rnhuMZu7VF21zoO2ORB48Il4ySXM6iE1cUJlqpYtlpt0VjMpAlQ3ltRgwMGl/pl853vrw4cNl7AKSxlCC0YkPMDqZiAVBZfYk2qzzKTxC7YS+8eyZNTCOLiv1gd4j++yzj4xaR2VDlz+61fnyjgGPzJBTwNCW5BKQUGczFRoNFQzXtm3bZss4zWA0q0E+2a0rnJ+eJpyP7q7IPSF3IgPIfrH1UxTOr/3OVaHr8ylVFDpZ6Fj1HMgBPDgHxwmVCJNMoGjxzhm4A2VLRUpIPA64fxasJQwSvnONuA0GozwoxkNXKHNEjABDk0xw8jzwrvFSfVB+JJ/RNx3ZoE/8ggULMlsXQVmjL/vgwYOlrZpw97777ivHpolWKkQkdt55ZxmsholjGMoWL55nRka4fyo9msHI/GeAHbx2ur7ZOA5GQwPPnIgUn5Rt9A56IU5QqvRJJ88GfcbcCugd9E19h5iNQtRs3rx5VRQ6UUOlWsjdz8ZFgOO2zqk8GaBewwRcC0ummLlp88E/Dq8f71+7x/HgcWQaGuWHhtPqCgrMh3MQkkaB4Z0zmxoZ7UDzEEO/3nvvvTIXMgqadjL219HkKHcYqYSsaYvGcqZtjW5lDAiTK9kuLXh2QoEobIamPf/88+W5Uez6Lqk0tCcAnjrbjz32WBlHgqxewyh3qPc1fwT5JArFvOjohzihuZjQO3LFNaiTyMuJ1jH1AXlkRDrychTkdfnl84TcUbLclHoTeOdMLhEnVBZ444ygxcMSEWA2qbjaGYB/HN4R9054lGvimZhCr0wQ2rpCGUHBRgWbEDl5HpRHJkdhGFX2YQhHlN9hhx0moXnayTAWUXaaRIfAofhZxzYUPh49xzELGuGycgQPhogCyprnj1ZCvCvkCK8dxY7yzzXao2GUG5RlmlrVi6Uc0xxGWY4THFWasdBn6BvqD/ScGsdxQD2Ek61NgZwb52KppfIkxbED465rCJKHZwQ3BJolLogEMBY2iQRkCFJBxvng3Ct93dWL4Nw0J1jIvbLQsQ1oH8YirgsYrRiVGHnRYxkjnsxvupphETMsMddiPUM4MjQxA0XQHYXFb8OiSYl1lGsS4TiGhfJXjOGRJBggRCCYMIkBMhgfny6lUSNHw3ok+BCloB2+PpMnGUYpIX8FWUfOKfMoc8ZgiFOnAZOBIfPUETipccsInj8TVGleGDlA5LpU0Z3hQ1XhpZdeClZdddUg3EmWZZZZJgitgiA8SWaP+AhfbhBWHplf8bFgwYJgl112CcJKW56hSZMmQVhhJfIMRuOEshsavJlfDYvffvst+OCDD4LRo0cHoRcRNG/ePAiVdhB6M1m553ezZs2C0OAJjjnmmOCRRx4Jvv/++8wZDKPh8MsvvwSHHnqolGct26HxGnzzzTeZPeIlKT3z6quvBqEDE4SGichq6GSIbvapFuDHe8ayCB9cftOlhcSZqNUeB1wjGt6LAzr4v/HGG1lLhryA+kxobxhRKLt1jQqkSSjr8klCEOPVkxhHdz3GmyaEh3yzD/JIoiBRBaZvxXtnEBpyBZAjw2hoEHGmvJPPAnjpTKaS1BDISdULEyZMyCbEcQ16jNFc5lNNmzLaFElrGnZHyBmalX7jDQEe9qGHHsomDqDECbkQ4jeMxgaKmsxYBphhxjYGuGEuefqdaw8QjBPCd+SZoLhR5CS+0Z2PZjF/4ArDaIgQDu/UqVPWqaMpDT2RBOoMxwnNfnSH0z70dLNlEjM1UpRqCp0Hxpv1B2GhQiC7t5yydPOB1eUP+kEG/ZAhQ2LrEmcYDQEM27lz58rkLXQ5Y9hl2t9I5lPZUG8cpT1s2DDJ6ifpjeQef7AKw2jooAcOGnyQKEKMWIxZeqSQPF3ukGCLTiPZVr1znFQmMqtmPIQPV43woOD444/PtkGzdO7cOZg9e3Zmj/KEtsHQapE2Bu6Zz+233z4IK7HMHoZR+cyZMyfYdtttg44dOwahBV+lbZyF3+SVhIo8GDNmTPD555832HwAwygU8kbIGVH9QO5IaOiWfW7VCy+8ILJK2z/33rJly+Ciiy4SPR0lZwN2+LDSdYchK/kOhLAvvPDCsu1/itfBbDe0jWDFAM0HTD6BdWYYlQphdX8gGEJxhMzxPvywOqFzuvDsvvvuMswr/c8ZDY4uNlj9hlHJEHWm7JMLQnSKbqTIAKHsJHLE4oDJoIiyMa4Feo2mMTLpiTaobq7CIr2em8svv1wsfKwZlvBFBCeffHIQVhKZPcqHZ599VqwYvdfwwYMddthBvA/DqFTmzp0bDB8+POjbt2+wwgorBEsttVQVjxyLnp4qXbt2DUKDPJg+fbpFrIxGy0cffRRstNFGQWjcipygJ/DaiWrFRS7PuRjQs0ceeWSVKNvKK68cTJ48ObNHdWpU6ChDlCKuvlYQoTUfTJgwIbabjoNvv/022GmnnaQy4x55eB58xowZmT0MozJA7mhaorsKirx169ZV5FMXFDkGOF1QQy88CL31spJZw0iLqVOnioGLMkdWaFqmiSqubplxyBlNYDfddFOw/PLLZ2Ua/XbUUUfVeJ81KnR46qmnpL8blYZaNBtuuGHw+OOPl0UFgcU1aNAgqby4PxY8EtoYDKOS+Oyzz0TITzrpJDFYaQdXy52F7wg9njr9bDG8P/7448zRhmEo55xzjhjDqjOQm8MPP1xkrL7UVy9y/IMPPhist9562fZ+9G737t2DWbNmZfbKTa0KHUth3LhxQdu2bbMnR7mTcIPr/78EBoYpFF7+PvvsIwqce9N/zJ577hl88cUXmb0Mo2FDWb700kuDnj17isWOR+Ercso+yh1FPnDgQIlM/fjjj6nKpmGUM5988kmw1157VWlSJkkOpf7dd99l9io9qm/XWmutbFI6so4Bf99999Uq07UqdCDEd/bZZ4tFow/PwkVuuOGGYOHChZk9SwNZiYxoR0a7H2bnn0Ol9/bbb1tlZjRoCKtNmzZN5Ktbt27BcsstlzWodaHMUwn16dNH9nvzzTczRxuGURuMvIa+UB3CgjwNGDAgeOONN0re8+OHH34IrrzyyqBTp05ZWecTPXvjjTfKiHe1UZBCh/nz5wdnnnlm0KJFiyreAb8ZVvXdd98tSQieRAHCjrQN+hUcw/rxjyjVfRhGktBVZdddd5XIGOE2X+Z00UjZPffcU5aJqoZRzuCootR79+5dxRtGwZMod9ddd8k+SYO+wgmlfVxzYrgPPtu1axdcccUVBUfcClbowMNdcsklVRrqWXgZ66+/fo3Zd3GAsiabt1WrVlUqODIW+/XrV21cW8NoqOAdfPXVV2K8Ilt+s5KWe75T9tdZZ51gxIgR1qPDMOoAipQFpU77tDZlsfCdBPDddtst+PDDDzNHJMPtt98uUTjNvEe2MeJXWWUV2VaXfvKL/yMk04OtVsIKxW2wwQbyGb4Emf0lPIf0j9N+sExNx+hTLKGlI8eFN5i7z1wNcM7QIpF+7wxTed1117mTTjpJprRkfHngnFyHeWcvu+wy6TdvGJVAKNgyqhXy1r9/fxlTgXWA3CEbyB6fCxYskKlameKV8SJYF1YIcjzH1FX2DKMxoHqJ8dAZF53hzZltMDSmRYbQM0xXil5D5tA1jOUQes6ZM/xJITKmupIxU7744gsZK4J5Fa6++mqRW67LeUJjQsaLYMrlfffdt05zkCyGVs98LwhuiMkcHnnkEZm0BQWuip2bQdlT+TCFHHO1hhaOTP7OROxaIeV7eL2V3377zX322WcyBSqT0WM88AL0OsC5+EcwPzWDY7Rr184GxzAqEso8FQxDMDOc6wMPPCATNSATDAuJTIJWBsgak6swIQXTKzLhkil2w8iNytcHH3zgbrjhBnfLLbeIkcw6QHZQ5MgRg7r07dtX5kVgQCbkDbnSxYffnFsXBrJh0jDmVWBSJCZKQqZR5Gxnfwa96dWrl0xnzDWaNm1a7bw1UWeF7sNDjxgxQsZ5Z0QbbsyHF4GXgOIdMGCAvAgsD0ZuU+9dXxoPi5XCPLXjxo1zs2bNknX+OXkwzsmxvNwbb7xRJpIxjMYG4zqff/75YvAih75iV5ATZO/II4+UEbJ0coq6VBCG0dh48skn3THHHCPeOU6kD04jyh3FyxwIe+yxh9t4443dSiutJOuQLzxw9sMxJcL8zjvviAOMnkSB4/mj13xDHL3Wpk0b8cgJmhMNKIZ6KXSgInnqqafcrbfeKsPoEXqPnpIbxpLB2tCQBQ/AfjwUn7wEXh4LLyJaOXEOjmdqV4Zz3WeffcRCMozGDJGs5557zk2cONE99thj7ptvvsnKFCBnyF7Lli1dz549xbBmaFgUvWEYufnoo4/cHXfc4caPHy8KGZ2kMoUuUiWM0YzTShMXSpx1yJ/KIIqbY9GT6Dhfr3EOjkOPMQsiEyj16NEj6+wWQ70VusIsTrTjMfUiFQtWCN53HKfnhWENEVpnJjjC67wIwzAWhQy//fZbiWoxNSoGtkbMfPmjslluueXEKB40aJDknuBZGIZRHRTxxx9/7CbfM9ndMOYGmRsBhzPqbNYVFDlKu3Xr1hK1Zpri9ddfX2SzvsSm0BWUOO0EhMNpJ+CFaKKBXirfJXlQoOIhfIHlwjRxBx54oEwVxzrDMGpGE3louiKhlDmUo54BXjteer9+/dyhhx7qunTpIm3vhmFUh9A5zVt47MjX559/LkYzukxlK5deU52G944TSlh95ZVXliQ8FDm5LrpPHMSu0H3w2mn4JzOdF0ASD+3kJPbwqS+CEDwJdHgLKHEqGhQ5CQg8PJWPYRiFg1jjUTz00EPunnvukVkIc3ntyB6eAoqddvaNNtrItW3bNrPVMAwfPHTkimRwQvHoNJq9WEeWPJFp5Au5Yna3NdZYQ/QaUWV0G71WiDbTBJYEiSp0hUvgudOGwHLzzTe7008/XaZ2xGpp1aqVKH6+8yK0jd0wjPqB0UxyKZ4600QieyTm+G2CgMyRrEqyKdnxZNniTRiGkRtkCwMZnYY8kZ2Os4quQ5ZGjRolOSu+XkuakmhNQgo8DG3hPGiLFi3kIVmP4mY97QckveGNmzI3jHjQ5isiYOeee65k8B533HES/ULmtJKhYiKi9tprr7mRI0dK5u4555wjhjaevWEYVUG20Fc0VdFVG72mugv9hq5D9vL1XU+CVDSn32aAlRNnG4JhGNVRGevatas7++yzJYOXAS3ITyHEToXDPnjthBXpFnfBBRe4vffeW5JRSbabN2+enMMwjOrgkIJGpNPQa6kpdK089LdhGKUB74G2vYEDB7rrr7/eTZs2TfrT4lGoh4Fs0tWGdkG6xA0bNky61IwZM0ZC+H643jCMRc4pIBu6lJqyiG1b5WAY6UGGO4qdUDveeq4RF/Ha6Zt74oknyuhzjN5oGMafoNBVl6XlpKYecgfz0A0jPcjWvemmm6SbW7SLm6KjM5511lnu2GOPlREfDcP4E/SYLmmRuodu3rlhlBYUNj1MSICjDZ0BZoYPHy4jPaLQVSYJv5PQ061bN/fPf/5TRqQ74YQTXJ8+fSQ8bxjGn5CHguzokgapeuhpP7xhNBZUxkh2mzRpkoTOGXURr5zBnwipsw+ySa8T+s4efPDB7rzzzpPJYFD4NtSyYeTH12Np6bRUFLo+LJWHJuEYhpEcjG7FxA8MNXn44YdLmzmDYtCHVuWRZDkGwDj++OPdlClT3OjRoyW83qFDB9luGEbNqLOaVti9LELuaVkzhlHpMKAMs7IxdPLdd98twzIzgQvdaoAwIQM7MSgGHvnTTz8t/dWZ8hhP3QxuwygMX1b8BLlSkoq0Yr2oIjdlbhjJwfzOF110kQxNyeAxCpUPg2GgxJlQiTGqr7rqKkt2M4wi8b3yXImlpSAVhe4rcj7VWzAMI14YklLbx4GwOu3jJMJNnz5dBpdheErax80bN4ziQY+pnDWqkDsPS+XhfxqGET86RzMyhjJHkRNWJ9GNwWVMiRtGPES9clXupSR1aU7joQ2jsYAi10W981VXXTWz1TCMOFF9xmcajmpqHjrw0Fg1abU3GEalg4xpJYOcodQNw4ifcoh2lfwOqFyibQ2m1A0jfpAzlSuVN1/BG4YRDyScRuUq17qkKblCR4HzkL4C53sa4QnDqGT8/BQ++Y3smawZRryQq4IBrbKFrPnyVypSDbkDFYxO3WgYRnwgU8iXv5icGUb8IFcodWQM0pK19IP+IfoSDMOIF79SQc7KoZ3PMBoDjUah86DRisYwjPiJhv0sV8UwkqEcZCsVhY4CVyWehhVjGI2FqKyZ8WwYyRBV6GnIWurxNx7awoCGkTymzA0jOcrBOU1Nk1K5+IthGPFDJaMVjcmZYSRH1DFNw1FN1TXWysYqGsMoDSZrhlEa0pC11GPdvgdhGEa8RCsVU+iGkQzlIFupK3SrYAwjOZAvy2w3jOTxdVlaei0Vhe636eliGEYy+BEwi4YZRjL4eg3SkLVUFLr/wFbBGEZyRA1mM54NIxn8OUogDVlLzUP3FbkpdcMwDKMh02j7ofOgaVsyhtFY8OXLjGfDSIaobKUha6klxWklE1XuhmHEB5WK3x/WFLphJEO033mjUug+VskYRjL4BjNyZsazYSRDVLbSkLWyUOiGYSRDOVQyhtEYIClOSctJTUWhRx/WPHTDSAZftlDmNm+CYSQDsqUGM59p6LXUFLopccMoDb5XbnJnGMkQNZ7TIDVzXR+eT/MaDCN5TJkbRnJElXgaSr0sNKnf9mAYRnz4SpzvaXkOhlHpIF8qb2nJWskVOg+Za2xpG2/aMOJFDWWNgCFjVDQma4YRH+i03377TeRMFTpER44rBSVX6PrA/oMuvvjiFnY3jJjJJVfIn8maYcQHMrXkkkuKXKleY91f/vKXKgq+FKQi2TykPmipH9gwGhO+fPkVjmEY8fLHH39U0W1pyFpqCh14YBYLARpGMpjBbBilQ3VaGsocUo29Udmk+fCG0ZgwOTOM5PB1WVpOamoKXR/eD1EYhhEvVCxayeinYRjJk4a8paLQ9UFVkVvI3TCSwTeW+W6yZhjJUA7dr1NT6OY1GEby+BEwkzXDSI5y6D2SasjdMIxkiYbcTe4MIxn8XiRpyVkqCt33GgzDSA5T4oZRGjCe09ZrqbahG4ZRWmyYZcNIBj8alhapeeg+puANIxmQLYuGGUZpSUunlUUbug1FaRjJEK1YTLkbRnKk7ZympkmtYjGM5KGCSbuSMYzGAHLm67U05C61NnR9WF6AVTiGkRxpVzKG0RgoByc1NYWu8N0GuzCM+CEB7ueff65S0fzyyy8mb4aRAMxumDapKPRom3k5vAjDqCR++OEHd8stt7gXXnhBZoHCcOZzxowZbuzYsaLYDcOIjyWWWCLzbZG3nkZuWCoK3accwhSGUUl89dVXbs8993TDhw93c+bMyXZVwzN/55133DHHHOP23Xdf980338h6wzDqT7Q5K43mrdQUOtaLvxiGUX++/fZbN3ToUDd16lRR2NHwOpXMd9995x599FF30UUXuYULF2a2GIZRH5AtdJk6qY1GoUe98rjb9DhfEi8zqbZHQqFJ0NDOm9SgJ0n83yhfv//+e+ZXfNS37D777LOizH/77bcaz0Pb+pQpU9zs2bMza4qjoZWxJP5n0JBkgnKRVP2YxHl5B0m837jfLTKnui2tkPti4T8g/v9ALdCGN2TIEPfTTz9JAaANvUWLFvIC+M4/j5fNtlwvhYITNQrYV1+iX4Hrvmz3H9X/DnqMv17Pp9fyv4OeF/j0tyms97f5++h6FQS+6/ZCzsfi76fr9DuwXc+vv310P/CP0c/o9ujxiu6n7zsfbNNFfwPvVgWMMsB1WPR8uh/oekXvk3P431mA36z30d9s0/ej+4O/Xs+p69kv132BnpdnybUtei7/HHpO3cf/zmf0/vR8/rP++OOPsvjvJx+852WXXdYts8wysj9yp8fp+bgO6LX0N596D5DrUxd/P/2u6/0FdJv/jvW7HqPwXffPtc2Hc+j++um/I34r+t3fH/ju/9ZP0PX+OtBj/ON8dL1/vH7n/rhvfiv6W/eNou8sF/42fXZ+U1a1vgU+uQ5twvo9mufk3wOLf5/+NoXr6TXB/87+eh3/nMCn7qvn12vpMboe+M7+/jrwz8kxProv74Btej32ZxuLfudT71N/L7nkknIMckfEi/XI1c033+x23313OVepSEWh33777aLQ9eENw6g/WskYhpEuGMko9AEDBmTWlIaqpkoJoMKpS9iL/UtRSZXqOpWMvsPoeyzFe8113cZGY39+o+Gg8hpdKgn0XKmfKRUP/dZbb5XEHbrOcHk8i1zUdmt6nH98MY8TPSbf/Si6vaZ7LxS9dn3PEyXXe4j7GrnQd5LrnfrPqvtBrn2j5NvHP09t1OUYvR775dq/tu01oceAf54oui0fuY7xm6tqg+MJH+pSjtT0Xmt6d7ko5J3ECfcVvWaudflgv0KerS776ad+z3VcIeeLbs93Pl2fj0Luuxii19Xr1HY/cYGHPmbMmMYRcn/rrbfctGnTqrRV5CsI+sl2/7t+Ro9lH/+8+uk/pv9dyXVu/9Pf7q/zfyv8jp4Pcl1X23u0Qo2eK9cxoNf1t+tvXTi3npfffI8eA7rO/wQ9Rr8r2tYE0fP55/Hx1+W6Duj9sj66Ldf5wD+PfxywTRfOy6LnYT//WN1H91ei+ymqNKNti+zHwrNEj/HP419DYZ2u94/lu7+/fx7gOwvXfP75590dd9whSW+5ruFD3sr+++/vunXrVu05FL22fz3QdVoW8m2P3kN0P/D30+9+2fX/bwr76TvWY/xPRdcBnxg8/v1Gj81FvvX+MdxLrrKg6H7R6+k+ua7BOVmv7wFq2j+K7uN/6jn5BP8eo9/93z663t/OOVmix+l60PW6n8L36DrQ9ZQxvut7iO7nX6NQ2N8vP7ouH9FrKv4xug/3u/TSS7utt97ade7cWdaVilQUumEYyYCxfMABB7hXXnlFKpZ8kPDUu3dv8SI6dOiQWWsYRkPmT9PPMIwGT9euXd2gQYNcq1at8nrdrG/fvr3s165du8xawzAaOuahG0aF8euvv7oHHnjAXXnllW7mzJnSm4TwIiHLpk2buh49eshocX369JEuN4ZhVAam0A2jQmGcB0aEu/baa2UAme7du7sjjjhCQu1NmjTJ7GUYRqVgCt0wGgHqoRuGUbmYQjcMwzCMCsBMdsMwDMOoAEyhG4ZhGEYFYArdMAzDMCoAU+iGYRiGUQGYQjcMwzCMCsAUumEYhmFUAKbQDcMwDKPB49z/B6XekdGGAZSWAAAAAElFTkSuQmCC"/>
          <p:cNvSpPr>
            <a:spLocks noChangeAspect="1" noChangeArrowheads="1"/>
          </p:cNvSpPr>
          <p:nvPr/>
        </p:nvSpPr>
        <p:spPr bwMode="auto">
          <a:xfrm>
            <a:off x="428625" y="168275"/>
            <a:ext cx="304800" cy="304800"/>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050" name="Picture 2"/>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581025" y="1088282"/>
            <a:ext cx="4314825" cy="1704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extLst>
      <p:ext uri="{BB962C8B-B14F-4D97-AF65-F5344CB8AC3E}">
        <p14:creationId xmlns="" xmlns:p14="http://schemas.microsoft.com/office/powerpoint/2010/main" val="1787764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15</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pic>
        <p:nvPicPr>
          <p:cNvPr id="64514" name="Picture 2"/>
          <p:cNvPicPr>
            <a:picLocks noChangeAspect="1" noChangeArrowheads="1"/>
          </p:cNvPicPr>
          <p:nvPr/>
        </p:nvPicPr>
        <p:blipFill>
          <a:blip r:embed="rId4"/>
          <a:srcRect/>
          <a:stretch>
            <a:fillRect/>
          </a:stretch>
        </p:blipFill>
        <p:spPr bwMode="auto">
          <a:xfrm>
            <a:off x="5090160" y="213360"/>
            <a:ext cx="3285338" cy="4747260"/>
          </a:xfrm>
          <a:prstGeom prst="rect">
            <a:avLst/>
          </a:prstGeom>
          <a:noFill/>
          <a:ln w="9525">
            <a:noFill/>
            <a:miter lim="800000"/>
            <a:headEnd/>
            <a:tailEnd/>
          </a:ln>
          <a:effectLst/>
        </p:spPr>
      </p:pic>
      <p:sp>
        <p:nvSpPr>
          <p:cNvPr id="8" name="Google Shape;295;p30"/>
          <p:cNvSpPr txBox="1">
            <a:spLocks noGrp="1"/>
          </p:cNvSpPr>
          <p:nvPr>
            <p:ph type="title"/>
          </p:nvPr>
        </p:nvSpPr>
        <p:spPr>
          <a:xfrm>
            <a:off x="-579120" y="1158240"/>
            <a:ext cx="5968720" cy="2429957"/>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4800" dirty="0" smtClean="0"/>
              <a:t>Algorithm </a:t>
            </a:r>
            <a:br>
              <a:rPr lang="en" sz="4800" dirty="0" smtClean="0"/>
            </a:br>
            <a:r>
              <a:rPr lang="en" sz="4800" dirty="0" smtClean="0"/>
              <a:t>of </a:t>
            </a:r>
            <a:br>
              <a:rPr lang="en" sz="4800" dirty="0" smtClean="0"/>
            </a:br>
            <a:r>
              <a:rPr lang="en" sz="4800" dirty="0" smtClean="0"/>
              <a:t>our system</a:t>
            </a:r>
            <a:endParaRPr sz="4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505340" y="272077"/>
            <a:ext cx="452386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800" dirty="0" smtClean="0"/>
              <a:t>Demonstration</a:t>
            </a:r>
            <a:endParaRPr sz="48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16</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
        <p:nvSpPr>
          <p:cNvPr id="6" name="TextBox 5"/>
          <p:cNvSpPr txBox="1"/>
          <p:nvPr/>
        </p:nvSpPr>
        <p:spPr>
          <a:xfrm>
            <a:off x="497840" y="1198880"/>
            <a:ext cx="4318000" cy="400110"/>
          </a:xfrm>
          <a:prstGeom prst="rect">
            <a:avLst/>
          </a:prstGeom>
          <a:noFill/>
        </p:spPr>
        <p:txBody>
          <a:bodyPr wrap="square" rtlCol="0">
            <a:spAutoFit/>
          </a:bodyPr>
          <a:lstStyle/>
          <a:p>
            <a:r>
              <a:rPr lang="en-US" sz="2000" dirty="0" smtClean="0">
                <a:solidFill>
                  <a:schemeClr val="bg1"/>
                </a:solidFill>
              </a:rPr>
              <a:t>Link:  </a:t>
            </a:r>
            <a:r>
              <a:rPr lang="en-US" sz="2000" dirty="0" smtClean="0">
                <a:solidFill>
                  <a:schemeClr val="bg1"/>
                </a:solidFill>
                <a:hlinkClick r:id="rId4"/>
              </a:rPr>
              <a:t>https://sparked.vercel.app</a:t>
            </a:r>
            <a:r>
              <a:rPr lang="en-US" sz="2000" dirty="0" smtClean="0">
                <a:solidFill>
                  <a:schemeClr val="bg1"/>
                </a:solidFill>
                <a:hlinkClick r:id="rId4"/>
              </a:rPr>
              <a:t>/</a:t>
            </a:r>
            <a:r>
              <a:rPr lang="en-US" sz="2000" dirty="0" smtClean="0">
                <a:solidFill>
                  <a:schemeClr val="bg1"/>
                </a:solidFill>
              </a:rPr>
              <a:t>    </a:t>
            </a:r>
            <a:endParaRPr lang="en-US" sz="2000" dirty="0">
              <a:solidFill>
                <a:schemeClr val="bg1"/>
              </a:solidFill>
            </a:endParaRPr>
          </a:p>
        </p:txBody>
      </p:sp>
      <p:pic>
        <p:nvPicPr>
          <p:cNvPr id="7" name="Picture 6" descr="frame.png"/>
          <p:cNvPicPr>
            <a:picLocks noChangeAspect="1"/>
          </p:cNvPicPr>
          <p:nvPr/>
        </p:nvPicPr>
        <p:blipFill>
          <a:blip r:embed="rId5"/>
          <a:stretch>
            <a:fillRect/>
          </a:stretch>
        </p:blipFill>
        <p:spPr>
          <a:xfrm>
            <a:off x="1417320" y="2028190"/>
            <a:ext cx="2286000" cy="22860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1114940" y="2070397"/>
            <a:ext cx="64056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800" dirty="0" smtClean="0"/>
              <a:t>Our Challenges</a:t>
            </a:r>
            <a:endParaRPr sz="48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17</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6454476" y="85535"/>
            <a:ext cx="2580760" cy="45129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400" dirty="0" smtClean="0"/>
              <a:t>Appendix (400B)</a:t>
            </a:r>
            <a:endParaRPr sz="24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18</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graphicFrame>
        <p:nvGraphicFramePr>
          <p:cNvPr id="2" name="Table 1"/>
          <p:cNvGraphicFramePr>
            <a:graphicFrameLocks noGrp="1"/>
          </p:cNvGraphicFramePr>
          <p:nvPr>
            <p:extLst>
              <p:ext uri="{D42A27DB-BD31-4B8C-83A1-F6EECF244321}">
                <p14:modId xmlns="" xmlns:p14="http://schemas.microsoft.com/office/powerpoint/2010/main" val="3271477144"/>
              </p:ext>
            </p:extLst>
          </p:nvPr>
        </p:nvGraphicFramePr>
        <p:xfrm>
          <a:off x="135866" y="634999"/>
          <a:ext cx="8661399" cy="4304926"/>
        </p:xfrm>
        <a:graphic>
          <a:graphicData uri="http://schemas.openxmlformats.org/drawingml/2006/table">
            <a:tbl>
              <a:tblPr>
                <a:tableStyleId>{1A138BE6-E374-4A1A-BE6D-9E52B14417BE}</a:tableStyleId>
              </a:tblPr>
              <a:tblGrid>
                <a:gridCol w="397534"/>
                <a:gridCol w="954059"/>
                <a:gridCol w="3070751"/>
                <a:gridCol w="4239055"/>
              </a:tblGrid>
              <a:tr h="893098">
                <a:tc rowSpan="3">
                  <a:txBody>
                    <a:bodyPr/>
                    <a:lstStyle/>
                    <a:p>
                      <a:pPr marL="0" marR="0">
                        <a:lnSpc>
                          <a:spcPct val="105000"/>
                        </a:lnSpc>
                        <a:spcBef>
                          <a:spcPts val="0"/>
                        </a:spcBef>
                        <a:spcAft>
                          <a:spcPts val="800"/>
                        </a:spcAft>
                      </a:pPr>
                      <a:r>
                        <a:rPr lang="en-US" sz="1000" dirty="0">
                          <a:effectLst/>
                        </a:rPr>
                        <a:t>CO3</a:t>
                      </a:r>
                      <a:endParaRPr lang="en-US" sz="1000" dirty="0">
                        <a:effectLst/>
                        <a:latin typeface="Calibri"/>
                        <a:ea typeface="Calibri"/>
                        <a:cs typeface="Times New Roman"/>
                      </a:endParaRPr>
                    </a:p>
                  </a:txBody>
                  <a:tcPr marL="18441" marR="18441" marT="18441" marB="18441"/>
                </a:tc>
                <a:tc rowSpan="3">
                  <a:txBody>
                    <a:bodyPr/>
                    <a:lstStyle/>
                    <a:p>
                      <a:pPr marL="0" marR="0">
                        <a:lnSpc>
                          <a:spcPct val="105000"/>
                        </a:lnSpc>
                        <a:spcBef>
                          <a:spcPts val="0"/>
                        </a:spcBef>
                        <a:spcAft>
                          <a:spcPts val="800"/>
                        </a:spcAft>
                      </a:pPr>
                      <a:r>
                        <a:rPr lang="en-US" sz="1000" dirty="0">
                          <a:effectLst/>
                        </a:rPr>
                        <a:t>Analyze various aspects of the objectives for designing a solution for the capstone project.</a:t>
                      </a:r>
                      <a:endParaRPr lang="en-US" sz="1000" dirty="0">
                        <a:effectLst/>
                        <a:latin typeface="Calibri"/>
                        <a:ea typeface="Calibri"/>
                        <a:cs typeface="Times New Roman"/>
                      </a:endParaRPr>
                    </a:p>
                  </a:txBody>
                  <a:tcPr marL="18441" marR="18441" marT="18441" marB="18441"/>
                </a:tc>
                <a:tc>
                  <a:txBody>
                    <a:bodyPr/>
                    <a:lstStyle/>
                    <a:p>
                      <a:pPr marL="0" marR="0">
                        <a:lnSpc>
                          <a:spcPct val="105000"/>
                        </a:lnSpc>
                        <a:spcBef>
                          <a:spcPts val="0"/>
                        </a:spcBef>
                        <a:spcAft>
                          <a:spcPts val="800"/>
                        </a:spcAft>
                      </a:pPr>
                      <a:r>
                        <a:rPr lang="en-US" sz="1000">
                          <a:effectLst/>
                        </a:rPr>
                        <a:t>K1- Theory-based natural science: The theory-centered concepts of natural science for our project include 3D Modeling, circuit analysis principles (Ohm's law, Kirchhoff's laws, capacitance in DC circuits, and mesh and nodal analysis).</a:t>
                      </a:r>
                      <a:endParaRPr lang="en-US" sz="1000">
                        <a:effectLst/>
                        <a:latin typeface="Calibri"/>
                        <a:ea typeface="Calibri"/>
                        <a:cs typeface="Times New Roman"/>
                      </a:endParaRPr>
                    </a:p>
                  </a:txBody>
                  <a:tcPr marL="18441" marR="18441" marT="18441" marB="18441"/>
                </a:tc>
                <a:tc>
                  <a:txBody>
                    <a:bodyPr/>
                    <a:lstStyle/>
                    <a:p>
                      <a:pPr marL="0" marR="0">
                        <a:lnSpc>
                          <a:spcPct val="106000"/>
                        </a:lnSpc>
                        <a:spcBef>
                          <a:spcPts val="0"/>
                        </a:spcBef>
                        <a:spcAft>
                          <a:spcPts val="800"/>
                        </a:spcAft>
                      </a:pPr>
                      <a:r>
                        <a:rPr lang="en-US" sz="1000">
                          <a:effectLst/>
                        </a:rPr>
                        <a:t>EP1 - Depth of knowledge required: We acquired in-depth knowledge of software development and engineering principles, Svelte for web-based mobile application development, circuit analysis principles, and Three.js for rendering 3D objects.</a:t>
                      </a:r>
                      <a:endParaRPr lang="en-US" sz="1000">
                        <a:effectLst/>
                        <a:latin typeface="Calibri"/>
                        <a:ea typeface="Calibri"/>
                        <a:cs typeface="Times New Roman"/>
                      </a:endParaRPr>
                    </a:p>
                  </a:txBody>
                  <a:tcPr marL="18441" marR="18441" marT="18441" marB="18441"/>
                </a:tc>
              </a:tr>
              <a:tr h="1916637">
                <a:tc vMerge="1">
                  <a:txBody>
                    <a:bodyPr/>
                    <a:lstStyle/>
                    <a:p>
                      <a:endParaRPr lang="en-US"/>
                    </a:p>
                  </a:txBody>
                  <a:tcPr/>
                </a:tc>
                <a:tc vMerge="1">
                  <a:txBody>
                    <a:bodyPr/>
                    <a:lstStyle/>
                    <a:p>
                      <a:endParaRPr lang="en-US"/>
                    </a:p>
                  </a:txBody>
                  <a:tcPr/>
                </a:tc>
                <a:tc rowSpan="2">
                  <a:txBody>
                    <a:bodyPr/>
                    <a:lstStyle/>
                    <a:p>
                      <a:pPr marL="0" marR="0">
                        <a:lnSpc>
                          <a:spcPct val="105000"/>
                        </a:lnSpc>
                        <a:spcBef>
                          <a:spcPts val="0"/>
                        </a:spcBef>
                        <a:spcAft>
                          <a:spcPts val="800"/>
                        </a:spcAft>
                      </a:pPr>
                      <a:r>
                        <a:rPr lang="en-US" sz="1000">
                          <a:effectLst/>
                        </a:rPr>
                        <a:t>K2- Conceptually-based mathematics, numeral analysis, statistics, and formal aspects of computers and information:</a:t>
                      </a:r>
                    </a:p>
                    <a:p>
                      <a:pPr marL="0" marR="0">
                        <a:lnSpc>
                          <a:spcPct val="105000"/>
                        </a:lnSpc>
                        <a:spcBef>
                          <a:spcPts val="0"/>
                        </a:spcBef>
                        <a:spcAft>
                          <a:spcPts val="800"/>
                        </a:spcAft>
                      </a:pPr>
                      <a:r>
                        <a:rPr lang="en-US" sz="1000">
                          <a:effectLst/>
                        </a:rPr>
                        <a:t>In the design and development of the solution, various mathematical and computational concepts are involved. This includes applying mathematical principles such as Ohm's law and Kirchhoff's laws to analyze circuit behavior, performing numerical analysis for calculations and simulations, and utilizing statistical methods to evaluate the effectiveness of the app. Additionally, formal aspects of computers and information are considered, such as data structures, algorithms, and programming paradigms used in implementing the solution.</a:t>
                      </a:r>
                      <a:endParaRPr lang="en-US" sz="1000">
                        <a:effectLst/>
                        <a:latin typeface="Calibri"/>
                        <a:ea typeface="Calibri"/>
                        <a:cs typeface="Times New Roman"/>
                      </a:endParaRPr>
                    </a:p>
                  </a:txBody>
                  <a:tcPr marL="18441" marR="18441" marT="18441" marB="18441"/>
                </a:tc>
                <a:tc>
                  <a:txBody>
                    <a:bodyPr/>
                    <a:lstStyle/>
                    <a:p>
                      <a:pPr marL="0" marR="0">
                        <a:lnSpc>
                          <a:spcPct val="106000"/>
                        </a:lnSpc>
                        <a:spcBef>
                          <a:spcPts val="0"/>
                        </a:spcBef>
                        <a:spcAft>
                          <a:spcPts val="800"/>
                        </a:spcAft>
                      </a:pPr>
                      <a:r>
                        <a:rPr lang="en-US" sz="1000" dirty="0">
                          <a:effectLst/>
                        </a:rPr>
                        <a:t>EP2 - Range of conflicting requirements:</a:t>
                      </a:r>
                    </a:p>
                    <a:p>
                      <a:pPr marL="0" marR="0">
                        <a:lnSpc>
                          <a:spcPct val="106000"/>
                        </a:lnSpc>
                        <a:spcBef>
                          <a:spcPts val="0"/>
                        </a:spcBef>
                        <a:spcAft>
                          <a:spcPts val="800"/>
                        </a:spcAft>
                      </a:pPr>
                      <a:r>
                        <a:rPr lang="en-US" sz="1000" dirty="0">
                          <a:effectLst/>
                        </a:rPr>
                        <a:t>During the development process, conflicting requirements may arise, such as ensuring a balance between visual fidelity and performance in rendering 3D models, optimizing the user interface for intuitive interaction while maintaining simplicity, and managing the trade-offs between accuracy and real-time responsiveness in the circuit simulations. Resolving these conflicting requirements requires careful consideration and decision-making to find the most suitable solutions.</a:t>
                      </a:r>
                      <a:endParaRPr lang="en-US" sz="1000" dirty="0">
                        <a:effectLst/>
                        <a:latin typeface="Calibri"/>
                        <a:ea typeface="Calibri"/>
                        <a:cs typeface="Times New Roman"/>
                      </a:endParaRPr>
                    </a:p>
                  </a:txBody>
                  <a:tcPr marL="18441" marR="18441" marT="18441" marB="18441"/>
                </a:tc>
              </a:tr>
              <a:tr h="149519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a:lnSpc>
                          <a:spcPct val="106000"/>
                        </a:lnSpc>
                        <a:spcBef>
                          <a:spcPts val="0"/>
                        </a:spcBef>
                        <a:spcAft>
                          <a:spcPts val="800"/>
                        </a:spcAft>
                      </a:pPr>
                      <a:r>
                        <a:rPr lang="en-US" sz="1000" dirty="0">
                          <a:effectLst/>
                        </a:rPr>
                        <a:t> EP3 -: Depth of analysis required:</a:t>
                      </a:r>
                    </a:p>
                    <a:p>
                      <a:pPr marL="0" marR="0">
                        <a:lnSpc>
                          <a:spcPct val="106000"/>
                        </a:lnSpc>
                        <a:spcBef>
                          <a:spcPts val="0"/>
                        </a:spcBef>
                        <a:spcAft>
                          <a:spcPts val="800"/>
                        </a:spcAft>
                      </a:pPr>
                      <a:r>
                        <a:rPr lang="en-US" sz="1000" dirty="0">
                          <a:effectLst/>
                        </a:rPr>
                        <a:t>The project demands an in-depth analysis of web-based mobile application development, circuit theory fundamentals, user interface design, and evaluation methodologies. This comprehensive analysis is vital to ensure the successful integration of theory-based engineering fundamentals with augmented reality features, resulting in an effective and engaging learning tool for circuit theory education.</a:t>
                      </a:r>
                      <a:endParaRPr lang="en-US" sz="1000" dirty="0">
                        <a:effectLst/>
                        <a:latin typeface="Calibri"/>
                        <a:ea typeface="Calibri"/>
                        <a:cs typeface="Times New Roman"/>
                      </a:endParaRPr>
                    </a:p>
                  </a:txBody>
                  <a:tcPr marL="18441" marR="18441" marT="18441" marB="18441"/>
                </a:tc>
              </a:tr>
            </a:tbl>
          </a:graphicData>
        </a:graphic>
      </p:graphicFrame>
    </p:spTree>
    <p:extLst>
      <p:ext uri="{BB962C8B-B14F-4D97-AF65-F5344CB8AC3E}">
        <p14:creationId xmlns="" xmlns:p14="http://schemas.microsoft.com/office/powerpoint/2010/main" val="19561803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6454476" y="85535"/>
            <a:ext cx="2580760" cy="45129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400" dirty="0" smtClean="0"/>
              <a:t>Appendix (400B)</a:t>
            </a:r>
            <a:endParaRPr sz="24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19</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graphicFrame>
        <p:nvGraphicFramePr>
          <p:cNvPr id="3" name="Table 2"/>
          <p:cNvGraphicFramePr>
            <a:graphicFrameLocks noGrp="1"/>
          </p:cNvGraphicFramePr>
          <p:nvPr>
            <p:extLst>
              <p:ext uri="{D42A27DB-BD31-4B8C-83A1-F6EECF244321}">
                <p14:modId xmlns="" xmlns:p14="http://schemas.microsoft.com/office/powerpoint/2010/main" val="601660139"/>
              </p:ext>
            </p:extLst>
          </p:nvPr>
        </p:nvGraphicFramePr>
        <p:xfrm>
          <a:off x="97767" y="624627"/>
          <a:ext cx="8652533" cy="4188673"/>
        </p:xfrm>
        <a:graphic>
          <a:graphicData uri="http://schemas.openxmlformats.org/drawingml/2006/table">
            <a:tbl>
              <a:tblPr>
                <a:tableStyleId>{1A138BE6-E374-4A1A-BE6D-9E52B14417BE}</a:tableStyleId>
              </a:tblPr>
              <a:tblGrid>
                <a:gridCol w="667917"/>
                <a:gridCol w="1669787"/>
                <a:gridCol w="2413602"/>
                <a:gridCol w="3901227"/>
              </a:tblGrid>
              <a:tr h="4188673">
                <a:tc>
                  <a:txBody>
                    <a:bodyPr/>
                    <a:lstStyle/>
                    <a:p>
                      <a:pPr marL="0" marR="0">
                        <a:lnSpc>
                          <a:spcPct val="105000"/>
                        </a:lnSpc>
                        <a:spcBef>
                          <a:spcPts val="0"/>
                        </a:spcBef>
                        <a:spcAft>
                          <a:spcPts val="800"/>
                        </a:spcAft>
                      </a:pPr>
                      <a:r>
                        <a:rPr lang="en-US" sz="1100">
                          <a:effectLst/>
                        </a:rPr>
                        <a:t> </a:t>
                      </a:r>
                      <a:endParaRPr lang="en-US" sz="1100">
                        <a:effectLst/>
                        <a:latin typeface="Calibri"/>
                        <a:ea typeface="Calibri"/>
                        <a:cs typeface="Times New Roman"/>
                      </a:endParaRPr>
                    </a:p>
                  </a:txBody>
                  <a:tcPr marL="12769" marR="12769" marT="12769" marB="12769"/>
                </a:tc>
                <a:tc>
                  <a:txBody>
                    <a:bodyPr/>
                    <a:lstStyle/>
                    <a:p>
                      <a:pPr marL="0" marR="0">
                        <a:lnSpc>
                          <a:spcPct val="105000"/>
                        </a:lnSpc>
                        <a:spcBef>
                          <a:spcPts val="0"/>
                        </a:spcBef>
                        <a:spcAft>
                          <a:spcPts val="800"/>
                        </a:spcAft>
                      </a:pPr>
                      <a:r>
                        <a:rPr lang="en-US" sz="1100">
                          <a:effectLst/>
                        </a:rPr>
                        <a:t> </a:t>
                      </a:r>
                      <a:endParaRPr lang="en-US" sz="1100">
                        <a:effectLst/>
                        <a:latin typeface="Calibri"/>
                        <a:ea typeface="Calibri"/>
                        <a:cs typeface="Times New Roman"/>
                      </a:endParaRPr>
                    </a:p>
                  </a:txBody>
                  <a:tcPr marL="12769" marR="12769" marT="12769" marB="12769"/>
                </a:tc>
                <a:tc>
                  <a:txBody>
                    <a:bodyPr/>
                    <a:lstStyle/>
                    <a:p>
                      <a:pPr marL="0" marR="0">
                        <a:lnSpc>
                          <a:spcPct val="105000"/>
                        </a:lnSpc>
                        <a:spcBef>
                          <a:spcPts val="0"/>
                        </a:spcBef>
                        <a:spcAft>
                          <a:spcPts val="800"/>
                        </a:spcAft>
                      </a:pPr>
                      <a:r>
                        <a:rPr lang="en-US" sz="1100" dirty="0">
                          <a:effectLst/>
                        </a:rPr>
                        <a:t>K3: Theory-based engineering fundamentals</a:t>
                      </a:r>
                    </a:p>
                    <a:p>
                      <a:pPr marL="0" marR="0">
                        <a:lnSpc>
                          <a:spcPct val="105000"/>
                        </a:lnSpc>
                        <a:spcBef>
                          <a:spcPts val="0"/>
                        </a:spcBef>
                        <a:spcAft>
                          <a:spcPts val="800"/>
                        </a:spcAft>
                      </a:pPr>
                      <a:r>
                        <a:rPr lang="en-US" sz="1100" dirty="0">
                          <a:effectLst/>
                        </a:rPr>
                        <a:t>Using theory-based engineering principles, the "Interactive Circuit Learning with Simulation" project creates a web-based mobile application that transforms the teaching of circuit theory. The software provides an immersive and interesting learning experience by utilizing interactive 3D models, and a user-friendly interface. The study aims to show how this novel technique has improved comprehension and implementation of circuit theory ideas through the assessment process.</a:t>
                      </a:r>
                    </a:p>
                    <a:p>
                      <a:pPr marL="0" marR="0">
                        <a:lnSpc>
                          <a:spcPct val="105000"/>
                        </a:lnSpc>
                        <a:spcBef>
                          <a:spcPts val="0"/>
                        </a:spcBef>
                        <a:spcAft>
                          <a:spcPts val="800"/>
                        </a:spcAft>
                      </a:pPr>
                      <a:r>
                        <a:rPr lang="en-US" sz="1100" dirty="0">
                          <a:effectLst/>
                        </a:rPr>
                        <a:t> </a:t>
                      </a:r>
                    </a:p>
                    <a:p>
                      <a:pPr marL="0" marR="0">
                        <a:lnSpc>
                          <a:spcPct val="105000"/>
                        </a:lnSpc>
                        <a:spcBef>
                          <a:spcPts val="0"/>
                        </a:spcBef>
                        <a:spcAft>
                          <a:spcPts val="800"/>
                        </a:spcAft>
                      </a:pPr>
                      <a:r>
                        <a:rPr lang="en-US" sz="1100" dirty="0">
                          <a:effectLst/>
                        </a:rPr>
                        <a:t> </a:t>
                      </a:r>
                    </a:p>
                    <a:p>
                      <a:pPr marL="0" marR="0">
                        <a:lnSpc>
                          <a:spcPct val="105000"/>
                        </a:lnSpc>
                        <a:spcBef>
                          <a:spcPts val="0"/>
                        </a:spcBef>
                        <a:spcAft>
                          <a:spcPts val="800"/>
                        </a:spcAft>
                      </a:pPr>
                      <a:r>
                        <a:rPr lang="en-US" sz="1100" dirty="0">
                          <a:effectLst/>
                        </a:rPr>
                        <a:t> </a:t>
                      </a:r>
                      <a:endParaRPr lang="en-US" sz="1100" dirty="0">
                        <a:effectLst/>
                        <a:latin typeface="Calibri"/>
                        <a:ea typeface="Calibri"/>
                        <a:cs typeface="Times New Roman"/>
                      </a:endParaRPr>
                    </a:p>
                  </a:txBody>
                  <a:tcPr marL="12769" marR="12769" marT="12769" marB="12769"/>
                </a:tc>
                <a:tc>
                  <a:txBody>
                    <a:bodyPr/>
                    <a:lstStyle/>
                    <a:p>
                      <a:pPr marL="0" marR="0">
                        <a:lnSpc>
                          <a:spcPct val="106000"/>
                        </a:lnSpc>
                        <a:spcBef>
                          <a:spcPts val="0"/>
                        </a:spcBef>
                        <a:spcAft>
                          <a:spcPts val="800"/>
                        </a:spcAft>
                      </a:pPr>
                      <a:r>
                        <a:rPr lang="en-US" sz="1100" dirty="0">
                          <a:effectLst/>
                        </a:rPr>
                        <a:t>EP 6: Extent of stakeholder involvement and conflicting requirements</a:t>
                      </a:r>
                    </a:p>
                    <a:p>
                      <a:pPr marL="0" marR="0">
                        <a:lnSpc>
                          <a:spcPct val="106000"/>
                        </a:lnSpc>
                        <a:spcBef>
                          <a:spcPts val="0"/>
                        </a:spcBef>
                        <a:spcAft>
                          <a:spcPts val="800"/>
                        </a:spcAft>
                      </a:pPr>
                      <a:r>
                        <a:rPr lang="en-US" sz="1100" dirty="0">
                          <a:effectLst/>
                        </a:rPr>
                        <a:t>Stakeholders in this project include students, educators, instructional designers, engineers, and potential educational institutions. Their involvement is crucial for understanding the target audience, gathering requirements, and ensuring that the application meets their needs. Stakeholders may provide input on the desired features, learning objectives, user interface preferences, and evaluation criteria.</a:t>
                      </a:r>
                    </a:p>
                    <a:p>
                      <a:pPr marL="0" marR="0">
                        <a:lnSpc>
                          <a:spcPct val="106000"/>
                        </a:lnSpc>
                        <a:spcBef>
                          <a:spcPts val="0"/>
                        </a:spcBef>
                        <a:spcAft>
                          <a:spcPts val="800"/>
                        </a:spcAft>
                      </a:pPr>
                      <a:r>
                        <a:rPr lang="en-US" sz="1100" dirty="0">
                          <a:effectLst/>
                        </a:rPr>
                        <a:t> </a:t>
                      </a:r>
                    </a:p>
                    <a:p>
                      <a:pPr marL="0" marR="0">
                        <a:lnSpc>
                          <a:spcPct val="106000"/>
                        </a:lnSpc>
                        <a:spcBef>
                          <a:spcPts val="0"/>
                        </a:spcBef>
                        <a:spcAft>
                          <a:spcPts val="800"/>
                        </a:spcAft>
                      </a:pPr>
                      <a:r>
                        <a:rPr lang="en-US" sz="1100" dirty="0">
                          <a:effectLst/>
                        </a:rPr>
                        <a:t>EP7: Interdependence</a:t>
                      </a:r>
                    </a:p>
                    <a:p>
                      <a:pPr marL="0" marR="0">
                        <a:lnSpc>
                          <a:spcPct val="106000"/>
                        </a:lnSpc>
                        <a:spcBef>
                          <a:spcPts val="0"/>
                        </a:spcBef>
                        <a:spcAft>
                          <a:spcPts val="800"/>
                        </a:spcAft>
                      </a:pPr>
                      <a:r>
                        <a:rPr lang="en-US" sz="1100" dirty="0">
                          <a:effectLst/>
                        </a:rPr>
                        <a:t>The project's success is contingent upon recognizing and managing the interdependencies among theory-based engineering fundamentals, web-based mobile application development, user interface design, stakeholder involvement, conflicting requirements management, and evaluation processes.</a:t>
                      </a:r>
                      <a:endParaRPr lang="en-US" sz="1100" dirty="0">
                        <a:effectLst/>
                        <a:latin typeface="Calibri"/>
                        <a:ea typeface="Calibri"/>
                        <a:cs typeface="Times New Roman"/>
                      </a:endParaRPr>
                    </a:p>
                  </a:txBody>
                  <a:tcPr marL="12769" marR="12769" marT="12769" marB="12769"/>
                </a:tc>
              </a:tr>
            </a:tbl>
          </a:graphicData>
        </a:graphic>
      </p:graphicFrame>
    </p:spTree>
    <p:extLst>
      <p:ext uri="{BB962C8B-B14F-4D97-AF65-F5344CB8AC3E}">
        <p14:creationId xmlns="" xmlns:p14="http://schemas.microsoft.com/office/powerpoint/2010/main" val="14782466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6454476" y="85535"/>
            <a:ext cx="2580760" cy="45129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400" dirty="0" smtClean="0"/>
              <a:t>Appendix (400B)</a:t>
            </a:r>
            <a:endParaRPr sz="24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20</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graphicFrame>
        <p:nvGraphicFramePr>
          <p:cNvPr id="2" name="Table 1"/>
          <p:cNvGraphicFramePr>
            <a:graphicFrameLocks noGrp="1"/>
          </p:cNvGraphicFramePr>
          <p:nvPr>
            <p:extLst>
              <p:ext uri="{D42A27DB-BD31-4B8C-83A1-F6EECF244321}">
                <p14:modId xmlns="" xmlns:p14="http://schemas.microsoft.com/office/powerpoint/2010/main" val="1755684636"/>
              </p:ext>
            </p:extLst>
          </p:nvPr>
        </p:nvGraphicFramePr>
        <p:xfrm>
          <a:off x="2857555" y="228600"/>
          <a:ext cx="2400190" cy="4822464"/>
        </p:xfrm>
        <a:graphic>
          <a:graphicData uri="http://schemas.openxmlformats.org/drawingml/2006/table">
            <a:tbl>
              <a:tblPr>
                <a:tableStyleId>{1A138BE6-E374-4A1A-BE6D-9E52B14417BE}</a:tableStyleId>
              </a:tblPr>
              <a:tblGrid>
                <a:gridCol w="2400190"/>
              </a:tblGrid>
              <a:tr h="0">
                <a:tc>
                  <a:txBody>
                    <a:bodyPr/>
                    <a:lstStyle/>
                    <a:p>
                      <a:pPr marL="0" marR="0">
                        <a:lnSpc>
                          <a:spcPct val="105000"/>
                        </a:lnSpc>
                        <a:spcBef>
                          <a:spcPts val="0"/>
                        </a:spcBef>
                        <a:spcAft>
                          <a:spcPts val="800"/>
                        </a:spcAft>
                      </a:pPr>
                      <a:endParaRPr lang="en-US" sz="1200" dirty="0">
                        <a:effectLst/>
                        <a:latin typeface="Calibri"/>
                        <a:ea typeface="Calibri"/>
                        <a:cs typeface="Times New Roman"/>
                      </a:endParaRPr>
                    </a:p>
                  </a:txBody>
                  <a:tcPr marL="28072" marR="28072" marT="28072" marB="28072"/>
                </a:tc>
              </a:tr>
              <a:tr h="801411">
                <a:tc>
                  <a:txBody>
                    <a:bodyPr/>
                    <a:lstStyle/>
                    <a:p>
                      <a:pPr marL="0" marR="0">
                        <a:lnSpc>
                          <a:spcPct val="105000"/>
                        </a:lnSpc>
                        <a:spcBef>
                          <a:spcPts val="0"/>
                        </a:spcBef>
                        <a:spcAft>
                          <a:spcPts val="800"/>
                        </a:spcAft>
                      </a:pPr>
                      <a:r>
                        <a:rPr lang="en-US" sz="1200" dirty="0">
                          <a:effectLst/>
                        </a:rPr>
                        <a:t>K5: Engineering design</a:t>
                      </a:r>
                    </a:p>
                    <a:p>
                      <a:pPr marL="0" marR="0">
                        <a:lnSpc>
                          <a:spcPct val="105000"/>
                        </a:lnSpc>
                        <a:spcBef>
                          <a:spcPts val="0"/>
                        </a:spcBef>
                        <a:spcAft>
                          <a:spcPts val="800"/>
                        </a:spcAft>
                      </a:pPr>
                      <a:r>
                        <a:rPr lang="en-US" sz="1200" dirty="0">
                          <a:effectLst/>
                        </a:rPr>
                        <a:t>Our plan is to create a user interface that is simple, intuitive, and easily understandable for our target audience. We aim to make the interface visually appealing and self-explanatory, following a minimalistic design approach that prioritizes usability. To design the interface, we will utilize </a:t>
                      </a:r>
                      <a:r>
                        <a:rPr lang="en-US" sz="1200" dirty="0" err="1">
                          <a:effectLst/>
                        </a:rPr>
                        <a:t>Figma</a:t>
                      </a:r>
                      <a:r>
                        <a:rPr lang="en-US" sz="1200" dirty="0">
                          <a:effectLst/>
                        </a:rPr>
                        <a:t> as our chosen design tool. The application will feature a homepage where users can access a list of available lessons. Upon selecting a lesson, they will be presented with in-depth explanations of fundamental theories. Each lesson will conclude with a brief interactive quiz to reinforce learning. Finally, users will be prompted to scan a provided circuit to initiate a simulation.</a:t>
                      </a:r>
                      <a:endParaRPr lang="en-US" sz="1200" dirty="0">
                        <a:effectLst/>
                        <a:latin typeface="Calibri"/>
                        <a:ea typeface="Calibri"/>
                        <a:cs typeface="Times New Roman"/>
                      </a:endParaRPr>
                    </a:p>
                  </a:txBody>
                  <a:tcPr marL="28072" marR="28072" marT="28072" marB="28072"/>
                </a:tc>
              </a:tr>
            </a:tbl>
          </a:graphicData>
        </a:graphic>
      </p:graphicFrame>
    </p:spTree>
    <p:extLst>
      <p:ext uri="{BB962C8B-B14F-4D97-AF65-F5344CB8AC3E}">
        <p14:creationId xmlns="" xmlns:p14="http://schemas.microsoft.com/office/powerpoint/2010/main" val="55708686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6454476" y="85535"/>
            <a:ext cx="2580760" cy="45129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400" dirty="0" smtClean="0"/>
              <a:t>Appendix (400B)</a:t>
            </a:r>
            <a:endParaRPr sz="24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21</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graphicFrame>
        <p:nvGraphicFramePr>
          <p:cNvPr id="3" name="Table 2"/>
          <p:cNvGraphicFramePr>
            <a:graphicFrameLocks noGrp="1"/>
          </p:cNvGraphicFramePr>
          <p:nvPr>
            <p:extLst>
              <p:ext uri="{D42A27DB-BD31-4B8C-83A1-F6EECF244321}">
                <p14:modId xmlns="" xmlns:p14="http://schemas.microsoft.com/office/powerpoint/2010/main" val="1037485982"/>
              </p:ext>
            </p:extLst>
          </p:nvPr>
        </p:nvGraphicFramePr>
        <p:xfrm>
          <a:off x="711200" y="746422"/>
          <a:ext cx="7365999" cy="4074011"/>
        </p:xfrm>
        <a:graphic>
          <a:graphicData uri="http://schemas.openxmlformats.org/drawingml/2006/table">
            <a:tbl>
              <a:tblPr>
                <a:tableStyleId>{1A138BE6-E374-4A1A-BE6D-9E52B14417BE}</a:tableStyleId>
              </a:tblPr>
              <a:tblGrid>
                <a:gridCol w="568604"/>
                <a:gridCol w="1421508"/>
                <a:gridCol w="1235688"/>
                <a:gridCol w="4140199"/>
              </a:tblGrid>
              <a:tr h="3162300">
                <a:tc>
                  <a:txBody>
                    <a:bodyPr/>
                    <a:lstStyle/>
                    <a:p>
                      <a:pPr marL="0" marR="0">
                        <a:lnSpc>
                          <a:spcPct val="105000"/>
                        </a:lnSpc>
                        <a:spcBef>
                          <a:spcPts val="0"/>
                        </a:spcBef>
                        <a:spcAft>
                          <a:spcPts val="800"/>
                        </a:spcAft>
                      </a:pPr>
                      <a:r>
                        <a:rPr lang="en-US" sz="1200">
                          <a:effectLst/>
                        </a:rPr>
                        <a:t>CO5</a:t>
                      </a:r>
                      <a:endParaRPr lang="en-US" sz="1200">
                        <a:effectLst/>
                        <a:latin typeface="Calibri"/>
                        <a:ea typeface="Calibri"/>
                        <a:cs typeface="Times New Roman"/>
                      </a:endParaRPr>
                    </a:p>
                  </a:txBody>
                  <a:tcPr marL="38216" marR="38216" marT="38216" marB="38216"/>
                </a:tc>
                <a:tc>
                  <a:txBody>
                    <a:bodyPr/>
                    <a:lstStyle/>
                    <a:p>
                      <a:pPr marL="0" marR="0" algn="just">
                        <a:lnSpc>
                          <a:spcPct val="106000"/>
                        </a:lnSpc>
                        <a:spcBef>
                          <a:spcPts val="0"/>
                        </a:spcBef>
                        <a:spcAft>
                          <a:spcPts val="800"/>
                        </a:spcAft>
                      </a:pPr>
                      <a:r>
                        <a:rPr lang="en-US" sz="1200">
                          <a:effectLst/>
                        </a:rPr>
                        <a:t>Identify and apply modern engineering and IT tools for the design and development of the capstone project.</a:t>
                      </a:r>
                      <a:endParaRPr lang="en-US" sz="1200">
                        <a:effectLst/>
                        <a:latin typeface="Calibri"/>
                        <a:ea typeface="Calibri"/>
                        <a:cs typeface="Times New Roman"/>
                      </a:endParaRPr>
                    </a:p>
                  </a:txBody>
                  <a:tcPr marL="38216" marR="38216" marT="0" marB="0"/>
                </a:tc>
                <a:tc>
                  <a:txBody>
                    <a:bodyPr/>
                    <a:lstStyle/>
                    <a:p>
                      <a:pPr marL="0" marR="0">
                        <a:lnSpc>
                          <a:spcPct val="105000"/>
                        </a:lnSpc>
                        <a:spcBef>
                          <a:spcPts val="0"/>
                        </a:spcBef>
                        <a:spcAft>
                          <a:spcPts val="800"/>
                        </a:spcAft>
                      </a:pPr>
                      <a:r>
                        <a:rPr lang="en-US" sz="1200">
                          <a:effectLst/>
                        </a:rPr>
                        <a:t>K6: Engineering practice (technology)</a:t>
                      </a:r>
                    </a:p>
                    <a:p>
                      <a:pPr marL="0" marR="0">
                        <a:lnSpc>
                          <a:spcPct val="105000"/>
                        </a:lnSpc>
                        <a:spcBef>
                          <a:spcPts val="0"/>
                        </a:spcBef>
                        <a:spcAft>
                          <a:spcPts val="800"/>
                        </a:spcAft>
                      </a:pPr>
                      <a:r>
                        <a:rPr lang="en-US" sz="1200">
                          <a:effectLst/>
                        </a:rPr>
                        <a:t>The application uses Svelte, a declarative framework, to create user interfaces. Three.Js for rendering 3D objects into the simulator.</a:t>
                      </a:r>
                      <a:endParaRPr lang="en-US" sz="1200">
                        <a:effectLst/>
                        <a:latin typeface="Calibri"/>
                        <a:ea typeface="Calibri"/>
                        <a:cs typeface="Times New Roman"/>
                      </a:endParaRPr>
                    </a:p>
                  </a:txBody>
                  <a:tcPr marL="38216" marR="38216" marT="38216" marB="38216"/>
                </a:tc>
                <a:tc>
                  <a:txBody>
                    <a:bodyPr/>
                    <a:lstStyle/>
                    <a:p>
                      <a:pPr marL="0" marR="0">
                        <a:lnSpc>
                          <a:spcPct val="106000"/>
                        </a:lnSpc>
                        <a:spcBef>
                          <a:spcPts val="0"/>
                        </a:spcBef>
                        <a:spcAft>
                          <a:spcPts val="800"/>
                        </a:spcAft>
                      </a:pPr>
                      <a:r>
                        <a:rPr lang="en-US" sz="1200" dirty="0">
                          <a:effectLst/>
                        </a:rPr>
                        <a:t>Materials and Devices [EP1, EP2, EP4, EP5] </a:t>
                      </a:r>
                    </a:p>
                    <a:p>
                      <a:pPr marL="0" marR="0">
                        <a:lnSpc>
                          <a:spcPct val="106000"/>
                        </a:lnSpc>
                        <a:spcBef>
                          <a:spcPts val="0"/>
                        </a:spcBef>
                        <a:spcAft>
                          <a:spcPts val="800"/>
                        </a:spcAft>
                      </a:pPr>
                      <a:r>
                        <a:rPr lang="en-US" sz="1200" dirty="0">
                          <a:effectLst/>
                        </a:rPr>
                        <a:t>The user interface will be basic, straightforward, visually attractive, and self-explanatory, using </a:t>
                      </a:r>
                      <a:r>
                        <a:rPr lang="en-US" sz="1200" dirty="0" err="1">
                          <a:effectLst/>
                        </a:rPr>
                        <a:t>Figma</a:t>
                      </a:r>
                      <a:r>
                        <a:rPr lang="en-US" sz="1200" dirty="0">
                          <a:effectLst/>
                        </a:rPr>
                        <a:t> as the design tool. The app will display available lessons, provide in-depth theories, and offer an interactive quiz at the end. Users will then scan circuits to begin simulations.</a:t>
                      </a:r>
                    </a:p>
                    <a:p>
                      <a:pPr marL="0" marR="0">
                        <a:lnSpc>
                          <a:spcPct val="106000"/>
                        </a:lnSpc>
                        <a:spcBef>
                          <a:spcPts val="0"/>
                        </a:spcBef>
                        <a:spcAft>
                          <a:spcPts val="800"/>
                        </a:spcAft>
                      </a:pPr>
                      <a:r>
                        <a:rPr lang="en-US" sz="1200" dirty="0">
                          <a:effectLst/>
                        </a:rPr>
                        <a:t> </a:t>
                      </a:r>
                    </a:p>
                    <a:p>
                      <a:pPr marL="0" marR="0">
                        <a:lnSpc>
                          <a:spcPct val="106000"/>
                        </a:lnSpc>
                        <a:spcBef>
                          <a:spcPts val="0"/>
                        </a:spcBef>
                        <a:spcAft>
                          <a:spcPts val="800"/>
                        </a:spcAft>
                      </a:pPr>
                      <a:r>
                        <a:rPr lang="en-US" sz="1200" dirty="0">
                          <a:effectLst/>
                        </a:rPr>
                        <a:t>Blender is a free 3D computer graphics tool used for animation, visual effects, artwork, and interactive apps. It allows for the modification of appealing circuit simulations and models, while maintaining relevance and resembling illustrations in the book.</a:t>
                      </a:r>
                    </a:p>
                    <a:p>
                      <a:pPr marL="0" marR="0">
                        <a:lnSpc>
                          <a:spcPct val="106000"/>
                        </a:lnSpc>
                        <a:spcBef>
                          <a:spcPts val="0"/>
                        </a:spcBef>
                        <a:spcAft>
                          <a:spcPts val="800"/>
                        </a:spcAft>
                      </a:pPr>
                      <a:r>
                        <a:rPr lang="en-US" sz="1200" dirty="0">
                          <a:effectLst/>
                        </a:rPr>
                        <a:t> </a:t>
                      </a:r>
                    </a:p>
                    <a:p>
                      <a:pPr marL="0" marR="0">
                        <a:lnSpc>
                          <a:spcPct val="106000"/>
                        </a:lnSpc>
                        <a:spcBef>
                          <a:spcPts val="0"/>
                        </a:spcBef>
                        <a:spcAft>
                          <a:spcPts val="800"/>
                        </a:spcAft>
                      </a:pPr>
                      <a:r>
                        <a:rPr lang="en-US" sz="1200" dirty="0">
                          <a:effectLst/>
                        </a:rPr>
                        <a:t>Our application will be web-based. Our program will be portable and easily available thanks to a web-based application. Web-based apps are fast and cross-platform. Additionally, we can quickly package and deliver the application to any mobile platform.</a:t>
                      </a:r>
                      <a:endParaRPr lang="en-US" sz="1200" dirty="0">
                        <a:effectLst/>
                        <a:latin typeface="Calibri"/>
                        <a:ea typeface="Calibri"/>
                        <a:cs typeface="Times New Roman"/>
                      </a:endParaRPr>
                    </a:p>
                  </a:txBody>
                  <a:tcPr marL="38216" marR="38216" marT="38216" marB="38216"/>
                </a:tc>
              </a:tr>
            </a:tbl>
          </a:graphicData>
        </a:graphic>
      </p:graphicFrame>
    </p:spTree>
    <p:extLst>
      <p:ext uri="{BB962C8B-B14F-4D97-AF65-F5344CB8AC3E}">
        <p14:creationId xmlns="" xmlns:p14="http://schemas.microsoft.com/office/powerpoint/2010/main" val="36436211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6454476" y="85535"/>
            <a:ext cx="2580760" cy="45129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400" dirty="0" smtClean="0"/>
              <a:t>Appendix (400B)</a:t>
            </a:r>
            <a:endParaRPr sz="24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22</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graphicFrame>
        <p:nvGraphicFramePr>
          <p:cNvPr id="2" name="Table 1"/>
          <p:cNvGraphicFramePr>
            <a:graphicFrameLocks noGrp="1"/>
          </p:cNvGraphicFramePr>
          <p:nvPr>
            <p:extLst>
              <p:ext uri="{D42A27DB-BD31-4B8C-83A1-F6EECF244321}">
                <p14:modId xmlns="" xmlns:p14="http://schemas.microsoft.com/office/powerpoint/2010/main" val="2866301505"/>
              </p:ext>
            </p:extLst>
          </p:nvPr>
        </p:nvGraphicFramePr>
        <p:xfrm>
          <a:off x="317021" y="921542"/>
          <a:ext cx="8395179" cy="3370520"/>
        </p:xfrm>
        <a:graphic>
          <a:graphicData uri="http://schemas.openxmlformats.org/drawingml/2006/table">
            <a:tbl>
              <a:tblPr>
                <a:tableStyleId>{1A138BE6-E374-4A1A-BE6D-9E52B14417BE}</a:tableStyleId>
              </a:tblPr>
              <a:tblGrid>
                <a:gridCol w="648047"/>
                <a:gridCol w="1620124"/>
                <a:gridCol w="2341813"/>
                <a:gridCol w="3785195"/>
              </a:tblGrid>
              <a:tr h="3162300">
                <a:tc>
                  <a:txBody>
                    <a:bodyPr/>
                    <a:lstStyle/>
                    <a:p>
                      <a:pPr marL="0" marR="0">
                        <a:lnSpc>
                          <a:spcPct val="105000"/>
                        </a:lnSpc>
                        <a:spcBef>
                          <a:spcPts val="0"/>
                        </a:spcBef>
                        <a:spcAft>
                          <a:spcPts val="800"/>
                        </a:spcAft>
                      </a:pPr>
                      <a:r>
                        <a:rPr lang="en-US" sz="1000">
                          <a:effectLst/>
                        </a:rPr>
                        <a:t>CO6</a:t>
                      </a:r>
                      <a:endParaRPr lang="en-US" sz="1000">
                        <a:effectLst/>
                        <a:latin typeface="Calibri"/>
                        <a:ea typeface="Calibri"/>
                        <a:cs typeface="Times New Roman"/>
                      </a:endParaRPr>
                    </a:p>
                  </a:txBody>
                  <a:tcPr marL="34260" marR="34260" marT="34260" marB="34260"/>
                </a:tc>
                <a:tc>
                  <a:txBody>
                    <a:bodyPr/>
                    <a:lstStyle/>
                    <a:p>
                      <a:pPr marL="0" marR="0" algn="just">
                        <a:lnSpc>
                          <a:spcPct val="106000"/>
                        </a:lnSpc>
                        <a:spcBef>
                          <a:spcPts val="0"/>
                        </a:spcBef>
                        <a:spcAft>
                          <a:spcPts val="800"/>
                        </a:spcAft>
                      </a:pPr>
                      <a:r>
                        <a:rPr lang="en-US" sz="1000">
                          <a:effectLst/>
                        </a:rPr>
                        <a:t>Assess and address societal, health, safety, legal, and cultural aspects related to the implementation of the capstone project considering the relevant professional and engineering practices and solutions.</a:t>
                      </a:r>
                      <a:endParaRPr lang="en-US" sz="1000">
                        <a:effectLst/>
                        <a:latin typeface="Calibri"/>
                        <a:ea typeface="Calibri"/>
                        <a:cs typeface="Times New Roman"/>
                      </a:endParaRPr>
                    </a:p>
                  </a:txBody>
                  <a:tcPr marL="34260" marR="34260" marT="0" marB="0"/>
                </a:tc>
                <a:tc>
                  <a:txBody>
                    <a:bodyPr/>
                    <a:lstStyle/>
                    <a:p>
                      <a:pPr marL="0" marR="0">
                        <a:lnSpc>
                          <a:spcPct val="105000"/>
                        </a:lnSpc>
                        <a:spcBef>
                          <a:spcPts val="0"/>
                        </a:spcBef>
                        <a:spcAft>
                          <a:spcPts val="800"/>
                        </a:spcAft>
                      </a:pPr>
                      <a:r>
                        <a:rPr lang="en-US" sz="1000">
                          <a:effectLst/>
                        </a:rPr>
                        <a:t>K7: Social and Environmental Impact of Engineering</a:t>
                      </a:r>
                    </a:p>
                    <a:p>
                      <a:pPr marL="0" marR="0">
                        <a:lnSpc>
                          <a:spcPct val="105000"/>
                        </a:lnSpc>
                        <a:spcBef>
                          <a:spcPts val="0"/>
                        </a:spcBef>
                        <a:spcAft>
                          <a:spcPts val="800"/>
                        </a:spcAft>
                      </a:pPr>
                      <a:r>
                        <a:rPr lang="en-US" sz="1000">
                          <a:effectLst/>
                        </a:rPr>
                        <a:t>The initiative promotes accessibility, diversity, and educational justice in order to address the societal effect. Through a web-based mobile application, it seeks to connect with a wide spectrum of people and offers a user-friendly interface for various learning methods. The project considers the effects on the environment by prioritizing energy efficiency and minimizing the use of physical resources. Privacy protection and ethical simulation technology used for educational purposes are ethical issues. Overall, the project makes an effort to use engineering practices to have a beneficial social and environmental impact.</a:t>
                      </a:r>
                      <a:endParaRPr lang="en-US" sz="1000">
                        <a:effectLst/>
                        <a:latin typeface="Calibri"/>
                        <a:ea typeface="Calibri"/>
                        <a:cs typeface="Times New Roman"/>
                      </a:endParaRPr>
                    </a:p>
                  </a:txBody>
                  <a:tcPr marL="34260" marR="34260" marT="34260" marB="34260"/>
                </a:tc>
                <a:tc>
                  <a:txBody>
                    <a:bodyPr/>
                    <a:lstStyle/>
                    <a:p>
                      <a:pPr marL="0" marR="0">
                        <a:lnSpc>
                          <a:spcPct val="106000"/>
                        </a:lnSpc>
                        <a:spcBef>
                          <a:spcPts val="0"/>
                        </a:spcBef>
                        <a:spcAft>
                          <a:spcPts val="800"/>
                        </a:spcAft>
                      </a:pPr>
                      <a:r>
                        <a:rPr lang="en-US" sz="1000" dirty="0">
                          <a:effectLst/>
                        </a:rPr>
                        <a:t>Social and Environmental Impact of Engineering [EP2, EP5, EP6] </a:t>
                      </a:r>
                    </a:p>
                    <a:p>
                      <a:pPr marL="0" marR="0">
                        <a:lnSpc>
                          <a:spcPct val="106000"/>
                        </a:lnSpc>
                        <a:spcBef>
                          <a:spcPts val="0"/>
                        </a:spcBef>
                        <a:spcAft>
                          <a:spcPts val="800"/>
                        </a:spcAft>
                      </a:pPr>
                      <a:r>
                        <a:rPr lang="en-US" sz="1000" dirty="0">
                          <a:effectLst/>
                        </a:rPr>
                        <a:t>The project acknowledges stakeholder needs and viewpoints, actively involving them in the development process. The user interface design prioritizes simplicity and intuitiveness, ensuring an immersive learning experience while balancing competing requirements.</a:t>
                      </a:r>
                    </a:p>
                    <a:p>
                      <a:pPr marL="0" marR="0">
                        <a:lnSpc>
                          <a:spcPct val="106000"/>
                        </a:lnSpc>
                        <a:spcBef>
                          <a:spcPts val="0"/>
                        </a:spcBef>
                        <a:spcAft>
                          <a:spcPts val="800"/>
                        </a:spcAft>
                      </a:pPr>
                      <a:r>
                        <a:rPr lang="en-US" sz="1000" dirty="0">
                          <a:effectLst/>
                        </a:rPr>
                        <a:t> </a:t>
                      </a:r>
                    </a:p>
                    <a:p>
                      <a:pPr marL="0" marR="0">
                        <a:lnSpc>
                          <a:spcPct val="106000"/>
                        </a:lnSpc>
                        <a:spcBef>
                          <a:spcPts val="0"/>
                        </a:spcBef>
                        <a:spcAft>
                          <a:spcPts val="800"/>
                        </a:spcAft>
                      </a:pPr>
                      <a:r>
                        <a:rPr lang="en-US" sz="1000" dirty="0">
                          <a:effectLst/>
                        </a:rPr>
                        <a:t>The engineering design of the web-based mobile application prioritizes inclusion, accessibility, and educational fairness. It removes geographical restrictions, ensures usability for all learning styles, and promotes equitable access to circuit theory instruction. The design prioritizes energy-efficient technology and environmental factors.</a:t>
                      </a:r>
                    </a:p>
                    <a:p>
                      <a:pPr marL="0" marR="0">
                        <a:lnSpc>
                          <a:spcPct val="106000"/>
                        </a:lnSpc>
                        <a:spcBef>
                          <a:spcPts val="0"/>
                        </a:spcBef>
                        <a:spcAft>
                          <a:spcPts val="800"/>
                        </a:spcAft>
                      </a:pPr>
                      <a:r>
                        <a:rPr lang="en-US" sz="1000" dirty="0">
                          <a:effectLst/>
                        </a:rPr>
                        <a:t> </a:t>
                      </a:r>
                    </a:p>
                    <a:p>
                      <a:pPr marL="0" marR="0">
                        <a:lnSpc>
                          <a:spcPct val="106000"/>
                        </a:lnSpc>
                        <a:spcBef>
                          <a:spcPts val="0"/>
                        </a:spcBef>
                        <a:spcAft>
                          <a:spcPts val="800"/>
                        </a:spcAft>
                      </a:pPr>
                      <a:r>
                        <a:rPr lang="en-US" sz="1000" dirty="0">
                          <a:effectLst/>
                        </a:rPr>
                        <a:t>The initiative utilizes advanced engineering techniques and technology to improve society and the environment. </a:t>
                      </a:r>
                      <a:endParaRPr lang="en-US" sz="1000" dirty="0">
                        <a:effectLst/>
                        <a:latin typeface="Calibri"/>
                        <a:ea typeface="Calibri"/>
                        <a:cs typeface="Times New Roman"/>
                      </a:endParaRPr>
                    </a:p>
                  </a:txBody>
                  <a:tcPr marL="34260" marR="34260" marT="34260" marB="34260"/>
                </a:tc>
              </a:tr>
            </a:tbl>
          </a:graphicData>
        </a:graphic>
      </p:graphicFrame>
      <p:sp>
        <p:nvSpPr>
          <p:cNvPr id="4" name="Rectangle 1"/>
          <p:cNvSpPr>
            <a:spLocks noChangeArrowheads="1"/>
          </p:cNvSpPr>
          <p:nvPr/>
        </p:nvSpPr>
        <p:spPr bwMode="auto">
          <a:xfrm>
            <a:off x="2122488" y="1263650"/>
            <a:ext cx="9144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 xmlns:p14="http://schemas.microsoft.com/office/powerpoint/2010/main" val="21378255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6454476" y="85535"/>
            <a:ext cx="2580760" cy="45129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400" dirty="0" smtClean="0"/>
              <a:t>Appendix (400C)</a:t>
            </a:r>
            <a:endParaRPr sz="24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23</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
        <p:nvSpPr>
          <p:cNvPr id="4" name="Rectangle 1"/>
          <p:cNvSpPr>
            <a:spLocks noChangeArrowheads="1"/>
          </p:cNvSpPr>
          <p:nvPr/>
        </p:nvSpPr>
        <p:spPr bwMode="auto">
          <a:xfrm>
            <a:off x="2122488" y="1263650"/>
            <a:ext cx="9144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10" name="Table 9"/>
          <p:cNvGraphicFramePr>
            <a:graphicFrameLocks noGrp="1"/>
          </p:cNvGraphicFramePr>
          <p:nvPr/>
        </p:nvGraphicFramePr>
        <p:xfrm>
          <a:off x="345440" y="695871"/>
          <a:ext cx="8382000" cy="4049758"/>
        </p:xfrm>
        <a:graphic>
          <a:graphicData uri="http://schemas.openxmlformats.org/drawingml/2006/table">
            <a:tbl>
              <a:tblPr/>
              <a:tblGrid>
                <a:gridCol w="763335"/>
                <a:gridCol w="1350516"/>
                <a:gridCol w="1980629"/>
                <a:gridCol w="412132"/>
                <a:gridCol w="3875388"/>
              </a:tblGrid>
              <a:tr h="96609">
                <a:tc>
                  <a:txBody>
                    <a:bodyPr/>
                    <a:lstStyle/>
                    <a:p>
                      <a:pPr marL="0" marR="0" algn="ctr">
                        <a:lnSpc>
                          <a:spcPct val="106000"/>
                        </a:lnSpc>
                        <a:spcBef>
                          <a:spcPts val="0"/>
                        </a:spcBef>
                        <a:spcAft>
                          <a:spcPts val="0"/>
                        </a:spcAft>
                      </a:pPr>
                      <a:r>
                        <a:rPr lang="en-US" sz="900" b="1" dirty="0" smtClean="0">
                          <a:latin typeface="Times New Roman"/>
                          <a:ea typeface="Times New Roman"/>
                          <a:cs typeface="Times New Roman"/>
                        </a:rPr>
                        <a:t>CO</a:t>
                      </a:r>
                      <a:endParaRPr lang="en-US" sz="900" dirty="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6000"/>
                        </a:lnSpc>
                        <a:spcBef>
                          <a:spcPts val="0"/>
                        </a:spcBef>
                        <a:spcAft>
                          <a:spcPts val="0"/>
                        </a:spcAft>
                      </a:pPr>
                      <a:r>
                        <a:rPr lang="en-US" sz="900" b="1" dirty="0">
                          <a:latin typeface="Times New Roman"/>
                          <a:ea typeface="Times New Roman"/>
                          <a:cs typeface="Times New Roman"/>
                        </a:rPr>
                        <a:t>CO Descriptions </a:t>
                      </a:r>
                      <a:endParaRPr lang="en-US" sz="900" dirty="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ctr">
                        <a:lnSpc>
                          <a:spcPct val="106000"/>
                        </a:lnSpc>
                        <a:spcBef>
                          <a:spcPts val="0"/>
                        </a:spcBef>
                        <a:spcAft>
                          <a:spcPts val="0"/>
                        </a:spcAft>
                      </a:pPr>
                      <a:r>
                        <a:rPr lang="en-US" sz="900" b="1" dirty="0" smtClean="0">
                          <a:latin typeface="Times New Roman"/>
                          <a:ea typeface="Times New Roman"/>
                          <a:cs typeface="Times New Roman"/>
                        </a:rPr>
                        <a:t>K</a:t>
                      </a:r>
                      <a:endParaRPr lang="en-US" sz="900" dirty="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algn="ctr">
                        <a:lnSpc>
                          <a:spcPct val="106000"/>
                        </a:lnSpc>
                        <a:spcBef>
                          <a:spcPts val="0"/>
                        </a:spcBef>
                        <a:spcAft>
                          <a:spcPts val="0"/>
                        </a:spcAft>
                      </a:pPr>
                      <a:r>
                        <a:rPr lang="en-US" sz="900" b="1" dirty="0">
                          <a:latin typeface="Times New Roman"/>
                          <a:ea typeface="Times New Roman"/>
                          <a:cs typeface="Times New Roman"/>
                        </a:rPr>
                        <a:t>EP </a:t>
                      </a:r>
                      <a:endParaRPr lang="en-US" sz="900" dirty="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9874">
                <a:tc gridSpan="5">
                  <a:txBody>
                    <a:bodyPr/>
                    <a:lstStyle/>
                    <a:p>
                      <a:pPr marL="0" marR="0" algn="ctr">
                        <a:lnSpc>
                          <a:spcPct val="106000"/>
                        </a:lnSpc>
                        <a:spcBef>
                          <a:spcPts val="0"/>
                        </a:spcBef>
                        <a:spcAft>
                          <a:spcPts val="0"/>
                        </a:spcAft>
                      </a:pPr>
                      <a:r>
                        <a:rPr lang="en-US" sz="900" b="1">
                          <a:latin typeface="Times New Roman"/>
                          <a:ea typeface="Times New Roman"/>
                          <a:cs typeface="Times New Roman"/>
                        </a:rPr>
                        <a:t>CSE 400C</a:t>
                      </a:r>
                      <a:endParaRPr lang="en-US" sz="90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r h="3661040">
                <a:tc>
                  <a:txBody>
                    <a:bodyPr/>
                    <a:lstStyle/>
                    <a:p>
                      <a:pPr marL="0" marR="0" algn="just">
                        <a:lnSpc>
                          <a:spcPct val="106000"/>
                        </a:lnSpc>
                        <a:spcBef>
                          <a:spcPts val="0"/>
                        </a:spcBef>
                        <a:spcAft>
                          <a:spcPts val="0"/>
                        </a:spcAft>
                      </a:pPr>
                      <a:r>
                        <a:rPr lang="en-US" sz="900" b="1">
                          <a:latin typeface="Times New Roman"/>
                          <a:ea typeface="Times New Roman"/>
                          <a:cs typeface="Times New Roman"/>
                        </a:rPr>
                        <a:t>CO7</a:t>
                      </a:r>
                      <a:endParaRPr lang="en-US" sz="90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800">
                          <a:latin typeface="Times New Roman"/>
                          <a:ea typeface="Times New Roman"/>
                          <a:cs typeface="Times New Roman"/>
                        </a:rPr>
                        <a:t>Assess and address the sustainability and impact of the capstone project in societal and environmental contexts </a:t>
                      </a:r>
                      <a:endParaRPr lang="en-US" sz="90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800" b="1" dirty="0">
                          <a:latin typeface="Times New Roman"/>
                          <a:ea typeface="Times New Roman"/>
                          <a:cs typeface="Times New Roman"/>
                        </a:rPr>
                        <a:t>(</a:t>
                      </a:r>
                      <a:r>
                        <a:rPr lang="en-US" sz="800" b="1" dirty="0" err="1">
                          <a:latin typeface="Times New Roman"/>
                          <a:ea typeface="Times New Roman"/>
                          <a:cs typeface="Times New Roman"/>
                        </a:rPr>
                        <a:t>i</a:t>
                      </a:r>
                      <a:r>
                        <a:rPr lang="en-US" sz="800" b="1" dirty="0">
                          <a:latin typeface="Times New Roman"/>
                          <a:ea typeface="Times New Roman"/>
                          <a:cs typeface="Times New Roman"/>
                        </a:rPr>
                        <a:t>) Social and Environmental Impact of Engineering [K7]:</a:t>
                      </a:r>
                      <a:r>
                        <a:rPr lang="en-US" sz="800" dirty="0">
                          <a:latin typeface="Times New Roman"/>
                          <a:ea typeface="Times New Roman"/>
                          <a:cs typeface="Times New Roman"/>
                        </a:rPr>
                        <a:t> The goal of the capstone project, "Interactive Circuit Learning with Augmented Reality Features," is to assess and improve the sustainability and effect of the project in relation to social and environmental settings. In order to help society, it places a high priority on accessibility, inclusion, and educational equity while also implementing eco-friendly </a:t>
                      </a:r>
                      <a:r>
                        <a:rPr lang="en-US" sz="800" dirty="0" err="1">
                          <a:latin typeface="Times New Roman"/>
                          <a:ea typeface="Times New Roman"/>
                          <a:cs typeface="Times New Roman"/>
                        </a:rPr>
                        <a:t>practises</a:t>
                      </a:r>
                      <a:r>
                        <a:rPr lang="en-US" sz="800" dirty="0">
                          <a:latin typeface="Times New Roman"/>
                          <a:ea typeface="Times New Roman"/>
                          <a:cs typeface="Times New Roman"/>
                        </a:rPr>
                        <a:t> to reduce its negative effects on the environment. To ensure responsible engineering, ethical norms including privacy protection and responsible technology usage are enforced. Through its comprehensive approach to sustainability and impact assessment, the project seeks to be a force for good in society and the environment.</a:t>
                      </a:r>
                      <a:endParaRPr lang="en-US" sz="900" dirty="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just">
                        <a:lnSpc>
                          <a:spcPct val="150000"/>
                        </a:lnSpc>
                        <a:spcBef>
                          <a:spcPts val="0"/>
                        </a:spcBef>
                        <a:spcAft>
                          <a:spcPts val="0"/>
                        </a:spcAft>
                      </a:pPr>
                      <a:r>
                        <a:rPr lang="en-US" sz="800" b="1" dirty="0">
                          <a:latin typeface="Times New Roman"/>
                          <a:ea typeface="Times New Roman"/>
                          <a:cs typeface="Times New Roman"/>
                        </a:rPr>
                        <a:t>(</a:t>
                      </a:r>
                      <a:r>
                        <a:rPr lang="en-US" sz="800" b="1" dirty="0" err="1">
                          <a:latin typeface="Times New Roman"/>
                          <a:ea typeface="Times New Roman"/>
                          <a:cs typeface="Times New Roman"/>
                        </a:rPr>
                        <a:t>i</a:t>
                      </a:r>
                      <a:r>
                        <a:rPr lang="en-US" sz="800" b="1" dirty="0">
                          <a:latin typeface="Times New Roman"/>
                          <a:ea typeface="Times New Roman"/>
                          <a:cs typeface="Times New Roman"/>
                        </a:rPr>
                        <a:t>) Social and Environmental Impact of Engineering (EP1, EP2, EP3, EP4, EP5, EP6, EP7):</a:t>
                      </a:r>
                      <a:r>
                        <a:rPr lang="en-US" sz="800" dirty="0">
                          <a:latin typeface="Times New Roman"/>
                          <a:ea typeface="Times New Roman"/>
                          <a:cs typeface="Times New Roman"/>
                        </a:rPr>
                        <a:t> </a:t>
                      </a:r>
                      <a:endParaRPr lang="en-US" sz="900" dirty="0">
                        <a:latin typeface="Times New Roman"/>
                        <a:ea typeface="Times New Roman"/>
                        <a:cs typeface="Times New Roman"/>
                      </a:endParaRPr>
                    </a:p>
                    <a:p>
                      <a:pPr marL="0" marR="0" algn="just">
                        <a:lnSpc>
                          <a:spcPct val="150000"/>
                        </a:lnSpc>
                        <a:spcBef>
                          <a:spcPts val="0"/>
                        </a:spcBef>
                        <a:spcAft>
                          <a:spcPts val="0"/>
                        </a:spcAft>
                      </a:pPr>
                      <a:r>
                        <a:rPr lang="en-US" sz="800" b="1" dirty="0">
                          <a:latin typeface="Times New Roman"/>
                          <a:ea typeface="Times New Roman"/>
                          <a:cs typeface="Times New Roman"/>
                        </a:rPr>
                        <a:t>EP1: Depth of Knowledge Required:</a:t>
                      </a:r>
                      <a:r>
                        <a:rPr lang="en-US" sz="800" dirty="0">
                          <a:latin typeface="Times New Roman"/>
                          <a:ea typeface="Times New Roman"/>
                          <a:cs typeface="Times New Roman"/>
                        </a:rPr>
                        <a:t> A comprehensive understanding of engineering principles, educational methods, augmented reality tech, and environmental aspects is crucial.</a:t>
                      </a:r>
                      <a:endParaRPr lang="en-US" sz="900" dirty="0">
                        <a:latin typeface="Times New Roman"/>
                        <a:ea typeface="Times New Roman"/>
                        <a:cs typeface="Times New Roman"/>
                      </a:endParaRPr>
                    </a:p>
                    <a:p>
                      <a:pPr marL="0" marR="0" algn="just">
                        <a:lnSpc>
                          <a:spcPct val="150000"/>
                        </a:lnSpc>
                        <a:spcBef>
                          <a:spcPts val="0"/>
                        </a:spcBef>
                        <a:spcAft>
                          <a:spcPts val="0"/>
                        </a:spcAft>
                      </a:pPr>
                      <a:r>
                        <a:rPr lang="en-US" sz="800" b="1" dirty="0">
                          <a:latin typeface="Times New Roman"/>
                          <a:ea typeface="Times New Roman"/>
                          <a:cs typeface="Times New Roman"/>
                        </a:rPr>
                        <a:t>EP2: Range of Conflicting Requirements: </a:t>
                      </a:r>
                      <a:r>
                        <a:rPr lang="en-US" sz="800" dirty="0">
                          <a:latin typeface="Times New Roman"/>
                          <a:ea typeface="Times New Roman"/>
                          <a:cs typeface="Times New Roman"/>
                        </a:rPr>
                        <a:t>Managing various conflicting demands, including user experience, accessibility, education quality, and environmental responsibility, is essential.</a:t>
                      </a:r>
                      <a:endParaRPr lang="en-US" sz="900" dirty="0">
                        <a:latin typeface="Times New Roman"/>
                        <a:ea typeface="Times New Roman"/>
                        <a:cs typeface="Times New Roman"/>
                      </a:endParaRPr>
                    </a:p>
                    <a:p>
                      <a:pPr marL="0" marR="0" algn="just">
                        <a:lnSpc>
                          <a:spcPct val="150000"/>
                        </a:lnSpc>
                        <a:spcBef>
                          <a:spcPts val="0"/>
                        </a:spcBef>
                        <a:spcAft>
                          <a:spcPts val="0"/>
                        </a:spcAft>
                      </a:pPr>
                      <a:r>
                        <a:rPr lang="en-US" sz="800" b="1" dirty="0">
                          <a:latin typeface="Times New Roman"/>
                          <a:ea typeface="Times New Roman"/>
                          <a:cs typeface="Times New Roman"/>
                        </a:rPr>
                        <a:t>EP3: Depth of Analysis Required:</a:t>
                      </a:r>
                      <a:r>
                        <a:rPr lang="en-US" sz="800" dirty="0">
                          <a:latin typeface="Times New Roman"/>
                          <a:ea typeface="Times New Roman"/>
                          <a:cs typeface="Times New Roman"/>
                        </a:rPr>
                        <a:t> Thorough examination is needed to assess the project's social and environmental impacts, encompassing aspects like accessibility, inclusivity, energy efficiency, and ethical considerations.</a:t>
                      </a:r>
                      <a:endParaRPr lang="en-US" sz="900" dirty="0">
                        <a:latin typeface="Times New Roman"/>
                        <a:ea typeface="Times New Roman"/>
                        <a:cs typeface="Times New Roman"/>
                      </a:endParaRPr>
                    </a:p>
                    <a:p>
                      <a:pPr marL="0" marR="0" algn="just">
                        <a:lnSpc>
                          <a:spcPct val="150000"/>
                        </a:lnSpc>
                        <a:spcBef>
                          <a:spcPts val="0"/>
                        </a:spcBef>
                        <a:spcAft>
                          <a:spcPts val="0"/>
                        </a:spcAft>
                      </a:pPr>
                      <a:r>
                        <a:rPr lang="en-US" sz="800" b="1" dirty="0">
                          <a:latin typeface="Times New Roman"/>
                          <a:ea typeface="Times New Roman"/>
                          <a:cs typeface="Times New Roman"/>
                        </a:rPr>
                        <a:t>EP4: Familiarity of Issues:</a:t>
                      </a:r>
                      <a:r>
                        <a:rPr lang="en-US" sz="800" dirty="0">
                          <a:latin typeface="Times New Roman"/>
                          <a:ea typeface="Times New Roman"/>
                          <a:cs typeface="Times New Roman"/>
                        </a:rPr>
                        <a:t> Stakeholders must be well-acquainted with pertinent social and environmental concerns, such as educational disparities, energy conservation, and privacy issues.</a:t>
                      </a:r>
                      <a:endParaRPr lang="en-US" sz="900" dirty="0">
                        <a:latin typeface="Times New Roman"/>
                        <a:ea typeface="Times New Roman"/>
                        <a:cs typeface="Times New Roman"/>
                      </a:endParaRPr>
                    </a:p>
                    <a:p>
                      <a:pPr marL="0" marR="0" algn="just">
                        <a:lnSpc>
                          <a:spcPct val="150000"/>
                        </a:lnSpc>
                        <a:spcBef>
                          <a:spcPts val="0"/>
                        </a:spcBef>
                        <a:spcAft>
                          <a:spcPts val="0"/>
                        </a:spcAft>
                      </a:pPr>
                      <a:r>
                        <a:rPr lang="en-US" sz="800" b="1" dirty="0">
                          <a:latin typeface="Times New Roman"/>
                          <a:ea typeface="Times New Roman"/>
                          <a:cs typeface="Times New Roman"/>
                        </a:rPr>
                        <a:t>EP5: Extent of Applicable Codes: </a:t>
                      </a:r>
                      <a:r>
                        <a:rPr lang="en-US" sz="800" dirty="0">
                          <a:latin typeface="Times New Roman"/>
                          <a:ea typeface="Times New Roman"/>
                          <a:cs typeface="Times New Roman"/>
                        </a:rPr>
                        <a:t>Understanding and applying relevant ethical codes and industry standards, particularly those concerning data privacy and responsible tech usage, is crucial.</a:t>
                      </a:r>
                      <a:endParaRPr lang="en-US" sz="900" dirty="0">
                        <a:latin typeface="Times New Roman"/>
                        <a:ea typeface="Times New Roman"/>
                        <a:cs typeface="Times New Roman"/>
                      </a:endParaRPr>
                    </a:p>
                    <a:p>
                      <a:pPr marL="0" marR="0" algn="just">
                        <a:lnSpc>
                          <a:spcPct val="150000"/>
                        </a:lnSpc>
                        <a:spcBef>
                          <a:spcPts val="0"/>
                        </a:spcBef>
                        <a:spcAft>
                          <a:spcPts val="0"/>
                        </a:spcAft>
                      </a:pPr>
                      <a:r>
                        <a:rPr lang="en-US" sz="800" b="1" dirty="0">
                          <a:latin typeface="Times New Roman"/>
                          <a:ea typeface="Times New Roman"/>
                          <a:cs typeface="Times New Roman"/>
                        </a:rPr>
                        <a:t>EP6: Extent of Stakeholder Involvement and Conflicting Requirements:</a:t>
                      </a:r>
                      <a:r>
                        <a:rPr lang="en-US" sz="800" dirty="0">
                          <a:latin typeface="Times New Roman"/>
                          <a:ea typeface="Times New Roman"/>
                          <a:cs typeface="Times New Roman"/>
                        </a:rPr>
                        <a:t> Engaging stakeholders and effectively managing their varied needs, including conflicting ones from students, educators, engineers, and environmental concerns, is critical.</a:t>
                      </a:r>
                      <a:endParaRPr lang="en-US" sz="900" dirty="0">
                        <a:latin typeface="Times New Roman"/>
                        <a:ea typeface="Times New Roman"/>
                        <a:cs typeface="Times New Roman"/>
                      </a:endParaRPr>
                    </a:p>
                    <a:p>
                      <a:pPr marL="0" marR="0" algn="just">
                        <a:lnSpc>
                          <a:spcPct val="150000"/>
                        </a:lnSpc>
                        <a:spcBef>
                          <a:spcPts val="0"/>
                        </a:spcBef>
                        <a:spcAft>
                          <a:spcPts val="0"/>
                        </a:spcAft>
                      </a:pPr>
                      <a:r>
                        <a:rPr lang="en-US" sz="800" b="1" dirty="0">
                          <a:latin typeface="Times New Roman"/>
                          <a:ea typeface="Times New Roman"/>
                          <a:cs typeface="Times New Roman"/>
                        </a:rPr>
                        <a:t>EP7: Interdependence:</a:t>
                      </a:r>
                      <a:r>
                        <a:rPr lang="en-US" sz="800" dirty="0">
                          <a:latin typeface="Times New Roman"/>
                          <a:ea typeface="Times New Roman"/>
                          <a:cs typeface="Times New Roman"/>
                        </a:rPr>
                        <a:t> Recognizing and managing the connections among different project components, such as integrating augmented reality, designing user interfaces, and practicing sustainability, is pivotal for project success.</a:t>
                      </a:r>
                      <a:endParaRPr lang="en-US" sz="900" dirty="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marR="0" algn="just">
                        <a:lnSpc>
                          <a:spcPct val="150000"/>
                        </a:lnSpc>
                        <a:spcBef>
                          <a:spcPts val="0"/>
                        </a:spcBef>
                        <a:spcAft>
                          <a:spcPts val="0"/>
                        </a:spcAft>
                      </a:pPr>
                      <a:endParaRPr lang="en-US" sz="800" dirty="0">
                        <a:latin typeface="Times New Roman"/>
                        <a:ea typeface="Times New Roman"/>
                        <a:cs typeface="Times New Roman"/>
                      </a:endParaRPr>
                    </a:p>
                  </a:txBody>
                  <a:tcPr marL="24472" marR="24472" marT="24472" marB="24472">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 xmlns:p14="http://schemas.microsoft.com/office/powerpoint/2010/main" val="213782555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6454476" y="85535"/>
            <a:ext cx="2580760" cy="45129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400" dirty="0" smtClean="0"/>
              <a:t>Appendix (400C)</a:t>
            </a:r>
            <a:endParaRPr sz="24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24</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
        <p:nvSpPr>
          <p:cNvPr id="4" name="Rectangle 1"/>
          <p:cNvSpPr>
            <a:spLocks noChangeArrowheads="1"/>
          </p:cNvSpPr>
          <p:nvPr/>
        </p:nvSpPr>
        <p:spPr bwMode="auto">
          <a:xfrm>
            <a:off x="2122488" y="1263650"/>
            <a:ext cx="9144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8" name="Table 7"/>
          <p:cNvGraphicFramePr>
            <a:graphicFrameLocks noGrp="1"/>
          </p:cNvGraphicFramePr>
          <p:nvPr/>
        </p:nvGraphicFramePr>
        <p:xfrm>
          <a:off x="274321" y="802640"/>
          <a:ext cx="8321040" cy="3791019"/>
        </p:xfrm>
        <a:graphic>
          <a:graphicData uri="http://schemas.openxmlformats.org/drawingml/2006/table">
            <a:tbl>
              <a:tblPr/>
              <a:tblGrid>
                <a:gridCol w="757781"/>
                <a:gridCol w="1340695"/>
                <a:gridCol w="4757461"/>
                <a:gridCol w="1465103"/>
              </a:tblGrid>
              <a:tr h="2157878">
                <a:tc>
                  <a:txBody>
                    <a:bodyPr/>
                    <a:lstStyle/>
                    <a:p>
                      <a:pPr marL="0" marR="0" algn="just">
                        <a:lnSpc>
                          <a:spcPct val="106000"/>
                        </a:lnSpc>
                        <a:spcBef>
                          <a:spcPts val="0"/>
                        </a:spcBef>
                        <a:spcAft>
                          <a:spcPts val="0"/>
                        </a:spcAft>
                      </a:pPr>
                      <a:r>
                        <a:rPr lang="en-US" sz="1100" b="1">
                          <a:latin typeface="Times New Roman"/>
                          <a:ea typeface="Times New Roman"/>
                          <a:cs typeface="Times New Roman"/>
                        </a:rPr>
                        <a:t>CO8</a:t>
                      </a:r>
                      <a:endParaRPr lang="en-US" sz="1100">
                        <a:latin typeface="Times New Roman"/>
                        <a:ea typeface="Times New Roman"/>
                        <a:cs typeface="Times New Roman"/>
                      </a:endParaRPr>
                    </a:p>
                  </a:txBody>
                  <a:tcPr marL="31588" marR="31588" marT="31588" marB="315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50">
                          <a:latin typeface="Times New Roman"/>
                          <a:ea typeface="Times New Roman"/>
                          <a:cs typeface="Times New Roman"/>
                        </a:rPr>
                        <a:t>Apply professional and engineering ethical principles and practices for the implementation of the capstone project.  </a:t>
                      </a:r>
                      <a:endParaRPr lang="en-US" sz="1100">
                        <a:latin typeface="Times New Roman"/>
                        <a:ea typeface="Times New Roman"/>
                        <a:cs typeface="Times New Roman"/>
                      </a:endParaRPr>
                    </a:p>
                  </a:txBody>
                  <a:tcPr marL="31588" marR="31588" marT="31588" marB="315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50" b="1" dirty="0">
                          <a:latin typeface="Times New Roman"/>
                          <a:ea typeface="Times New Roman"/>
                          <a:cs typeface="Times New Roman"/>
                        </a:rPr>
                        <a:t>(</a:t>
                      </a:r>
                      <a:r>
                        <a:rPr lang="en-US" sz="1050" b="1" dirty="0" err="1">
                          <a:latin typeface="Times New Roman"/>
                          <a:ea typeface="Times New Roman"/>
                          <a:cs typeface="Times New Roman"/>
                        </a:rPr>
                        <a:t>i</a:t>
                      </a:r>
                      <a:r>
                        <a:rPr lang="en-US" sz="1050" b="1" dirty="0">
                          <a:latin typeface="Times New Roman"/>
                          <a:ea typeface="Times New Roman"/>
                          <a:cs typeface="Times New Roman"/>
                        </a:rPr>
                        <a:t>) Ethical principle</a:t>
                      </a:r>
                      <a:endParaRPr lang="en-US" sz="1100" dirty="0">
                        <a:latin typeface="Times New Roman"/>
                        <a:ea typeface="Times New Roman"/>
                        <a:cs typeface="Times New Roman"/>
                      </a:endParaRPr>
                    </a:p>
                    <a:p>
                      <a:pPr marL="0" marR="0" algn="just">
                        <a:lnSpc>
                          <a:spcPct val="106000"/>
                        </a:lnSpc>
                        <a:spcBef>
                          <a:spcPts val="0"/>
                        </a:spcBef>
                        <a:spcAft>
                          <a:spcPts val="0"/>
                        </a:spcAft>
                      </a:pPr>
                      <a:r>
                        <a:rPr lang="en-US" sz="1050" b="1" dirty="0">
                          <a:latin typeface="Times New Roman"/>
                          <a:ea typeface="Times New Roman"/>
                          <a:cs typeface="Times New Roman"/>
                        </a:rPr>
                        <a:t>and practices [K7]</a:t>
                      </a:r>
                      <a:endParaRPr lang="en-US" sz="1100" dirty="0">
                        <a:latin typeface="Times New Roman"/>
                        <a:ea typeface="Times New Roman"/>
                        <a:cs typeface="Times New Roman"/>
                      </a:endParaRPr>
                    </a:p>
                    <a:p>
                      <a:pPr marL="0" marR="0" algn="just">
                        <a:lnSpc>
                          <a:spcPct val="106000"/>
                        </a:lnSpc>
                        <a:spcBef>
                          <a:spcPts val="0"/>
                        </a:spcBef>
                        <a:spcAft>
                          <a:spcPts val="0"/>
                        </a:spcAft>
                      </a:pPr>
                      <a:r>
                        <a:rPr lang="en-US" sz="1050" b="1" dirty="0">
                          <a:latin typeface="Times New Roman"/>
                          <a:ea typeface="Times New Roman"/>
                          <a:cs typeface="Times New Roman"/>
                        </a:rPr>
                        <a:t>K7: Comprehension</a:t>
                      </a:r>
                      <a:endParaRPr lang="en-US" sz="1100" dirty="0">
                        <a:latin typeface="Times New Roman"/>
                        <a:ea typeface="Times New Roman"/>
                        <a:cs typeface="Times New Roman"/>
                      </a:endParaRPr>
                    </a:p>
                    <a:p>
                      <a:pPr marL="0" marR="0" algn="just">
                        <a:lnSpc>
                          <a:spcPct val="106000"/>
                        </a:lnSpc>
                        <a:spcBef>
                          <a:spcPts val="0"/>
                        </a:spcBef>
                        <a:spcAft>
                          <a:spcPts val="0"/>
                        </a:spcAft>
                      </a:pPr>
                      <a:r>
                        <a:rPr lang="en-US" sz="1050" b="1" dirty="0">
                          <a:latin typeface="Times New Roman"/>
                          <a:ea typeface="Times New Roman"/>
                          <a:cs typeface="Times New Roman"/>
                        </a:rPr>
                        <a:t>of engineering in</a:t>
                      </a:r>
                      <a:endParaRPr lang="en-US" sz="1100" dirty="0">
                        <a:latin typeface="Times New Roman"/>
                        <a:ea typeface="Times New Roman"/>
                        <a:cs typeface="Times New Roman"/>
                      </a:endParaRPr>
                    </a:p>
                    <a:p>
                      <a:pPr marL="0" marR="0" algn="just">
                        <a:lnSpc>
                          <a:spcPct val="106000"/>
                        </a:lnSpc>
                        <a:spcBef>
                          <a:spcPts val="0"/>
                        </a:spcBef>
                        <a:spcAft>
                          <a:spcPts val="0"/>
                        </a:spcAft>
                      </a:pPr>
                      <a:r>
                        <a:rPr lang="en-US" sz="1050" b="1" dirty="0">
                          <a:latin typeface="Times New Roman"/>
                          <a:ea typeface="Times New Roman"/>
                          <a:cs typeface="Times New Roman"/>
                        </a:rPr>
                        <a:t>Society: </a:t>
                      </a:r>
                      <a:r>
                        <a:rPr lang="en-US" sz="1050" dirty="0">
                          <a:latin typeface="Times New Roman"/>
                          <a:ea typeface="Times New Roman"/>
                          <a:cs typeface="Times New Roman"/>
                        </a:rPr>
                        <a:t>The capstone project </a:t>
                      </a:r>
                      <a:r>
                        <a:rPr lang="en-US" sz="1050" dirty="0" err="1">
                          <a:latin typeface="Times New Roman"/>
                          <a:ea typeface="Times New Roman"/>
                          <a:cs typeface="Times New Roman"/>
                        </a:rPr>
                        <a:t>emphasises</a:t>
                      </a:r>
                      <a:r>
                        <a:rPr lang="en-US" sz="1050" dirty="0">
                          <a:latin typeface="Times New Roman"/>
                          <a:ea typeface="Times New Roman"/>
                          <a:cs typeface="Times New Roman"/>
                        </a:rPr>
                        <a:t> the use of ethical </a:t>
                      </a:r>
                      <a:r>
                        <a:rPr lang="en-US" sz="1050" dirty="0" err="1">
                          <a:latin typeface="Times New Roman"/>
                          <a:ea typeface="Times New Roman"/>
                          <a:cs typeface="Times New Roman"/>
                        </a:rPr>
                        <a:t>practises</a:t>
                      </a:r>
                      <a:r>
                        <a:rPr lang="en-US" sz="1050" dirty="0">
                          <a:latin typeface="Times New Roman"/>
                          <a:ea typeface="Times New Roman"/>
                          <a:cs typeface="Times New Roman"/>
                        </a:rPr>
                        <a:t> and values in its execution, covering data protection, inclusiveness, environmental concerns, and ethical technology usage. By addressing societal requirements for sustainable development, stakeholder participation, and fair education access, it demonstrates a comprehensive understanding of engineering's position in society. This thorough strategy is an illustration of how engineering may have a good effect on society and be beneficial while preserving moral principles.</a:t>
                      </a:r>
                      <a:endParaRPr lang="en-US" sz="1100" dirty="0">
                        <a:latin typeface="Times New Roman"/>
                        <a:ea typeface="Times New Roman"/>
                        <a:cs typeface="Times New Roman"/>
                      </a:endParaRPr>
                    </a:p>
                  </a:txBody>
                  <a:tcPr marL="31588" marR="31588" marT="31588" marB="315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endParaRPr lang="en-US" sz="1050">
                        <a:latin typeface="Times New Roman"/>
                        <a:ea typeface="Times New Roman"/>
                        <a:cs typeface="Times New Roman"/>
                      </a:endParaRPr>
                    </a:p>
                  </a:txBody>
                  <a:tcPr marL="31588" marR="31588" marT="31588" marB="315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633141">
                <a:tc>
                  <a:txBody>
                    <a:bodyPr/>
                    <a:lstStyle/>
                    <a:p>
                      <a:pPr marL="0" marR="0" algn="just">
                        <a:lnSpc>
                          <a:spcPct val="106000"/>
                        </a:lnSpc>
                        <a:spcBef>
                          <a:spcPts val="0"/>
                        </a:spcBef>
                        <a:spcAft>
                          <a:spcPts val="0"/>
                        </a:spcAft>
                      </a:pPr>
                      <a:r>
                        <a:rPr lang="en-US" sz="1100" b="1">
                          <a:latin typeface="Times New Roman"/>
                          <a:ea typeface="Times New Roman"/>
                          <a:cs typeface="Times New Roman"/>
                        </a:rPr>
                        <a:t>CO9</a:t>
                      </a:r>
                      <a:endParaRPr lang="en-US" sz="1100">
                        <a:latin typeface="Times New Roman"/>
                        <a:ea typeface="Times New Roman"/>
                        <a:cs typeface="Times New Roman"/>
                      </a:endParaRPr>
                    </a:p>
                  </a:txBody>
                  <a:tcPr marL="31588" marR="31588" marT="31588" marB="315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50" b="1">
                          <a:latin typeface="Times New Roman"/>
                          <a:ea typeface="Times New Roman"/>
                          <a:cs typeface="Times New Roman"/>
                        </a:rPr>
                        <a:t>Work</a:t>
                      </a:r>
                      <a:r>
                        <a:rPr lang="en-US" sz="1050">
                          <a:latin typeface="Times New Roman"/>
                          <a:ea typeface="Times New Roman"/>
                          <a:cs typeface="Times New Roman"/>
                        </a:rPr>
                        <a:t> effectively as an individual and a team member for successful completion of the capstone project </a:t>
                      </a:r>
                      <a:endParaRPr lang="en-US" sz="1100">
                        <a:latin typeface="Times New Roman"/>
                        <a:ea typeface="Times New Roman"/>
                        <a:cs typeface="Times New Roman"/>
                      </a:endParaRPr>
                    </a:p>
                  </a:txBody>
                  <a:tcPr marL="31588" marR="31588" marT="31588" marB="315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50">
                          <a:latin typeface="Times New Roman"/>
                          <a:ea typeface="Times New Roman"/>
                          <a:cs typeface="Times New Roman"/>
                        </a:rPr>
                        <a:t>Effective individual and group contributions are essential for the capstone project to succeed. Each team member must be accountable, adhere to deadlines, and constantly develop their abilities. Clear communication, role clarification, conflict resolution, adaptability, and a common vision are essential within the team. When necessary, effective team members may take the lead or follow, fostering a collaborative and goal-driven project atmosphere. Project success depends on striking a balance between team and individual efforts.</a:t>
                      </a:r>
                      <a:endParaRPr lang="en-US" sz="1100">
                        <a:latin typeface="Times New Roman"/>
                        <a:ea typeface="Times New Roman"/>
                        <a:cs typeface="Times New Roman"/>
                      </a:endParaRPr>
                    </a:p>
                  </a:txBody>
                  <a:tcPr marL="31588" marR="31588" marT="31588" marB="315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endParaRPr lang="en-US" sz="1050" dirty="0">
                        <a:latin typeface="Times New Roman"/>
                        <a:ea typeface="Times New Roman"/>
                        <a:cs typeface="Times New Roman"/>
                      </a:endParaRPr>
                    </a:p>
                  </a:txBody>
                  <a:tcPr marL="31588" marR="31588" marT="31588" marB="31588">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 xmlns:p14="http://schemas.microsoft.com/office/powerpoint/2010/main" val="21378255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294"/>
        <p:cNvGrpSpPr/>
        <p:nvPr/>
      </p:nvGrpSpPr>
      <p:grpSpPr>
        <a:xfrm>
          <a:off x="0" y="0"/>
          <a:ext cx="0" cy="0"/>
          <a:chOff x="0" y="0"/>
          <a:chExt cx="0" cy="0"/>
        </a:xfrm>
      </p:grpSpPr>
      <p:sp>
        <p:nvSpPr>
          <p:cNvPr id="295" name="Google Shape;295;p30"/>
          <p:cNvSpPr txBox="1">
            <a:spLocks noGrp="1"/>
          </p:cNvSpPr>
          <p:nvPr>
            <p:ph type="title"/>
          </p:nvPr>
        </p:nvSpPr>
        <p:spPr>
          <a:xfrm>
            <a:off x="6454476" y="85535"/>
            <a:ext cx="2580760" cy="451297"/>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sz="2400" dirty="0" smtClean="0"/>
              <a:t>Appendix (400C)</a:t>
            </a:r>
            <a:endParaRPr sz="2400" dirty="0"/>
          </a:p>
        </p:txBody>
      </p:sp>
      <p:sp>
        <p:nvSpPr>
          <p:cNvPr id="299" name="Google Shape;299;p30"/>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25</a:t>
            </a:fld>
            <a:endParaRPr/>
          </a:p>
        </p:txBody>
      </p:sp>
      <p:pic>
        <p:nvPicPr>
          <p:cNvPr id="16" name="Picture 15"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1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
        <p:nvSpPr>
          <p:cNvPr id="4" name="Rectangle 1"/>
          <p:cNvSpPr>
            <a:spLocks noChangeArrowheads="1"/>
          </p:cNvSpPr>
          <p:nvPr/>
        </p:nvSpPr>
        <p:spPr bwMode="auto">
          <a:xfrm>
            <a:off x="2122488" y="1263650"/>
            <a:ext cx="9144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9" name="Table 8"/>
          <p:cNvGraphicFramePr>
            <a:graphicFrameLocks noGrp="1"/>
          </p:cNvGraphicFramePr>
          <p:nvPr/>
        </p:nvGraphicFramePr>
        <p:xfrm>
          <a:off x="142242" y="651848"/>
          <a:ext cx="8788398" cy="4116800"/>
        </p:xfrm>
        <a:graphic>
          <a:graphicData uri="http://schemas.openxmlformats.org/drawingml/2006/table">
            <a:tbl>
              <a:tblPr/>
              <a:tblGrid>
                <a:gridCol w="487678"/>
                <a:gridCol w="1728658"/>
                <a:gridCol w="5241102"/>
                <a:gridCol w="1330960"/>
              </a:tblGrid>
              <a:tr h="2084701">
                <a:tc>
                  <a:txBody>
                    <a:bodyPr/>
                    <a:lstStyle/>
                    <a:p>
                      <a:pPr marL="0" marR="0" algn="just">
                        <a:lnSpc>
                          <a:spcPct val="106000"/>
                        </a:lnSpc>
                        <a:spcBef>
                          <a:spcPts val="0"/>
                        </a:spcBef>
                        <a:spcAft>
                          <a:spcPts val="0"/>
                        </a:spcAft>
                      </a:pPr>
                      <a:r>
                        <a:rPr lang="en-US" sz="1050" b="1">
                          <a:latin typeface="Times New Roman"/>
                          <a:ea typeface="Times New Roman"/>
                          <a:cs typeface="Times New Roman"/>
                        </a:rPr>
                        <a:t>CO10</a:t>
                      </a:r>
                      <a:endParaRPr lang="en-US" sz="105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00" dirty="0">
                          <a:latin typeface="Times New Roman"/>
                          <a:ea typeface="Times New Roman"/>
                          <a:cs typeface="Times New Roman"/>
                        </a:rPr>
                        <a:t>Write effective reports and design documentation, and make effective presentations of the outcome of the capstone project </a:t>
                      </a:r>
                      <a:endParaRPr lang="en-US" sz="1050" dirty="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00" dirty="0">
                          <a:latin typeface="Times New Roman"/>
                          <a:ea typeface="Times New Roman"/>
                          <a:cs typeface="Times New Roman"/>
                        </a:rPr>
                        <a:t>The ability to write reports, record designs, and give presentations are three crucial abilities that must be mastered in order to successfully convey the findings of a capstone project.</a:t>
                      </a:r>
                      <a:endParaRPr lang="en-US" sz="1050" dirty="0">
                        <a:latin typeface="Times New Roman"/>
                        <a:ea typeface="Times New Roman"/>
                        <a:cs typeface="Times New Roman"/>
                      </a:endParaRPr>
                    </a:p>
                    <a:p>
                      <a:pPr marL="0" marR="0" algn="just">
                        <a:lnSpc>
                          <a:spcPct val="106000"/>
                        </a:lnSpc>
                        <a:spcBef>
                          <a:spcPts val="0"/>
                        </a:spcBef>
                        <a:spcAft>
                          <a:spcPts val="0"/>
                        </a:spcAft>
                      </a:pPr>
                      <a:r>
                        <a:rPr lang="en-US" sz="1000" dirty="0">
                          <a:latin typeface="Times New Roman"/>
                          <a:ea typeface="Times New Roman"/>
                          <a:cs typeface="Times New Roman"/>
                        </a:rPr>
                        <a:t>Reports: Ensure that reports are </a:t>
                      </a:r>
                      <a:r>
                        <a:rPr lang="en-US" sz="1000" dirty="0" err="1">
                          <a:latin typeface="Times New Roman"/>
                          <a:ea typeface="Times New Roman"/>
                          <a:cs typeface="Times New Roman"/>
                        </a:rPr>
                        <a:t>organised</a:t>
                      </a:r>
                      <a:r>
                        <a:rPr lang="en-US" sz="1000" dirty="0">
                          <a:latin typeface="Times New Roman"/>
                          <a:ea typeface="Times New Roman"/>
                          <a:cs typeface="Times New Roman"/>
                        </a:rPr>
                        <a:t>, clear, and succinct. Avoid using excessive amounts of technical language when including supporting facts and analysis. Consider difficulties and lessons learnt.</a:t>
                      </a:r>
                      <a:endParaRPr lang="en-US" sz="1050" dirty="0">
                        <a:latin typeface="Times New Roman"/>
                        <a:ea typeface="Times New Roman"/>
                        <a:cs typeface="Times New Roman"/>
                      </a:endParaRPr>
                    </a:p>
                    <a:p>
                      <a:pPr marL="0" marR="0" algn="just">
                        <a:lnSpc>
                          <a:spcPct val="106000"/>
                        </a:lnSpc>
                        <a:spcBef>
                          <a:spcPts val="0"/>
                        </a:spcBef>
                        <a:spcAft>
                          <a:spcPts val="0"/>
                        </a:spcAft>
                      </a:pPr>
                      <a:r>
                        <a:rPr lang="en-US" sz="1000" dirty="0">
                          <a:latin typeface="Times New Roman"/>
                          <a:ea typeface="Times New Roman"/>
                          <a:cs typeface="Times New Roman"/>
                        </a:rPr>
                        <a:t>Design documentation: Produce exact, thorough documentation that includes schematics and diagrams as necessary. To keep information current, keep version control active.</a:t>
                      </a:r>
                      <a:endParaRPr lang="en-US" sz="1050" dirty="0">
                        <a:latin typeface="Times New Roman"/>
                        <a:ea typeface="Times New Roman"/>
                        <a:cs typeface="Times New Roman"/>
                      </a:endParaRPr>
                    </a:p>
                    <a:p>
                      <a:pPr marL="0" marR="0" algn="just">
                        <a:lnSpc>
                          <a:spcPct val="106000"/>
                        </a:lnSpc>
                        <a:spcBef>
                          <a:spcPts val="0"/>
                        </a:spcBef>
                        <a:spcAft>
                          <a:spcPts val="0"/>
                        </a:spcAft>
                      </a:pPr>
                      <a:r>
                        <a:rPr lang="en-US" sz="1000" dirty="0">
                          <a:latin typeface="Times New Roman"/>
                          <a:ea typeface="Times New Roman"/>
                          <a:cs typeface="Times New Roman"/>
                        </a:rPr>
                        <a:t>Presentations: Create logical presentation structures, include the audience with visuals, and </a:t>
                      </a:r>
                      <a:r>
                        <a:rPr lang="en-US" sz="1000" dirty="0" err="1">
                          <a:latin typeface="Times New Roman"/>
                          <a:ea typeface="Times New Roman"/>
                          <a:cs typeface="Times New Roman"/>
                        </a:rPr>
                        <a:t>practise</a:t>
                      </a:r>
                      <a:r>
                        <a:rPr lang="en-US" sz="1000" dirty="0">
                          <a:latin typeface="Times New Roman"/>
                          <a:ea typeface="Times New Roman"/>
                          <a:cs typeface="Times New Roman"/>
                        </a:rPr>
                        <a:t> your delivery to sound certain. Prepare for inquiries and adjust your topic to the level of knowledge of your audience.</a:t>
                      </a:r>
                      <a:endParaRPr lang="en-US" sz="1050" dirty="0">
                        <a:latin typeface="Times New Roman"/>
                        <a:ea typeface="Times New Roman"/>
                        <a:cs typeface="Times New Roman"/>
                      </a:endParaRPr>
                    </a:p>
                    <a:p>
                      <a:pPr marL="0" marR="0" algn="just">
                        <a:lnSpc>
                          <a:spcPct val="106000"/>
                        </a:lnSpc>
                        <a:spcBef>
                          <a:spcPts val="0"/>
                        </a:spcBef>
                        <a:spcAft>
                          <a:spcPts val="0"/>
                        </a:spcAft>
                      </a:pPr>
                      <a:r>
                        <a:rPr lang="en-US" sz="1000" dirty="0">
                          <a:latin typeface="Times New Roman"/>
                          <a:ea typeface="Times New Roman"/>
                          <a:cs typeface="Times New Roman"/>
                        </a:rPr>
                        <a:t>Always keep your audience in mind, be receptive to criticism, and improve your communication with the help of peers and mentors. It's essential to communicate well if you want to share the results of your capstone project.</a:t>
                      </a:r>
                      <a:endParaRPr lang="en-US" sz="1050" dirty="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endParaRPr lang="en-US" sz="100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51594">
                <a:tc>
                  <a:txBody>
                    <a:bodyPr/>
                    <a:lstStyle/>
                    <a:p>
                      <a:pPr marL="0" marR="0" algn="just">
                        <a:lnSpc>
                          <a:spcPct val="106000"/>
                        </a:lnSpc>
                        <a:spcBef>
                          <a:spcPts val="0"/>
                        </a:spcBef>
                        <a:spcAft>
                          <a:spcPts val="0"/>
                        </a:spcAft>
                      </a:pPr>
                      <a:r>
                        <a:rPr lang="en-US" sz="1050" b="1">
                          <a:latin typeface="Times New Roman"/>
                          <a:ea typeface="Times New Roman"/>
                          <a:cs typeface="Times New Roman"/>
                        </a:rPr>
                        <a:t>CO11</a:t>
                      </a:r>
                      <a:endParaRPr lang="en-US" sz="105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00">
                          <a:latin typeface="Times New Roman"/>
                          <a:ea typeface="Times New Roman"/>
                          <a:cs typeface="Times New Roman"/>
                        </a:rPr>
                        <a:t>Conduct economic analysis and cost Conduct economic analysis and cost</a:t>
                      </a:r>
                      <a:endParaRPr lang="en-US" sz="105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00">
                          <a:latin typeface="Times New Roman"/>
                          <a:ea typeface="Times New Roman"/>
                          <a:cs typeface="Times New Roman"/>
                        </a:rPr>
                        <a:t>The capstone project's economic analysis and cost evaluation are essential for determining financial viability, budgeting, and resource allocation. It entails compiling a list of all project-related costs, both direct and indirect, and assessing how cost-effective certain solutions are. This procedure makes it possible to plan money wisely and makes sure the project budget is followed.</a:t>
                      </a:r>
                      <a:endParaRPr lang="en-US" sz="105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endParaRPr lang="en-US" sz="100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27704">
                <a:tc>
                  <a:txBody>
                    <a:bodyPr/>
                    <a:lstStyle/>
                    <a:p>
                      <a:pPr marL="0" marR="0" algn="just">
                        <a:lnSpc>
                          <a:spcPct val="106000"/>
                        </a:lnSpc>
                        <a:spcBef>
                          <a:spcPts val="0"/>
                        </a:spcBef>
                        <a:spcAft>
                          <a:spcPts val="0"/>
                        </a:spcAft>
                      </a:pPr>
                      <a:r>
                        <a:rPr lang="en-US" sz="1050" b="1">
                          <a:latin typeface="Times New Roman"/>
                          <a:ea typeface="Times New Roman"/>
                          <a:cs typeface="Times New Roman"/>
                        </a:rPr>
                        <a:t>CO12</a:t>
                      </a:r>
                      <a:endParaRPr lang="en-US" sz="105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00">
                          <a:latin typeface="Times New Roman"/>
                          <a:ea typeface="Times New Roman"/>
                          <a:cs typeface="Times New Roman"/>
                        </a:rPr>
                        <a:t>Prepare to take part in independent and lifelong learning for adapting emerging technologies for the solution of the complex computer science and engineering problems</a:t>
                      </a:r>
                      <a:endParaRPr lang="en-US" sz="105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r>
                        <a:rPr lang="en-US" sz="1000" dirty="0">
                          <a:latin typeface="Times New Roman"/>
                          <a:ea typeface="Times New Roman"/>
                          <a:cs typeface="Times New Roman"/>
                        </a:rPr>
                        <a:t>To adapt to new technologies and meet complex computer science and engineering difficulties, one must be prepared for active engagement in self-directed and ongoing learning. This comprises a dedication to autonomous inquiry and lifelong learning, enabling the development of fresh know-how and abilities needed to handle developing issues in the industry. To continue being proficient at resolving challenging problems in computer science and engineering, it entails keeping up with the most recent technical developments and constantly exploring chances for skill growth.</a:t>
                      </a:r>
                      <a:endParaRPr lang="en-US" sz="1050" dirty="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6000"/>
                        </a:lnSpc>
                        <a:spcBef>
                          <a:spcPts val="0"/>
                        </a:spcBef>
                        <a:spcAft>
                          <a:spcPts val="0"/>
                        </a:spcAft>
                      </a:pPr>
                      <a:endParaRPr lang="en-US" sz="1000" dirty="0">
                        <a:latin typeface="Times New Roman"/>
                        <a:ea typeface="Times New Roman"/>
                        <a:cs typeface="Times New Roman"/>
                      </a:endParaRPr>
                    </a:p>
                  </a:txBody>
                  <a:tcPr marL="18715" marR="18715" marT="18715" marB="18715">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 xmlns:p14="http://schemas.microsoft.com/office/powerpoint/2010/main" val="21378255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26</a:t>
            </a:fld>
            <a:endParaRPr lang="en"/>
          </a:p>
        </p:txBody>
      </p:sp>
      <p:sp>
        <p:nvSpPr>
          <p:cNvPr id="8" name="Rectangle 7"/>
          <p:cNvSpPr/>
          <p:nvPr/>
        </p:nvSpPr>
        <p:spPr>
          <a:xfrm>
            <a:off x="344378" y="1121095"/>
            <a:ext cx="8514607" cy="3970318"/>
          </a:xfrm>
          <a:prstGeom prst="rect">
            <a:avLst/>
          </a:prstGeom>
        </p:spPr>
        <p:txBody>
          <a:bodyPr wrap="square">
            <a:spAutoFit/>
          </a:bodyPr>
          <a:lstStyle/>
          <a:p>
            <a:r>
              <a:rPr lang="en-US" sz="1200" b="1" dirty="0">
                <a:solidFill>
                  <a:schemeClr val="bg1"/>
                </a:solidFill>
              </a:rPr>
              <a:t>[1]	Ohm, G. S. (</a:t>
            </a:r>
            <a:r>
              <a:rPr lang="en-US" sz="1200" b="1" dirty="0" err="1">
                <a:solidFill>
                  <a:schemeClr val="bg1"/>
                </a:solidFill>
              </a:rPr>
              <a:t>n.d.</a:t>
            </a:r>
            <a:r>
              <a:rPr lang="en-US" sz="1200" b="1" dirty="0">
                <a:solidFill>
                  <a:schemeClr val="bg1"/>
                </a:solidFill>
              </a:rPr>
              <a:t>). In Britannica. Retrieved June 28, 2023, from </a:t>
            </a:r>
            <a:r>
              <a:rPr lang="en-US" sz="1200" b="1" dirty="0" smtClean="0">
                <a:solidFill>
                  <a:schemeClr val="bg1"/>
                </a:solidFill>
              </a:rPr>
              <a:t>	https</a:t>
            </a:r>
            <a:r>
              <a:rPr lang="en-US" sz="1200" b="1" dirty="0">
                <a:solidFill>
                  <a:schemeClr val="bg1"/>
                </a:solidFill>
              </a:rPr>
              <a:t>://</a:t>
            </a:r>
            <a:r>
              <a:rPr lang="en-US" sz="1200" b="1" dirty="0" smtClean="0">
                <a:solidFill>
                  <a:schemeClr val="bg1"/>
                </a:solidFill>
              </a:rPr>
              <a:t>www.britannica.com/biography/Georg-Simon-Ohm</a:t>
            </a:r>
            <a:endParaRPr lang="en-US" sz="1200" b="1" dirty="0">
              <a:solidFill>
                <a:schemeClr val="bg1"/>
              </a:solidFill>
            </a:endParaRPr>
          </a:p>
          <a:p>
            <a:r>
              <a:rPr lang="en-US" sz="1200" b="1" dirty="0">
                <a:solidFill>
                  <a:schemeClr val="bg1"/>
                </a:solidFill>
              </a:rPr>
              <a:t>[2]	Kirchhoff, G. (</a:t>
            </a:r>
            <a:r>
              <a:rPr lang="en-US" sz="1200" b="1" dirty="0" err="1">
                <a:solidFill>
                  <a:schemeClr val="bg1"/>
                </a:solidFill>
              </a:rPr>
              <a:t>n.d.</a:t>
            </a:r>
            <a:r>
              <a:rPr lang="en-US" sz="1200" b="1" dirty="0">
                <a:solidFill>
                  <a:schemeClr val="bg1"/>
                </a:solidFill>
              </a:rPr>
              <a:t>). In Britannica. Retrieved June 28, 2023, from </a:t>
            </a:r>
            <a:r>
              <a:rPr lang="en-US" sz="1200" b="1" dirty="0" smtClean="0">
                <a:solidFill>
                  <a:schemeClr val="bg1"/>
                </a:solidFill>
              </a:rPr>
              <a:t>	https</a:t>
            </a:r>
            <a:r>
              <a:rPr lang="en-US" sz="1200" b="1" dirty="0">
                <a:solidFill>
                  <a:schemeClr val="bg1"/>
                </a:solidFill>
              </a:rPr>
              <a:t>://</a:t>
            </a:r>
            <a:r>
              <a:rPr lang="en-US" sz="1200" b="1" dirty="0" smtClean="0">
                <a:solidFill>
                  <a:schemeClr val="bg1"/>
                </a:solidFill>
              </a:rPr>
              <a:t>www.britannica.com/biography/Gustav-Kirchhoff</a:t>
            </a:r>
            <a:endParaRPr lang="en-US" sz="1200" b="1" dirty="0">
              <a:solidFill>
                <a:schemeClr val="bg1"/>
              </a:solidFill>
            </a:endParaRPr>
          </a:p>
          <a:p>
            <a:r>
              <a:rPr lang="en-US" sz="1200" b="1" dirty="0">
                <a:solidFill>
                  <a:schemeClr val="bg1"/>
                </a:solidFill>
              </a:rPr>
              <a:t>[3]	Chen, L., &amp; Zhang, Y. (2015). Interactive Circuit Analysis Software: A Virtual Lab Environment for </a:t>
            </a:r>
            <a:r>
              <a:rPr lang="en-US" sz="1200" b="1" dirty="0" smtClean="0">
                <a:solidFill>
                  <a:schemeClr val="bg1"/>
                </a:solidFill>
              </a:rPr>
              <a:t>	Circuit </a:t>
            </a:r>
            <a:r>
              <a:rPr lang="en-US" sz="1200" b="1" dirty="0">
                <a:solidFill>
                  <a:schemeClr val="bg1"/>
                </a:solidFill>
              </a:rPr>
              <a:t>Theory Education. IEEE Transactions on Education, 58(4), 245-251</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[4]	Wang, X., &amp; Song, M. (2018). Virtual Reality Simulation for Circuit Design and Analysis. Journal of </a:t>
            </a:r>
            <a:r>
              <a:rPr lang="en-US" sz="1200" b="1" dirty="0" smtClean="0">
                <a:solidFill>
                  <a:schemeClr val="bg1"/>
                </a:solidFill>
              </a:rPr>
              <a:t>	Computers </a:t>
            </a:r>
            <a:r>
              <a:rPr lang="en-US" sz="1200" b="1" dirty="0">
                <a:solidFill>
                  <a:schemeClr val="bg1"/>
                </a:solidFill>
              </a:rPr>
              <a:t>in Education, 5(3), 279-291</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[5]	Jin, Q., &amp; Li, J. (2019). Enhancing Circuit Theory Learning through Interactive 3D Visualizations. </a:t>
            </a:r>
            <a:r>
              <a:rPr lang="en-US" sz="1200" b="1" dirty="0" smtClean="0">
                <a:solidFill>
                  <a:schemeClr val="bg1"/>
                </a:solidFill>
              </a:rPr>
              <a:t>	Interactive </a:t>
            </a:r>
            <a:r>
              <a:rPr lang="en-US" sz="1200" b="1" dirty="0">
                <a:solidFill>
                  <a:schemeClr val="bg1"/>
                </a:solidFill>
              </a:rPr>
              <a:t>Learning Environments, 27(2), 192-204</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[6]	Parker, R. (2017). Virtual Circuit Construction Kit: A Web-based Simulation Tool for Circuit Analysis </a:t>
            </a:r>
            <a:r>
              <a:rPr lang="en-US" sz="1200" b="1" dirty="0" smtClean="0">
                <a:solidFill>
                  <a:schemeClr val="bg1"/>
                </a:solidFill>
              </a:rPr>
              <a:t>	Education</a:t>
            </a:r>
            <a:r>
              <a:rPr lang="en-US" sz="1200" b="1" dirty="0">
                <a:solidFill>
                  <a:schemeClr val="bg1"/>
                </a:solidFill>
              </a:rPr>
              <a:t>. American Journal of Physics, 85(5), 338-345</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[7]	Lin, T., &amp; Wang, T. (2016). Real-Time Simulation of Electrical Circuits: A Tool for Conceptual </a:t>
            </a:r>
            <a:r>
              <a:rPr lang="en-US" sz="1200" b="1" dirty="0" smtClean="0">
                <a:solidFill>
                  <a:schemeClr val="bg1"/>
                </a:solidFill>
              </a:rPr>
              <a:t>	Understanding</a:t>
            </a:r>
            <a:r>
              <a:rPr lang="en-US" sz="1200" b="1" dirty="0">
                <a:solidFill>
                  <a:schemeClr val="bg1"/>
                </a:solidFill>
              </a:rPr>
              <a:t>. Journal of Educational Technology &amp; Society, 19(2), 71-81</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[8]	O'Brien, C., &amp; Gupta, R. (2021). Virtual Circuit Lab: A Web-Based Simulation Tool for Circuit Analysis </a:t>
            </a:r>
            <a:r>
              <a:rPr lang="en-US" sz="1200" b="1" dirty="0" smtClean="0">
                <a:solidFill>
                  <a:schemeClr val="bg1"/>
                </a:solidFill>
              </a:rPr>
              <a:t>	Education</a:t>
            </a:r>
            <a:r>
              <a:rPr lang="en-US" sz="1200" b="1" dirty="0">
                <a:solidFill>
                  <a:schemeClr val="bg1"/>
                </a:solidFill>
              </a:rPr>
              <a:t>. Journal of Electrical Engineering Education, 48(2), 143-156</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[9]	Khan, A., &amp; Anderson, J. (2020). Enhancing Circuit Theory Learning through Interactive 3D </a:t>
            </a:r>
            <a:r>
              <a:rPr lang="en-US" sz="1200" b="1" dirty="0" smtClean="0">
                <a:solidFill>
                  <a:schemeClr val="bg1"/>
                </a:solidFill>
              </a:rPr>
              <a:t>	Visualization </a:t>
            </a:r>
            <a:r>
              <a:rPr lang="en-US" sz="1200" b="1" dirty="0">
                <a:solidFill>
                  <a:schemeClr val="bg1"/>
                </a:solidFill>
              </a:rPr>
              <a:t>and Real-Time Simulation. International Journal of Engineering Education, 36(3), </a:t>
            </a:r>
            <a:r>
              <a:rPr lang="en-US" sz="1200" b="1" dirty="0" smtClean="0">
                <a:solidFill>
                  <a:schemeClr val="bg1"/>
                </a:solidFill>
              </a:rPr>
              <a:t>1134-	1146.</a:t>
            </a:r>
            <a:endParaRPr lang="en-US" sz="1200" b="1" dirty="0">
              <a:solidFill>
                <a:schemeClr val="bg1"/>
              </a:solidFill>
            </a:endParaRPr>
          </a:p>
          <a:p>
            <a:r>
              <a:rPr lang="en-US" sz="1200" b="1" dirty="0">
                <a:solidFill>
                  <a:schemeClr val="bg1"/>
                </a:solidFill>
              </a:rPr>
              <a:t>[10]	</a:t>
            </a:r>
            <a:r>
              <a:rPr lang="en-US" sz="1200" b="1" dirty="0" smtClean="0">
                <a:solidFill>
                  <a:schemeClr val="bg1"/>
                </a:solidFill>
              </a:rPr>
              <a:t>Johnson</a:t>
            </a:r>
            <a:r>
              <a:rPr lang="en-US" sz="1200" b="1" dirty="0">
                <a:solidFill>
                  <a:schemeClr val="bg1"/>
                </a:solidFill>
              </a:rPr>
              <a:t>, M., &amp; Smith, L. (2019). Augmented Reality Circuit Simulator: A Tool for   Engaging Circuit </a:t>
            </a:r>
            <a:r>
              <a:rPr lang="en-US" sz="1200" b="1" dirty="0" smtClean="0">
                <a:solidFill>
                  <a:schemeClr val="bg1"/>
                </a:solidFill>
              </a:rPr>
              <a:t>	Theory </a:t>
            </a:r>
            <a:r>
              <a:rPr lang="en-US" sz="1200" b="1" dirty="0">
                <a:solidFill>
                  <a:schemeClr val="bg1"/>
                </a:solidFill>
              </a:rPr>
              <a:t>Education. Computers &amp; Education, 135, 32-43.</a:t>
            </a:r>
          </a:p>
        </p:txBody>
      </p:sp>
      <p:sp>
        <p:nvSpPr>
          <p:cNvPr id="9" name="Google Shape;295;p30"/>
          <p:cNvSpPr txBox="1">
            <a:spLocks/>
          </p:cNvSpPr>
          <p:nvPr/>
        </p:nvSpPr>
        <p:spPr>
          <a:xfrm>
            <a:off x="344378" y="589614"/>
            <a:ext cx="6405600" cy="428700"/>
          </a:xfrm>
          <a:prstGeom prst="rect">
            <a:avLst/>
          </a:prstGeom>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dirty="0" smtClean="0">
                <a:solidFill>
                  <a:schemeClr val="bg1"/>
                </a:solidFill>
              </a:rPr>
              <a:t>References</a:t>
            </a:r>
            <a:endParaRPr lang="en-US" sz="2800" dirty="0">
              <a:solidFill>
                <a:schemeClr val="bg1"/>
              </a:solidFill>
            </a:endParaRPr>
          </a:p>
        </p:txBody>
      </p:sp>
      <p:pic>
        <p:nvPicPr>
          <p:cNvPr id="5" name="Picture 4"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extLst>
      <p:ext uri="{BB962C8B-B14F-4D97-AF65-F5344CB8AC3E}">
        <p14:creationId xmlns="" xmlns:p14="http://schemas.microsoft.com/office/powerpoint/2010/main" val="409267571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27</a:t>
            </a:fld>
            <a:endParaRPr lang="en"/>
          </a:p>
        </p:txBody>
      </p:sp>
      <p:sp>
        <p:nvSpPr>
          <p:cNvPr id="8" name="Rectangle 7"/>
          <p:cNvSpPr/>
          <p:nvPr/>
        </p:nvSpPr>
        <p:spPr>
          <a:xfrm>
            <a:off x="344378" y="1121095"/>
            <a:ext cx="8514607" cy="3231654"/>
          </a:xfrm>
          <a:prstGeom prst="rect">
            <a:avLst/>
          </a:prstGeom>
        </p:spPr>
        <p:txBody>
          <a:bodyPr wrap="square">
            <a:spAutoFit/>
          </a:bodyPr>
          <a:lstStyle/>
          <a:p>
            <a:r>
              <a:rPr lang="en-US" sz="1200" b="1" dirty="0">
                <a:solidFill>
                  <a:schemeClr val="bg1"/>
                </a:solidFill>
              </a:rPr>
              <a:t>[11]	 Chen, H., &amp; Lee, W. (2018). Interactive Virtual Lab for Circuit Theory Education: A Case Study. IEEE </a:t>
            </a:r>
            <a:r>
              <a:rPr lang="en-US" sz="1200" b="1" dirty="0" smtClean="0">
                <a:solidFill>
                  <a:schemeClr val="bg1"/>
                </a:solidFill>
              </a:rPr>
              <a:t>	Transactions </a:t>
            </a:r>
            <a:r>
              <a:rPr lang="en-US" sz="1200" b="1" dirty="0">
                <a:solidFill>
                  <a:schemeClr val="bg1"/>
                </a:solidFill>
              </a:rPr>
              <a:t>on Education, 61(2), 125-134</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[12]	 Wang, Y., &amp; Li, X. (2017). Virtual Reality Simulation for Circuit Design and  Analysis: An Exploratory </a:t>
            </a:r>
            <a:r>
              <a:rPr lang="en-US" sz="1200" b="1" dirty="0" smtClean="0">
                <a:solidFill>
                  <a:schemeClr val="bg1"/>
                </a:solidFill>
              </a:rPr>
              <a:t>	Study</a:t>
            </a:r>
            <a:r>
              <a:rPr lang="en-US" sz="1200" b="1" dirty="0">
                <a:solidFill>
                  <a:schemeClr val="bg1"/>
                </a:solidFill>
              </a:rPr>
              <a:t>. Journal of Computers in Education, 4(3), 279-291</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[13]	 Khan Academy | Free online courses, lessons &amp; practice. (</a:t>
            </a:r>
            <a:r>
              <a:rPr lang="en-US" sz="1200" b="1" dirty="0" err="1">
                <a:solidFill>
                  <a:schemeClr val="bg1"/>
                </a:solidFill>
              </a:rPr>
              <a:t>n.d.</a:t>
            </a:r>
            <a:r>
              <a:rPr lang="en-US" sz="1200" b="1" dirty="0">
                <a:solidFill>
                  <a:schemeClr val="bg1"/>
                </a:solidFill>
              </a:rPr>
              <a:t>). Khan Academy. </a:t>
            </a:r>
            <a:r>
              <a:rPr lang="en-US" sz="1200" b="1" dirty="0" smtClean="0">
                <a:solidFill>
                  <a:schemeClr val="bg1"/>
                </a:solidFill>
              </a:rPr>
              <a:t>	https</a:t>
            </a:r>
            <a:r>
              <a:rPr lang="en-US" sz="1200" b="1" dirty="0">
                <a:solidFill>
                  <a:schemeClr val="bg1"/>
                </a:solidFill>
              </a:rPr>
              <a:t>://www.khanacademy.org</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[14]	 Svelte. (</a:t>
            </a:r>
            <a:r>
              <a:rPr lang="en-US" sz="1200" b="1" dirty="0" err="1">
                <a:solidFill>
                  <a:schemeClr val="bg1"/>
                </a:solidFill>
              </a:rPr>
              <a:t>n.d.</a:t>
            </a:r>
            <a:r>
              <a:rPr lang="en-US" sz="1200" b="1" dirty="0">
                <a:solidFill>
                  <a:schemeClr val="bg1"/>
                </a:solidFill>
              </a:rPr>
              <a:t>). https://svelte.dev</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[15]	 Three.js – JavaScript 3D library. (</a:t>
            </a:r>
            <a:r>
              <a:rPr lang="en-US" sz="1200" b="1" dirty="0" err="1">
                <a:solidFill>
                  <a:schemeClr val="bg1"/>
                </a:solidFill>
              </a:rPr>
              <a:t>n.d.</a:t>
            </a:r>
            <a:r>
              <a:rPr lang="en-US" sz="1200" b="1" dirty="0">
                <a:solidFill>
                  <a:schemeClr val="bg1"/>
                </a:solidFill>
              </a:rPr>
              <a:t>). https://threejs.org/ </a:t>
            </a:r>
          </a:p>
          <a:p>
            <a:r>
              <a:rPr lang="en-US" sz="1200" b="1" dirty="0">
                <a:solidFill>
                  <a:schemeClr val="bg1"/>
                </a:solidFill>
              </a:rPr>
              <a:t>[16]	 Foley, J. D., van Dam, A., </a:t>
            </a:r>
            <a:r>
              <a:rPr lang="en-US" sz="1200" b="1" dirty="0" err="1">
                <a:solidFill>
                  <a:schemeClr val="bg1"/>
                </a:solidFill>
              </a:rPr>
              <a:t>Feiner</a:t>
            </a:r>
            <a:r>
              <a:rPr lang="en-US" sz="1200" b="1" dirty="0">
                <a:solidFill>
                  <a:schemeClr val="bg1"/>
                </a:solidFill>
              </a:rPr>
              <a:t>, S. K., &amp; Hughes, J. F. (1990). Computer Graphics: Principles and </a:t>
            </a:r>
            <a:r>
              <a:rPr lang="en-US" sz="1200" b="1" dirty="0" smtClean="0">
                <a:solidFill>
                  <a:schemeClr val="bg1"/>
                </a:solidFill>
              </a:rPr>
              <a:t>	Practice </a:t>
            </a:r>
            <a:r>
              <a:rPr lang="en-US" sz="1200" b="1" dirty="0">
                <a:solidFill>
                  <a:schemeClr val="bg1"/>
                </a:solidFill>
              </a:rPr>
              <a:t>(2nd ed.). Addison-Wesley</a:t>
            </a:r>
            <a:r>
              <a:rPr lang="en-US" sz="1200" b="1" dirty="0" smtClean="0">
                <a:solidFill>
                  <a:schemeClr val="bg1"/>
                </a:solidFill>
              </a:rPr>
              <a:t>.</a:t>
            </a:r>
            <a:endParaRPr lang="en-US" sz="1200" b="1" dirty="0">
              <a:solidFill>
                <a:schemeClr val="bg1"/>
              </a:solidFill>
            </a:endParaRPr>
          </a:p>
          <a:p>
            <a:r>
              <a:rPr lang="en-US" sz="1200" b="1" dirty="0">
                <a:solidFill>
                  <a:schemeClr val="bg1"/>
                </a:solidFill>
              </a:rPr>
              <a:t>[17]	  Hartley, R. I., &amp; </a:t>
            </a:r>
            <a:r>
              <a:rPr lang="en-US" sz="1200" b="1" dirty="0" err="1">
                <a:solidFill>
                  <a:schemeClr val="bg1"/>
                </a:solidFill>
              </a:rPr>
              <a:t>Zisserman</a:t>
            </a:r>
            <a:r>
              <a:rPr lang="en-US" sz="1200" b="1" dirty="0">
                <a:solidFill>
                  <a:schemeClr val="bg1"/>
                </a:solidFill>
              </a:rPr>
              <a:t>, A. (2004). Multiple View Geometry in Computer Vision (2nd ed.). </a:t>
            </a:r>
            <a:r>
              <a:rPr lang="en-US" sz="1200" b="1" dirty="0" smtClean="0">
                <a:solidFill>
                  <a:schemeClr val="bg1"/>
                </a:solidFill>
              </a:rPr>
              <a:t>	Cambridge </a:t>
            </a:r>
            <a:r>
              <a:rPr lang="en-US" sz="1200" b="1" dirty="0">
                <a:solidFill>
                  <a:schemeClr val="bg1"/>
                </a:solidFill>
              </a:rPr>
              <a:t>University Press.</a:t>
            </a:r>
          </a:p>
          <a:p>
            <a:r>
              <a:rPr lang="en-US" sz="1200" b="1" dirty="0">
                <a:solidFill>
                  <a:schemeClr val="bg1"/>
                </a:solidFill>
              </a:rPr>
              <a:t>[18]	 Hearn, D., &amp; Baker, M. P. (2014). Computer Graphics with OpenGL (4th ed.). Prentice Hall.</a:t>
            </a:r>
          </a:p>
          <a:p>
            <a:r>
              <a:rPr lang="en-US" sz="1200" b="1" dirty="0">
                <a:solidFill>
                  <a:schemeClr val="bg1"/>
                </a:solidFill>
              </a:rPr>
              <a:t>[19]	 </a:t>
            </a:r>
            <a:r>
              <a:rPr lang="en-US" sz="1200" b="1" dirty="0" err="1">
                <a:solidFill>
                  <a:schemeClr val="bg1"/>
                </a:solidFill>
              </a:rPr>
              <a:t>Phong</a:t>
            </a:r>
            <a:r>
              <a:rPr lang="en-US" sz="1200" b="1" dirty="0">
                <a:solidFill>
                  <a:schemeClr val="bg1"/>
                </a:solidFill>
              </a:rPr>
              <a:t>, B. T. (1975). Illumination for Computer Generated Pictures. Communications of the ACM, </a:t>
            </a:r>
            <a:r>
              <a:rPr lang="en-US" sz="1200" b="1" dirty="0" smtClean="0">
                <a:solidFill>
                  <a:schemeClr val="bg1"/>
                </a:solidFill>
              </a:rPr>
              <a:t>	  	18(6</a:t>
            </a:r>
            <a:r>
              <a:rPr lang="en-US" sz="1200" b="1" dirty="0">
                <a:solidFill>
                  <a:schemeClr val="bg1"/>
                </a:solidFill>
              </a:rPr>
              <a:t>), 311-317.</a:t>
            </a:r>
          </a:p>
          <a:p>
            <a:r>
              <a:rPr lang="en-US" sz="1200" b="1" dirty="0">
                <a:solidFill>
                  <a:schemeClr val="bg1"/>
                </a:solidFill>
              </a:rPr>
              <a:t>[20]	 </a:t>
            </a:r>
            <a:r>
              <a:rPr lang="en-US" sz="1200" b="1" dirty="0" err="1">
                <a:solidFill>
                  <a:schemeClr val="bg1"/>
                </a:solidFill>
              </a:rPr>
              <a:t>Perlin</a:t>
            </a:r>
            <a:r>
              <a:rPr lang="en-US" sz="1200" b="1" dirty="0">
                <a:solidFill>
                  <a:schemeClr val="bg1"/>
                </a:solidFill>
              </a:rPr>
              <a:t>, K. (1985). An Image Synthesizer. Proceedings of ACM SIGGRAPH, 287-296.</a:t>
            </a:r>
          </a:p>
          <a:p>
            <a:r>
              <a:rPr lang="en-US" sz="1200" b="1" dirty="0">
                <a:solidFill>
                  <a:schemeClr val="bg1"/>
                </a:solidFill>
              </a:rPr>
              <a:t>[21]	 Alexander, C. K., &amp; </a:t>
            </a:r>
            <a:r>
              <a:rPr lang="en-US" sz="1200" b="1" dirty="0" err="1">
                <a:solidFill>
                  <a:schemeClr val="bg1"/>
                </a:solidFill>
              </a:rPr>
              <a:t>Sadiku</a:t>
            </a:r>
            <a:r>
              <a:rPr lang="en-US" sz="1200" b="1" dirty="0">
                <a:solidFill>
                  <a:schemeClr val="bg1"/>
                </a:solidFill>
              </a:rPr>
              <a:t>, M. N. O. (Year). Fundamentals of Electric Circuits (</a:t>
            </a:r>
            <a:r>
              <a:rPr lang="en-US" sz="1200" b="1" dirty="0" err="1">
                <a:solidFill>
                  <a:schemeClr val="bg1"/>
                </a:solidFill>
              </a:rPr>
              <a:t>Xth</a:t>
            </a:r>
            <a:r>
              <a:rPr lang="en-US" sz="1200" b="1" dirty="0">
                <a:solidFill>
                  <a:schemeClr val="bg1"/>
                </a:solidFill>
              </a:rPr>
              <a:t> ed.). Publisher.</a:t>
            </a:r>
          </a:p>
        </p:txBody>
      </p:sp>
      <p:sp>
        <p:nvSpPr>
          <p:cNvPr id="9" name="Google Shape;295;p30"/>
          <p:cNvSpPr txBox="1">
            <a:spLocks/>
          </p:cNvSpPr>
          <p:nvPr/>
        </p:nvSpPr>
        <p:spPr>
          <a:xfrm>
            <a:off x="344378" y="589614"/>
            <a:ext cx="6405600" cy="428700"/>
          </a:xfrm>
          <a:prstGeom prst="rect">
            <a:avLst/>
          </a:prstGeom>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800" dirty="0" smtClean="0">
                <a:solidFill>
                  <a:schemeClr val="bg1"/>
                </a:solidFill>
              </a:rPr>
              <a:t>References</a:t>
            </a:r>
            <a:endParaRPr lang="en-US" sz="2800" dirty="0">
              <a:solidFill>
                <a:schemeClr val="bg1"/>
              </a:solidFill>
            </a:endParaRPr>
          </a:p>
        </p:txBody>
      </p:sp>
      <p:pic>
        <p:nvPicPr>
          <p:cNvPr id="5" name="Picture 4"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7"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extLst>
      <p:ext uri="{BB962C8B-B14F-4D97-AF65-F5344CB8AC3E}">
        <p14:creationId xmlns="" xmlns:p14="http://schemas.microsoft.com/office/powerpoint/2010/main" val="22306596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36"/>
          <p:cNvSpPr txBox="1">
            <a:spLocks noGrp="1"/>
          </p:cNvSpPr>
          <p:nvPr>
            <p:ph type="title"/>
          </p:nvPr>
        </p:nvSpPr>
        <p:spPr>
          <a:xfrm>
            <a:off x="580550" y="205975"/>
            <a:ext cx="6014400" cy="857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dirty="0"/>
              <a:t>Credits</a:t>
            </a:r>
            <a:endParaRPr dirty="0"/>
          </a:p>
        </p:txBody>
      </p:sp>
      <p:sp>
        <p:nvSpPr>
          <p:cNvPr id="378" name="Google Shape;378;p36"/>
          <p:cNvSpPr txBox="1">
            <a:spLocks noGrp="1"/>
          </p:cNvSpPr>
          <p:nvPr>
            <p:ph type="body" idx="1"/>
          </p:nvPr>
        </p:nvSpPr>
        <p:spPr>
          <a:xfrm>
            <a:off x="580550" y="1352550"/>
            <a:ext cx="6014400" cy="3161700"/>
          </a:xfrm>
          <a:prstGeom prst="rect">
            <a:avLst/>
          </a:prstGeom>
        </p:spPr>
        <p:txBody>
          <a:bodyPr spcFirstLastPara="1" wrap="square" lIns="0" tIns="0" rIns="0" bIns="0" anchor="t" anchorCtr="0">
            <a:noAutofit/>
          </a:bodyPr>
          <a:lstStyle/>
          <a:p>
            <a:pPr marL="0" lvl="0" indent="0">
              <a:buNone/>
            </a:pPr>
            <a:r>
              <a:rPr lang="en" sz="2400" dirty="0"/>
              <a:t>Special thanks to </a:t>
            </a:r>
            <a:endParaRPr lang="en" sz="2400" dirty="0" smtClean="0"/>
          </a:p>
          <a:p>
            <a:pPr marL="0" lvl="0" indent="0">
              <a:buNone/>
            </a:pPr>
            <a:r>
              <a:rPr lang="en-US" b="1" dirty="0" smtClean="0"/>
              <a:t>Dr</a:t>
            </a:r>
            <a:r>
              <a:rPr lang="en-US" b="1" dirty="0"/>
              <a:t>. Mohammad Salah </a:t>
            </a:r>
            <a:r>
              <a:rPr lang="en-US" b="1" dirty="0" err="1" smtClean="0"/>
              <a:t>Uddin</a:t>
            </a:r>
            <a:r>
              <a:rPr lang="en-US" b="1" dirty="0" smtClean="0"/>
              <a:t> </a:t>
            </a:r>
            <a:r>
              <a:rPr lang="en-US" dirty="0" smtClean="0"/>
              <a:t>sir,</a:t>
            </a:r>
          </a:p>
          <a:p>
            <a:pPr marL="0" lvl="0" indent="0">
              <a:buNone/>
            </a:pPr>
            <a:r>
              <a:rPr lang="en-US" sz="2400" dirty="0" smtClean="0"/>
              <a:t>For his supervision and guidance for the project.</a:t>
            </a:r>
            <a:endParaRPr sz="2400" dirty="0"/>
          </a:p>
        </p:txBody>
      </p:sp>
      <p:sp>
        <p:nvSpPr>
          <p:cNvPr id="379" name="Google Shape;379;p3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28</a:t>
            </a:fld>
            <a:endParaRPr/>
          </a:p>
        </p:txBody>
      </p:sp>
      <p:pic>
        <p:nvPicPr>
          <p:cNvPr id="7" name="Picture 6" descr="C:\Users\smahm\Desktop\favicon.png">
            <a:extLst>
              <a:ext uri="{FF2B5EF4-FFF2-40B4-BE49-F238E27FC236}">
                <a16:creationId xmlns="" xmlns:a16="http://schemas.microsoft.com/office/drawing/2014/main" id="{FFF081D0-9F92-7366-51BE-438BB71C31DA}"/>
              </a:ext>
            </a:extLst>
          </p:cNvPr>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135866" y="162823"/>
            <a:ext cx="362310" cy="362310"/>
          </a:xfrm>
          <a:prstGeom prst="rect">
            <a:avLst/>
          </a:prstGeom>
          <a:noFill/>
          <a:extLst>
            <a:ext uri="{909E8E84-426E-40DD-AFC4-6F175D3DCCD1}">
              <a14:hiddenFill xmlns="" xmlns:a14="http://schemas.microsoft.com/office/drawing/2010/main">
                <a:solidFill>
                  <a:srgbClr val="FFFFFF"/>
                </a:solidFill>
              </a14:hiddenFill>
            </a:ext>
          </a:extLst>
        </p:spPr>
      </p:pic>
      <p:sp>
        <p:nvSpPr>
          <p:cNvPr id="8" name="Google Shape;71;p14">
            <a:extLst>
              <a:ext uri="{FF2B5EF4-FFF2-40B4-BE49-F238E27FC236}">
                <a16:creationId xmlns="" xmlns:a16="http://schemas.microsoft.com/office/drawing/2014/main" id="{0F6BBF1F-F29E-36D9-5748-CFA21DBCE8F1}"/>
              </a:ext>
            </a:extLst>
          </p:cNvPr>
          <p:cNvSpPr txBox="1">
            <a:spLocks/>
          </p:cNvSpPr>
          <p:nvPr/>
        </p:nvSpPr>
        <p:spPr>
          <a:xfrm>
            <a:off x="548201" y="162843"/>
            <a:ext cx="957165" cy="29668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1pPr>
            <a:lvl2pPr marR="0" lvl="1"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2pPr>
            <a:lvl3pPr marR="0" lvl="2"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3pPr>
            <a:lvl4pPr marR="0" lvl="3"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4pPr>
            <a:lvl5pPr marR="0" lvl="4"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5pPr>
            <a:lvl6pPr marR="0" lvl="5"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6pPr>
            <a:lvl7pPr marR="0" lvl="6"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7pPr>
            <a:lvl8pPr marR="0" lvl="7"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8pPr>
            <a:lvl9pPr marR="0" lvl="8" algn="l" rtl="0">
              <a:lnSpc>
                <a:spcPct val="100000"/>
              </a:lnSpc>
              <a:spcBef>
                <a:spcPts val="0"/>
              </a:spcBef>
              <a:spcAft>
                <a:spcPts val="0"/>
              </a:spcAft>
              <a:buClr>
                <a:schemeClr val="lt1"/>
              </a:buClr>
              <a:buSzPts val="3200"/>
              <a:buFont typeface="Lexend Deca"/>
              <a:buNone/>
              <a:defRPr sz="3200" b="1" i="0" u="none" strike="noStrike" cap="none">
                <a:solidFill>
                  <a:schemeClr val="lt1"/>
                </a:solidFill>
                <a:latin typeface="Lexend Deca"/>
                <a:ea typeface="Lexend Deca"/>
                <a:cs typeface="Lexend Deca"/>
                <a:sym typeface="Lexend Deca"/>
              </a:defRPr>
            </a:lvl9pPr>
          </a:lstStyle>
          <a:p>
            <a:r>
              <a:rPr lang="en" sz="1800"/>
              <a:t>Sparked</a:t>
            </a:r>
            <a:endParaRPr lang="en-US" sz="180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29</a:t>
            </a:fld>
            <a:endParaRPr/>
          </a:p>
        </p:txBody>
      </p:sp>
      <p:sp>
        <p:nvSpPr>
          <p:cNvPr id="368" name="Google Shape;368;p35"/>
          <p:cNvSpPr txBox="1">
            <a:spLocks noGrp="1"/>
          </p:cNvSpPr>
          <p:nvPr>
            <p:ph type="ctrTitle" idx="4294967295"/>
          </p:nvPr>
        </p:nvSpPr>
        <p:spPr>
          <a:xfrm>
            <a:off x="685800" y="1341750"/>
            <a:ext cx="3617400" cy="9285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7200"/>
              <a:t>Thanks!</a:t>
            </a:r>
            <a:endParaRPr sz="7200"/>
          </a:p>
        </p:txBody>
      </p:sp>
      <p:sp>
        <p:nvSpPr>
          <p:cNvPr id="369" name="Google Shape;369;p35"/>
          <p:cNvSpPr txBox="1">
            <a:spLocks noGrp="1"/>
          </p:cNvSpPr>
          <p:nvPr>
            <p:ph type="subTitle" idx="4294967295"/>
          </p:nvPr>
        </p:nvSpPr>
        <p:spPr>
          <a:xfrm>
            <a:off x="685800" y="2302047"/>
            <a:ext cx="3617400" cy="512405"/>
          </a:xfrm>
          <a:prstGeom prst="rect">
            <a:avLst/>
          </a:prstGeom>
        </p:spPr>
        <p:txBody>
          <a:bodyPr spcFirstLastPara="1" wrap="square" lIns="0" tIns="0" rIns="0" bIns="0" anchor="t" anchorCtr="0">
            <a:noAutofit/>
          </a:bodyPr>
          <a:lstStyle/>
          <a:p>
            <a:pPr marL="0" lvl="0" indent="0" algn="l" rtl="0">
              <a:spcBef>
                <a:spcPts val="600"/>
              </a:spcBef>
              <a:spcAft>
                <a:spcPts val="0"/>
              </a:spcAft>
              <a:buNone/>
            </a:pPr>
            <a:r>
              <a:rPr lang="en" sz="1800" b="1" dirty="0">
                <a:latin typeface="Muli"/>
                <a:ea typeface="Muli"/>
                <a:cs typeface="Muli"/>
                <a:sym typeface="Muli"/>
              </a:rPr>
              <a:t>Any questions</a:t>
            </a:r>
            <a:r>
              <a:rPr lang="en" sz="1800" b="1" dirty="0" smtClean="0">
                <a:latin typeface="Muli"/>
                <a:ea typeface="Muli"/>
                <a:cs typeface="Muli"/>
                <a:sym typeface="Muli"/>
              </a:rPr>
              <a:t>?</a:t>
            </a:r>
            <a:endParaRPr sz="1800" b="1" dirty="0">
              <a:latin typeface="Muli"/>
              <a:ea typeface="Muli"/>
              <a:cs typeface="Muli"/>
              <a:sym typeface="Muli"/>
            </a:endParaRPr>
          </a:p>
        </p:txBody>
      </p:sp>
      <p:pic>
        <p:nvPicPr>
          <p:cNvPr id="370" name="Google Shape;370;p35"/>
          <p:cNvPicPr preferRelativeResize="0"/>
          <p:nvPr/>
        </p:nvPicPr>
        <p:blipFill>
          <a:blip r:embed="rId3">
            <a:alphaModFix/>
          </a:blip>
          <a:stretch>
            <a:fillRect/>
          </a:stretch>
        </p:blipFill>
        <p:spPr>
          <a:xfrm>
            <a:off x="3924900" y="2681025"/>
            <a:ext cx="3171324" cy="1889775"/>
          </a:xfrm>
          <a:prstGeom prst="rect">
            <a:avLst/>
          </a:prstGeom>
          <a:noFill/>
          <a:ln>
            <a:noFill/>
          </a:ln>
        </p:spPr>
      </p:pic>
      <p:pic>
        <p:nvPicPr>
          <p:cNvPr id="371" name="Google Shape;371;p35"/>
          <p:cNvPicPr preferRelativeResize="0"/>
          <p:nvPr/>
        </p:nvPicPr>
        <p:blipFill>
          <a:blip r:embed="rId4">
            <a:alphaModFix/>
          </a:blip>
          <a:stretch>
            <a:fillRect/>
          </a:stretch>
        </p:blipFill>
        <p:spPr>
          <a:xfrm>
            <a:off x="5160014" y="1914980"/>
            <a:ext cx="548700" cy="1597701"/>
          </a:xfrm>
          <a:prstGeom prst="rect">
            <a:avLst/>
          </a:prstGeom>
          <a:noFill/>
          <a:ln>
            <a:noFill/>
          </a:ln>
        </p:spPr>
      </p:pic>
      <p:pic>
        <p:nvPicPr>
          <p:cNvPr id="372" name="Google Shape;372;p35"/>
          <p:cNvPicPr preferRelativeResize="0"/>
          <p:nvPr/>
        </p:nvPicPr>
        <p:blipFill>
          <a:blip r:embed="rId5">
            <a:alphaModFix/>
          </a:blip>
          <a:stretch>
            <a:fillRect/>
          </a:stretch>
        </p:blipFill>
        <p:spPr>
          <a:xfrm>
            <a:off x="4946909" y="581600"/>
            <a:ext cx="1279700" cy="1498275"/>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Aliena template">
  <a:themeElements>
    <a:clrScheme name="Custom 347">
      <a:dk1>
        <a:srgbClr val="050060"/>
      </a:dk1>
      <a:lt1>
        <a:srgbClr val="FFFFFF"/>
      </a:lt1>
      <a:dk2>
        <a:srgbClr val="585963"/>
      </a:dk2>
      <a:lt2>
        <a:srgbClr val="F3F3F3"/>
      </a:lt2>
      <a:accent1>
        <a:srgbClr val="0A2F9E"/>
      </a:accent1>
      <a:accent2>
        <a:srgbClr val="3544FF"/>
      </a:accent2>
      <a:accent3>
        <a:srgbClr val="24D6FF"/>
      </a:accent3>
      <a:accent4>
        <a:srgbClr val="00FFFF"/>
      </a:accent4>
      <a:accent5>
        <a:srgbClr val="A458FF"/>
      </a:accent5>
      <a:accent6>
        <a:srgbClr val="D392FF"/>
      </a:accent6>
      <a:hlink>
        <a:srgbClr val="FFFFFF"/>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213</TotalTime>
  <Words>2454</Words>
  <Application>Microsoft Office PowerPoint</Application>
  <PresentationFormat>On-screen Show (16:9)</PresentationFormat>
  <Paragraphs>255</Paragraphs>
  <Slides>29</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Lexend Deca</vt:lpstr>
      <vt:lpstr>Muli</vt:lpstr>
      <vt:lpstr>Calibri</vt:lpstr>
      <vt:lpstr>Times New Roman</vt:lpstr>
      <vt:lpstr>Wingdings</vt:lpstr>
      <vt:lpstr>Aliena template</vt:lpstr>
      <vt:lpstr>Slide 1</vt:lpstr>
      <vt:lpstr>Group Members</vt:lpstr>
      <vt:lpstr>Slide 3</vt:lpstr>
      <vt:lpstr>Slide 4</vt:lpstr>
      <vt:lpstr>Slide 5</vt:lpstr>
      <vt:lpstr>Methodology</vt:lpstr>
      <vt:lpstr>Slide 7</vt:lpstr>
      <vt:lpstr>3D Models Design</vt:lpstr>
      <vt:lpstr>Application Development</vt:lpstr>
      <vt:lpstr>Theoretical lessons</vt:lpstr>
      <vt:lpstr>Generating generalized mathematical equations</vt:lpstr>
      <vt:lpstr>Ohm’s law </vt:lpstr>
      <vt:lpstr>Mesh current analysis </vt:lpstr>
      <vt:lpstr>Nodal analysis </vt:lpstr>
      <vt:lpstr>Algorithm  of  our system</vt:lpstr>
      <vt:lpstr>Demonstration</vt:lpstr>
      <vt:lpstr>Our Challenges</vt:lpstr>
      <vt:lpstr>Appendix (400B)</vt:lpstr>
      <vt:lpstr>Appendix (400B)</vt:lpstr>
      <vt:lpstr>Appendix (400B)</vt:lpstr>
      <vt:lpstr>Appendix (400B)</vt:lpstr>
      <vt:lpstr>Appendix (400B)</vt:lpstr>
      <vt:lpstr>Appendix (400C)</vt:lpstr>
      <vt:lpstr>Appendix (400C)</vt:lpstr>
      <vt:lpstr>Appendix (400C)</vt:lpstr>
      <vt:lpstr>Slide 26</vt:lpstr>
      <vt:lpstr>Slide 27</vt:lpstr>
      <vt:lpstr>Credits</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creator>Afridi Sabbir</dc:creator>
  <cp:lastModifiedBy>Afridi Sabbir</cp:lastModifiedBy>
  <cp:revision>26</cp:revision>
  <dcterms:modified xsi:type="dcterms:W3CDTF">2023-11-03T16:12:29Z</dcterms:modified>
</cp:coreProperties>
</file>